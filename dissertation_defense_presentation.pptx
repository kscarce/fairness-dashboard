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748F"/>
                </a:solidFill>
                <a:latin typeface="Calibri"/>
              </a:rPr>
              <a:t>MSC DISSERTATION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1A1A"/>
                </a:solidFill>
                <a:latin typeface="Georgia"/>
              </a:rPr>
              <a:t>Procedural Fairness in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1A1A"/>
                </a:solidFill>
                <a:latin typeface="Georgia"/>
              </a:rPr>
              <a:t>Healthcare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666666"/>
                </a:solidFill>
                <a:latin typeface="Calibri"/>
              </a:rPr>
              <a:t>Evaluating and Mitigating Bias in a Heart Disease Prediction Model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892040"/>
            <a:ext cx="3840480" cy="0"/>
          </a:xfrm>
          <a:prstGeom prst="line">
            <a:avLst/>
          </a:prstGeom>
          <a:ln w="25400">
            <a:solidFill>
              <a:srgbClr val="F2C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5074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Calibri"/>
              </a:rPr>
              <a:t>Kaylee Scarce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Newcastle University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77900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66666"/>
                </a:solidFill>
                <a:latin typeface="Calibri"/>
              </a:rPr>
              <a:t>Supervised by Dr Vlad González-Zelaya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What We'll Cover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331012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3055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2C4CE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834639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Motivation &amp;</a:t>
            </a:r>
          </a:p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Research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874519"/>
            <a:ext cx="331012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213055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2C4CE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2834639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Data &amp;</a:t>
            </a:r>
          </a:p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Methodology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46136" y="1874519"/>
            <a:ext cx="331012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6" y="213055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2C4CE"/>
                </a:solidFill>
                <a:latin typeface="Georgi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834639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Baseline</a:t>
            </a:r>
          </a:p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Results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160520"/>
            <a:ext cx="331012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1655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2C4CE"/>
                </a:solidFill>
                <a:latin typeface="Georgi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12064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Fairness Problems</a:t>
            </a:r>
          </a:p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&amp; Root Causes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4160520"/>
            <a:ext cx="331012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441655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2C4CE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512064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Mitigation</a:t>
            </a:r>
          </a:p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&amp;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4160520"/>
            <a:ext cx="331012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441655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2C4CE"/>
                </a:solidFill>
                <a:latin typeface="Georgia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512064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Survey, Limitations</a:t>
            </a:r>
          </a:p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&amp; Recommendations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Why Fairness, Not Just Accuracy?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666666"/>
                </a:solidFill>
                <a:latin typeface="Calibri"/>
              </a:rPr>
              <a:t>AI is increasingly used to support medical decisions, including predicting a patient's risk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666666"/>
                </a:solidFill>
                <a:latin typeface="Calibri"/>
              </a:rPr>
              <a:t>of heart disease. But an accurate model is not automatically a trustworthy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06324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3063240"/>
            <a:ext cx="3291840" cy="82296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42900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1A1A1A"/>
                </a:solidFill>
                <a:latin typeface="Georgia"/>
              </a:rPr>
              <a:t>Fair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11480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Performs consistently across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different patient groups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306324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09159" y="3063240"/>
            <a:ext cx="3291840" cy="82296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199" y="342900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1A1A1A"/>
                </a:solidFill>
                <a:latin typeface="Georgia"/>
              </a:rPr>
              <a:t>Transparent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199" y="411480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Decisions can be understood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and questioned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306324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58200" y="3063240"/>
            <a:ext cx="3291840" cy="82296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342900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1A1A1A"/>
                </a:solidFill>
                <a:latin typeface="Georgia"/>
              </a:rPr>
              <a:t>Accountable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11480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Mistakes can be reviewed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and corrected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“Does this model behave in a procedurally fair way,</a:t>
            </a:r>
          </a:p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and can known mitigation strategies close the gaps it reveals?”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03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666666"/>
                </a:solidFill>
                <a:latin typeface="Calibri"/>
              </a:rPr>
              <a:t>Evaluated against six procedural fairness criteria, adapted from Leventhal's (1980)</a:t>
            </a:r>
          </a:p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666666"/>
                </a:solidFill>
                <a:latin typeface="Calibri"/>
              </a:rPr>
              <a:t>procedural justice framework for healthcare decision-making (Jabagi et al., 2025).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892040"/>
            <a:ext cx="1783080" cy="685800"/>
          </a:xfrm>
          <a:prstGeom prst="roundRect">
            <a:avLst>
              <a:gd name="adj" fmla="val 50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01768"/>
            <a:ext cx="1783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9748F"/>
                </a:solidFill>
                <a:latin typeface="Calibri"/>
              </a:rPr>
              <a:t>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892040"/>
            <a:ext cx="1783080" cy="685800"/>
          </a:xfrm>
          <a:prstGeom prst="roundRect">
            <a:avLst>
              <a:gd name="adj" fmla="val 50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5001768"/>
            <a:ext cx="1783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9748F"/>
                </a:solidFill>
                <a:latin typeface="Calibri"/>
              </a:rPr>
              <a:t>Bias Suppression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4892040"/>
            <a:ext cx="1783080" cy="685800"/>
          </a:xfrm>
          <a:prstGeom prst="roundRect">
            <a:avLst>
              <a:gd name="adj" fmla="val 50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5001768"/>
            <a:ext cx="1783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9748F"/>
                </a:solidFill>
                <a:latin typeface="Calibri"/>
              </a:rPr>
              <a:t>Representativeness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4892040"/>
            <a:ext cx="1783080" cy="685800"/>
          </a:xfrm>
          <a:prstGeom prst="roundRect">
            <a:avLst>
              <a:gd name="adj" fmla="val 50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5001768"/>
            <a:ext cx="1783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9748F"/>
                </a:solidFill>
                <a:latin typeface="Calibri"/>
              </a:rPr>
              <a:t>Consistency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4892040"/>
            <a:ext cx="1783080" cy="685800"/>
          </a:xfrm>
          <a:prstGeom prst="roundRect">
            <a:avLst>
              <a:gd name="adj" fmla="val 50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5001768"/>
            <a:ext cx="1783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9748F"/>
                </a:solidFill>
                <a:latin typeface="Calibri"/>
              </a:rPr>
              <a:t>Correctability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78440" y="4892040"/>
            <a:ext cx="1783080" cy="685800"/>
          </a:xfrm>
          <a:prstGeom prst="roundRect">
            <a:avLst>
              <a:gd name="adj" fmla="val 50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78440" y="5001768"/>
            <a:ext cx="1783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9748F"/>
                </a:solidFill>
                <a:latin typeface="Calibri"/>
              </a:rPr>
              <a:t>Ethicality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The Model and the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87752" cy="1051560"/>
          </a:xfrm>
          <a:prstGeom prst="roundRect">
            <a:avLst>
              <a:gd name="adj" fmla="val 8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85623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9748F"/>
                </a:solidFill>
                <a:latin typeface="Calibri"/>
              </a:rPr>
              <a:t>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176272"/>
            <a:ext cx="22219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Logistic regression classifier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0712" y="1691640"/>
            <a:ext cx="2587752" cy="1051560"/>
          </a:xfrm>
          <a:prstGeom prst="roundRect">
            <a:avLst>
              <a:gd name="adj" fmla="val 8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85623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9748F"/>
                </a:solidFill>
                <a:latin typeface="Calibr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176272"/>
            <a:ext cx="22219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UCI Heart Disease — 918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691640"/>
            <a:ext cx="2587752" cy="1051560"/>
          </a:xfrm>
          <a:prstGeom prst="roundRect">
            <a:avLst>
              <a:gd name="adj" fmla="val 8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85623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9748F"/>
                </a:solidFill>
                <a:latin typeface="Calibri"/>
              </a:rPr>
              <a:t>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176272"/>
            <a:ext cx="22219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734 / 184, stratified 80/20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0536" y="1691640"/>
            <a:ext cx="2587752" cy="1051560"/>
          </a:xfrm>
          <a:prstGeom prst="roundRect">
            <a:avLst>
              <a:gd name="adj" fmla="val 8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1704" y="185623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9748F"/>
                </a:solidFill>
                <a:latin typeface="Calibri"/>
              </a:rPr>
              <a:t>PREDICTS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2176272"/>
            <a:ext cx="22219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Presence of heart disease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26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9748F"/>
                </a:solidFill>
                <a:latin typeface="Calibri"/>
              </a:rPr>
              <a:t>THE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83280"/>
            <a:ext cx="1874519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47872"/>
            <a:ext cx="16916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918 patient</a:t>
            </a:r>
          </a:p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records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520440"/>
            <a:ext cx="2926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C9748F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52927" y="3383280"/>
            <a:ext cx="1874519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44368" y="3547872"/>
            <a:ext cx="16916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734 train /</a:t>
            </a:r>
          </a:p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184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3520440"/>
            <a:ext cx="2926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C9748F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5" y="3383280"/>
            <a:ext cx="1874519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11495" y="3547872"/>
            <a:ext cx="16916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6 criteria</a:t>
            </a:r>
          </a:p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tested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4575" y="3520440"/>
            <a:ext cx="2926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C9748F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87183" y="3383280"/>
            <a:ext cx="1874519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8623" y="3547872"/>
            <a:ext cx="16916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2 mitigations</a:t>
            </a:r>
          </a:p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applied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61704" y="3520440"/>
            <a:ext cx="2926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C9748F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54311" y="3383280"/>
            <a:ext cx="1874519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45751" y="3547872"/>
            <a:ext cx="169163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Re-tested</a:t>
            </a:r>
          </a:p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on all 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00600"/>
            <a:ext cx="107899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4800600"/>
            <a:ext cx="64008" cy="1005840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95604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Why keep sex and age as inputs?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257800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Removing them would not stop the model learning those patterns indirectly through other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clinical measurements — keeping them in lets that pattern be measured directly instead.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BASELINE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A Strong Model — On the Surface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C9748F"/>
                </a:solidFill>
                <a:latin typeface="Georgia"/>
              </a:rPr>
              <a:t>0.957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0632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Calibri"/>
              </a:rPr>
              <a:t>AUC-ROC  (threshold: ≥ 0.80)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78308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C9748F"/>
                </a:solidFill>
                <a:latin typeface="Georgia"/>
              </a:rPr>
              <a:t>89.1%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632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Calibri"/>
              </a:rPr>
              <a:t>Overall 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605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3 OF 6 PROCEDURAL FAIRNESS CRITERIA PASSED AT BASELINE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937759"/>
            <a:ext cx="274320" cy="274320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" y="527608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Accuracy</a:t>
            </a:r>
          </a:p>
        </p:txBody>
      </p:sp>
      <p:sp>
        <p:nvSpPr>
          <p:cNvPr id="13" name="Oval 12"/>
          <p:cNvSpPr/>
          <p:nvPr/>
        </p:nvSpPr>
        <p:spPr>
          <a:xfrm>
            <a:off x="2788920" y="4937759"/>
            <a:ext cx="274320" cy="274320"/>
          </a:xfrm>
          <a:prstGeom prst="ellipse">
            <a:avLst/>
          </a:prstGeom>
          <a:noFill/>
          <a:ln w="30480">
            <a:solidFill>
              <a:srgbClr val="9D02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25980" y="527608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Bias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Suppression</a:t>
            </a:r>
          </a:p>
        </p:txBody>
      </p:sp>
      <p:sp>
        <p:nvSpPr>
          <p:cNvPr id="15" name="Oval 14"/>
          <p:cNvSpPr/>
          <p:nvPr/>
        </p:nvSpPr>
        <p:spPr>
          <a:xfrm>
            <a:off x="4480560" y="4937759"/>
            <a:ext cx="274320" cy="274320"/>
          </a:xfrm>
          <a:prstGeom prst="ellipse">
            <a:avLst/>
          </a:prstGeom>
          <a:noFill/>
          <a:ln w="30480">
            <a:solidFill>
              <a:srgbClr val="9D02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7620" y="527608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Representativeness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4937759"/>
            <a:ext cx="274320" cy="274320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09260" y="527608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Consistency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4937759"/>
            <a:ext cx="274320" cy="274320"/>
          </a:xfrm>
          <a:prstGeom prst="ellipse">
            <a:avLst/>
          </a:prstGeom>
          <a:noFill/>
          <a:ln w="30480">
            <a:solidFill>
              <a:srgbClr val="9D02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0900" y="527608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Correctability</a:t>
            </a:r>
          </a:p>
        </p:txBody>
      </p:sp>
      <p:sp>
        <p:nvSpPr>
          <p:cNvPr id="21" name="Oval 20"/>
          <p:cNvSpPr/>
          <p:nvPr/>
        </p:nvSpPr>
        <p:spPr>
          <a:xfrm>
            <a:off x="9555480" y="4937759"/>
            <a:ext cx="274320" cy="274320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2540" y="527608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Ethicality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FAIRNESS PROBLEMS ·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Female Patients Were Missed More Often</a:t>
            </a:r>
          </a:p>
        </p:txBody>
      </p:sp>
      <p:pic>
        <p:nvPicPr>
          <p:cNvPr id="4" name="Picture 3" descr="recall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2771" y="1600200"/>
            <a:ext cx="4426153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749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66666"/>
                </a:solidFill>
                <a:latin typeface="Calibri"/>
              </a:rPr>
              <a:t>Recall by sex, heart-disease-present class — the percentage of actual cases the model correctly identified.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5532120"/>
            <a:ext cx="7772400" cy="594360"/>
          </a:xfrm>
          <a:prstGeom prst="roundRect">
            <a:avLst>
              <a:gd name="adj" fmla="val 50000"/>
            </a:avLst>
          </a:prstGeom>
          <a:solidFill>
            <a:srgbClr val="FF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56692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9D0208"/>
                </a:solidFill>
                <a:latin typeface="Calibri"/>
              </a:rPr>
              <a:t>Equalised odds diff: 0.235   ·   Demographic parity diff: 0.457   —   both exceed the ±0.10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FAIRNESS PROBLEMS ·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Two More Gaps: Data and Oversight</a:t>
            </a:r>
          </a:p>
        </p:txBody>
      </p:sp>
      <p:pic>
        <p:nvPicPr>
          <p:cNvPr id="4" name="Picture 3" descr="representative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5486400" cy="300037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37960" y="1783080"/>
            <a:ext cx="498348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37960" y="1783080"/>
            <a:ext cx="4983480" cy="82296"/>
          </a:xfrm>
          <a:prstGeom prst="rect">
            <a:avLst/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210312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CORRECTABILITY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42316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9D0208"/>
                </a:solidFill>
                <a:latin typeface="Georgia"/>
              </a:rPr>
              <a:t>3 of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2461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Calibri"/>
              </a:rPr>
              <a:t>checklist criteria met  (threshold: ≥ 80%)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79476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1A1A1A"/>
                </a:solidFill>
                <a:latin typeface="Calibri"/>
              </a:rPr>
              <a:t>No clinician override, no patient challenge mechanism,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1A1A1A"/>
                </a:solidFill>
                <a:latin typeface="Calibri"/>
              </a:rPr>
              <a:t>no audit trail, and no model version history.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ROOT CAUSES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Why These Gaps Exist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1078992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82296" cy="1965960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5740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Georgia"/>
              </a:rPr>
              <a:t>Underrepresented in the 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2057400"/>
            <a:ext cx="0" cy="1417320"/>
          </a:xfrm>
          <a:prstGeom prst="line">
            <a:avLst/>
          </a:prstGeom>
          <a:ln w="12700">
            <a:solidFill>
              <a:srgbClr val="F0D9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49240" y="205740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Female patients make up 21% of the dataset vs. 33% real-world CHD prevalence (BHF, 2021). The model learns less about this group — and recalls it less reliably.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114800"/>
            <a:ext cx="1078992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114800"/>
            <a:ext cx="82296" cy="1965960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38912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Georgia"/>
              </a:rPr>
              <a:t>No review mechanisms by design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29200" y="4389120"/>
            <a:ext cx="0" cy="1417320"/>
          </a:xfrm>
          <a:prstGeom prst="line">
            <a:avLst/>
          </a:prstGeom>
          <a:ln w="12700">
            <a:solidFill>
              <a:srgbClr val="F0D9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349240" y="438912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The original pipeline had no clinician override, patient challenge process, audit trail, or version history built in from the start.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MITIGATION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Two Targeted Interventions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516636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5166360" cy="82296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148840"/>
            <a:ext cx="502920" cy="502920"/>
          </a:xfrm>
          <a:prstGeom prst="ellipse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502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67128"/>
            <a:ext cx="3886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A1A1A"/>
                </a:solidFill>
                <a:latin typeface="Georgia"/>
              </a:rPr>
              <a:t>Fairness-Aware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88036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6265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C9748F"/>
                </a:solidFill>
                <a:latin typeface="Calibri"/>
              </a:rPr>
              <a:t>ADDRESSES BIAS SUPPRESSION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39"/>
            <a:ext cx="4526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An ExponentiatedGradient algorithm, constrained by Fairlearn's EqualizedOdds criterion (tolerance 0.01), re-weighted the training data so error rates moved closer together across male and female patients.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516636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166360" cy="82296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29400" y="2148840"/>
            <a:ext cx="502920" cy="502920"/>
          </a:xfrm>
          <a:prstGeom prst="ellipse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212848"/>
            <a:ext cx="502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167128"/>
            <a:ext cx="3886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A1A1A"/>
                </a:solidFill>
                <a:latin typeface="Georgia"/>
              </a:rPr>
              <a:t>Confidence-Based Flagging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288036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6265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C9748F"/>
                </a:solidFill>
                <a:latin typeface="Calibri"/>
              </a:rPr>
              <a:t>ADDRESSES CORRECTABILITY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520439"/>
            <a:ext cx="4526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Predictions with model confidence between 30% and 70% are automatically flagged for clinician review — adding a human check on the cases the model is least sure about.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RESULTS ·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The Gap Narrowed — But Didn't Close</a:t>
            </a:r>
          </a:p>
        </p:txBody>
      </p:sp>
      <p:pic>
        <p:nvPicPr>
          <p:cNvPr id="4" name="Picture 3" descr="recall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919" y="1554480"/>
            <a:ext cx="5705856" cy="36576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011680" y="5577840"/>
            <a:ext cx="8229600" cy="777240"/>
          </a:xfrm>
          <a:prstGeom prst="roundRect">
            <a:avLst>
              <a:gd name="adj" fmla="val 50000"/>
            </a:avLst>
          </a:prstGeom>
          <a:solidFill>
            <a:srgbClr val="FBF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5742432"/>
            <a:ext cx="7680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82B00"/>
                </a:solidFill>
                <a:latin typeface="Calibri"/>
              </a:rPr>
              <a:t>Female recall rose 70.0% → 90.0% with no drop in male recall — at the cost of a modest accuracy trade-off: AUC-ROC 0.957 → 0.895.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RESULTS ·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Two Criteria Moved From Fail to Partial</a:t>
            </a:r>
          </a:p>
        </p:txBody>
      </p:sp>
      <p:pic>
        <p:nvPicPr>
          <p:cNvPr id="4" name="Picture 3" descr="fairness_measures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760720" cy="2308993"/>
          </a:xfrm>
          <a:prstGeom prst="rect">
            <a:avLst/>
          </a:prstGeom>
        </p:spPr>
      </p:pic>
      <p:pic>
        <p:nvPicPr>
          <p:cNvPr id="5" name="Picture 4" descr="correctability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65960"/>
            <a:ext cx="4596414" cy="1965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1605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Representativeness stayed at 0.64 — unchanged, because mitigation cannot fix a data problem.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AFTER MITIGATION: 3 PASS · 2 PARTIAL · 1 FAIL</a:t>
            </a:r>
          </a:p>
        </p:txBody>
      </p:sp>
      <p:sp>
        <p:nvSpPr>
          <p:cNvPr id="8" name="Oval 7"/>
          <p:cNvSpPr/>
          <p:nvPr/>
        </p:nvSpPr>
        <p:spPr>
          <a:xfrm>
            <a:off x="1106424" y="5495544"/>
            <a:ext cx="256032" cy="256032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" y="582472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Calibri"/>
              </a:rPr>
              <a:t>Accuracy</a:t>
            </a:r>
          </a:p>
        </p:txBody>
      </p:sp>
      <p:sp>
        <p:nvSpPr>
          <p:cNvPr id="10" name="Oval 9"/>
          <p:cNvSpPr/>
          <p:nvPr/>
        </p:nvSpPr>
        <p:spPr>
          <a:xfrm>
            <a:off x="2798064" y="5495544"/>
            <a:ext cx="256032" cy="25603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25980" y="582472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Calibri"/>
              </a:rPr>
              <a:t>Bias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Calibri"/>
              </a:rPr>
              <a:t>Suppression</a:t>
            </a:r>
          </a:p>
        </p:txBody>
      </p:sp>
      <p:sp>
        <p:nvSpPr>
          <p:cNvPr id="12" name="Oval 11"/>
          <p:cNvSpPr/>
          <p:nvPr/>
        </p:nvSpPr>
        <p:spPr>
          <a:xfrm>
            <a:off x="4489704" y="5495544"/>
            <a:ext cx="256032" cy="256032"/>
          </a:xfrm>
          <a:prstGeom prst="ellipse">
            <a:avLst/>
          </a:prstGeom>
          <a:noFill/>
          <a:ln w="30480">
            <a:solidFill>
              <a:srgbClr val="9D02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7620" y="582472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Calibri"/>
              </a:rPr>
              <a:t>Representativeness</a:t>
            </a:r>
          </a:p>
        </p:txBody>
      </p:sp>
      <p:sp>
        <p:nvSpPr>
          <p:cNvPr id="14" name="Oval 13"/>
          <p:cNvSpPr/>
          <p:nvPr/>
        </p:nvSpPr>
        <p:spPr>
          <a:xfrm>
            <a:off x="6181344" y="5495544"/>
            <a:ext cx="256032" cy="256032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09260" y="582472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Calibri"/>
              </a:rPr>
              <a:t>Consistency</a:t>
            </a:r>
          </a:p>
        </p:txBody>
      </p:sp>
      <p:sp>
        <p:nvSpPr>
          <p:cNvPr id="16" name="Oval 15"/>
          <p:cNvSpPr/>
          <p:nvPr/>
        </p:nvSpPr>
        <p:spPr>
          <a:xfrm>
            <a:off x="7872983" y="5495544"/>
            <a:ext cx="256032" cy="25603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582472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Calibri"/>
              </a:rPr>
              <a:t>Correctability</a:t>
            </a:r>
          </a:p>
        </p:txBody>
      </p:sp>
      <p:sp>
        <p:nvSpPr>
          <p:cNvPr id="18" name="Oval 17"/>
          <p:cNvSpPr/>
          <p:nvPr/>
        </p:nvSpPr>
        <p:spPr>
          <a:xfrm>
            <a:off x="9564624" y="5495544"/>
            <a:ext cx="256032" cy="256032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2540" y="5824728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Calibri"/>
              </a:rPr>
              <a:t>Ethicality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PUBLIC SURVEY · N = 325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What Do People Actually Expect?</a:t>
            </a:r>
          </a:p>
        </p:txBody>
      </p:sp>
      <p:pic>
        <p:nvPicPr>
          <p:cNvPr id="4" name="Picture 3" descr="survey_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691640"/>
            <a:ext cx="9418320" cy="3018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Sample: predominantly female (67%) and non-technical (83%) respondents — a sampling limitation revisited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THE KEY 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The Weakest Result Is the Public's Top Priority</a:t>
            </a:r>
          </a:p>
        </p:txBody>
      </p:sp>
      <p:pic>
        <p:nvPicPr>
          <p:cNvPr id="4" name="Picture 3" descr="survey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28800"/>
            <a:ext cx="5212080" cy="397995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63640" y="1828800"/>
            <a:ext cx="5212080" cy="3657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1828800"/>
            <a:ext cx="5212080" cy="82296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A1A1A"/>
                </a:solidFill>
                <a:latin typeface="Georgia"/>
              </a:rPr>
              <a:t>Correctability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65176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was the pipeline's weakest technical criterion — still only Partial after mitigation.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0" y="3520440"/>
            <a:ext cx="4572000" cy="0"/>
          </a:xfrm>
          <a:prstGeom prst="line">
            <a:avLst/>
          </a:prstGeom>
          <a:ln w="12700">
            <a:solidFill>
              <a:srgbClr val="F0D9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A1A1A"/>
                </a:solidFill>
                <a:latin typeface="Georgia"/>
              </a:rPr>
              <a:t>Human oversight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06240"/>
            <a:ext cx="4617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66666"/>
                </a:solidFill>
                <a:latin typeface="Calibri"/>
              </a:rPr>
              <a:t>was the public's strongest and most consistent expectation (93% / 92%).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489204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50109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C9748F"/>
                </a:solidFill>
                <a:latin typeface="Calibri"/>
              </a:rPr>
              <a:t>Two independent sources point at the same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What This Study Doesn't Settle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4008" cy="1783080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47672"/>
            <a:ext cx="4526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Small subgroups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96312"/>
            <a:ext cx="4526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Calibri"/>
              </a:rPr>
              <a:t>The female test set is only 39 patients — fairness estimates carry real uncertainty.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691640"/>
            <a:ext cx="64008" cy="1783080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47672"/>
            <a:ext cx="4526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A data problem, not just a model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496312"/>
            <a:ext cx="4526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Calibri"/>
              </a:rPr>
              <a:t>Representativeness cannot be fixed by better algorithms alone.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49039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749039"/>
            <a:ext cx="64008" cy="1783080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05072"/>
            <a:ext cx="4526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Survey sampling bias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53712"/>
            <a:ext cx="4526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Calibri"/>
              </a:rPr>
              <a:t>Convenience/snowball sample, skewed female and non-technical, English-only.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749039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749039"/>
            <a:ext cx="64008" cy="1783080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005072"/>
            <a:ext cx="4526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Correctability 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553712"/>
            <a:ext cx="4526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Calibri"/>
              </a:rPr>
              <a:t>The checklist total grew alongside the fix, complicating direct comparison.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Three Priorities for Responsible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107899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125980"/>
            <a:ext cx="548640" cy="548640"/>
          </a:xfrm>
          <a:prstGeom prst="ellipse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0844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965960"/>
            <a:ext cx="4297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Collect more representative clinical data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55080" y="1984248"/>
            <a:ext cx="0" cy="832104"/>
          </a:xfrm>
          <a:prstGeom prst="line">
            <a:avLst/>
          </a:prstGeom>
          <a:ln w="12700">
            <a:solidFill>
              <a:srgbClr val="F0D9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0" y="1920240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Calibri"/>
              </a:rPr>
              <a:t>Prioritise female-representative datasets before deployment.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73552"/>
            <a:ext cx="107899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3616452"/>
            <a:ext cx="548640" cy="548640"/>
          </a:xfrm>
          <a:prstGeom prst="ellipse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7131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456432"/>
            <a:ext cx="4297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Build correctability infrastructure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55080" y="3474720"/>
            <a:ext cx="0" cy="832104"/>
          </a:xfrm>
          <a:prstGeom prst="line">
            <a:avLst/>
          </a:prstGeom>
          <a:ln w="12700">
            <a:solidFill>
              <a:srgbClr val="F0D9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410712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Calibri"/>
              </a:rPr>
              <a:t>Clinician override, patient challenge, audit trails, and version control.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64024"/>
            <a:ext cx="107899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5106924"/>
            <a:ext cx="548640" cy="548640"/>
          </a:xfrm>
          <a:prstGeom prst="ellipse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16178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946904"/>
            <a:ext cx="4297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A1A1A"/>
                </a:solidFill>
                <a:latin typeface="Calibri"/>
              </a:rPr>
              <a:t>Establish informed consent frameworks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55080" y="4965192"/>
            <a:ext cx="0" cy="832104"/>
          </a:xfrm>
          <a:prstGeom prst="line">
            <a:avLst/>
          </a:prstGeom>
          <a:ln w="12700">
            <a:solidFill>
              <a:srgbClr val="F0D9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675120" y="4901184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666666"/>
                </a:solidFill>
                <a:latin typeface="Calibri"/>
              </a:rPr>
              <a:t>For the secondary use of clinical data in ML research.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748F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1A1A"/>
                </a:solidFill>
                <a:latin typeface="Georgia"/>
              </a:rPr>
              <a:t>Fairness Requires More Than a Better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Three of six procedural fairness criteria passed at baseline. Mitigation narrowed the gender recall gap and strengthened oversight — at a modest accuracy cost — without fully resolving either. The priority that matters most now is correctability: the model's weakest technical result, and the public's strongest expectation.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947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9748F"/>
                </a:solidFill>
                <a:latin typeface="Calibri"/>
              </a:rPr>
              <a:t>AFTER MITIGATION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4526279"/>
            <a:ext cx="274320" cy="274320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" y="4864607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Accuracy</a:t>
            </a:r>
          </a:p>
        </p:txBody>
      </p:sp>
      <p:sp>
        <p:nvSpPr>
          <p:cNvPr id="8" name="Oval 7"/>
          <p:cNvSpPr/>
          <p:nvPr/>
        </p:nvSpPr>
        <p:spPr>
          <a:xfrm>
            <a:off x="2788920" y="4526279"/>
            <a:ext cx="274320" cy="2743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5980" y="4864607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Bias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Suppression</a:t>
            </a:r>
          </a:p>
        </p:txBody>
      </p:sp>
      <p:sp>
        <p:nvSpPr>
          <p:cNvPr id="10" name="Oval 9"/>
          <p:cNvSpPr/>
          <p:nvPr/>
        </p:nvSpPr>
        <p:spPr>
          <a:xfrm>
            <a:off x="4480560" y="4526279"/>
            <a:ext cx="274320" cy="274320"/>
          </a:xfrm>
          <a:prstGeom prst="ellipse">
            <a:avLst/>
          </a:prstGeom>
          <a:noFill/>
          <a:ln w="30480">
            <a:solidFill>
              <a:srgbClr val="9D02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7620" y="4864607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Representativeness</a:t>
            </a:r>
          </a:p>
        </p:txBody>
      </p:sp>
      <p:sp>
        <p:nvSpPr>
          <p:cNvPr id="12" name="Oval 11"/>
          <p:cNvSpPr/>
          <p:nvPr/>
        </p:nvSpPr>
        <p:spPr>
          <a:xfrm>
            <a:off x="6172200" y="4526279"/>
            <a:ext cx="274320" cy="274320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9260" y="4864607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Consistency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0" y="4526279"/>
            <a:ext cx="274320" cy="2743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0900" y="4864607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Correctability</a:t>
            </a:r>
          </a:p>
        </p:txBody>
      </p:sp>
      <p:sp>
        <p:nvSpPr>
          <p:cNvPr id="16" name="Oval 15"/>
          <p:cNvSpPr/>
          <p:nvPr/>
        </p:nvSpPr>
        <p:spPr>
          <a:xfrm>
            <a:off x="9555480" y="4526279"/>
            <a:ext cx="274320" cy="274320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92540" y="4864607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Ethicality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623560"/>
            <a:ext cx="10607040" cy="640080"/>
          </a:xfrm>
          <a:prstGeom prst="roundRect">
            <a:avLst>
              <a:gd name="adj" fmla="val 50000"/>
            </a:avLst>
          </a:prstGeom>
          <a:solidFill>
            <a:srgbClr val="FB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7900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9748F"/>
                </a:solidFill>
                <a:latin typeface="Calibri"/>
              </a:rPr>
              <a:t>Fixing fairness needs better data and stronger oversight — not modelling alone.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Procedural Fairness in Healthcare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99999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C97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A1A1A"/>
                </a:solidFill>
                <a:latin typeface="Georgi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1">
                <a:solidFill>
                  <a:srgbClr val="C9748F"/>
                </a:solidFill>
                <a:latin typeface="Calibri"/>
              </a:rPr>
              <a:t>Questions?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4663440"/>
            <a:ext cx="3840480" cy="0"/>
          </a:xfrm>
          <a:prstGeom prst="line">
            <a:avLst/>
          </a:prstGeom>
          <a:ln w="25400">
            <a:solidFill>
              <a:srgbClr val="F2C4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48920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Calibri"/>
              </a:rPr>
              <a:t>Kaylee Scarce  ·  Newcastle University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9379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Supervised by Dr Vlad González-Zelaya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