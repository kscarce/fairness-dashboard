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75" r:id="rId6"/>
    <p:sldId id="278" r:id="rId7"/>
    <p:sldId id="260" r:id="rId8"/>
    <p:sldId id="276" r:id="rId9"/>
    <p:sldId id="261" r:id="rId10"/>
    <p:sldId id="262" r:id="rId11"/>
    <p:sldId id="263" r:id="rId12"/>
    <p:sldId id="265" r:id="rId13"/>
    <p:sldId id="266" r:id="rId14"/>
    <p:sldId id="267" r:id="rId15"/>
    <p:sldId id="268" r:id="rId16"/>
    <p:sldId id="280" r:id="rId17"/>
    <p:sldId id="270" r:id="rId18"/>
    <p:sldId id="271" r:id="rId19"/>
    <p:sldId id="272" r:id="rId20"/>
    <p:sldId id="273"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B2D4E"/>
    <a:srgbClr val="C9748F"/>
    <a:srgbClr val="FDF8F9"/>
    <a:srgbClr val="F2C4CE"/>
    <a:srgbClr val="F7E4E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5264" autoAdjust="0"/>
  </p:normalViewPr>
  <p:slideViewPr>
    <p:cSldViewPr snapToGrid="0" snapToObjects="1">
      <p:cViewPr varScale="1">
        <p:scale>
          <a:sx n="95" d="100"/>
          <a:sy n="95" d="100"/>
        </p:scale>
        <p:origin x="462" y="90"/>
      </p:cViewPr>
      <p:guideLst>
        <p:guide orient="horz" pos="2160"/>
        <p:guide pos="2880"/>
      </p:guideLst>
    </p:cSldViewPr>
  </p:slideViewPr>
  <p:notesTextViewPr>
    <p:cViewPr>
      <p:scale>
        <a:sx n="3" d="2"/>
        <a:sy n="3" d="2"/>
      </p:scale>
      <p:origin x="-6" y="-18"/>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6DECCC-CF0C-4AC6-A35A-0244A2062218}" type="datetimeFigureOut">
              <a:rPr lang="en-GB" smtClean="0"/>
              <a:t>29/07/2026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0DC7DE9-ACFA-4D31-A3BC-33B1D466B041}" type="slidenum">
              <a:rPr lang="en-GB" smtClean="0"/>
              <a:t>‹#›</a:t>
            </a:fld>
            <a:endParaRPr lang="en-GB"/>
          </a:p>
        </p:txBody>
      </p:sp>
    </p:spTree>
    <p:extLst>
      <p:ext uri="{BB962C8B-B14F-4D97-AF65-F5344CB8AC3E}">
        <p14:creationId xmlns:p14="http://schemas.microsoft.com/office/powerpoint/2010/main" val="2428332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Same model, two patients: men caught 93.5%, women only 70%</a:t>
            </a:r>
          </a:p>
          <a:p>
            <a:pPr marL="171450" indent="-171450">
              <a:buFont typeface="Arial" panose="020B0604020202020204" pitchFamily="34" charset="0"/>
              <a:buChar char="•"/>
            </a:pPr>
            <a:r>
              <a:rPr lang="en-GB" dirty="0"/>
              <a:t>Judge it on that one number and you'd deploy it —  but it hides who it's failing</a:t>
            </a:r>
          </a:p>
        </p:txBody>
      </p:sp>
      <p:sp>
        <p:nvSpPr>
          <p:cNvPr id="4" name="Slide Number Placeholder 3"/>
          <p:cNvSpPr>
            <a:spLocks noGrp="1"/>
          </p:cNvSpPr>
          <p:nvPr>
            <p:ph type="sldNum" sz="quarter" idx="5"/>
          </p:nvPr>
        </p:nvSpPr>
        <p:spPr/>
        <p:txBody>
          <a:bodyPr/>
          <a:lstStyle/>
          <a:p>
            <a:fld id="{50DC7DE9-ACFA-4D31-A3BC-33B1D466B041}" type="slidenum">
              <a:rPr lang="en-GB" smtClean="0"/>
              <a:t>3</a:t>
            </a:fld>
            <a:endParaRPr lang="en-GB"/>
          </a:p>
        </p:txBody>
      </p:sp>
    </p:spTree>
    <p:extLst>
      <p:ext uri="{BB962C8B-B14F-4D97-AF65-F5344CB8AC3E}">
        <p14:creationId xmlns:p14="http://schemas.microsoft.com/office/powerpoint/2010/main" val="34578168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GB" dirty="0"/>
              <a:t>My whole project comes down to one question: how can procedural fairness be defined, measured, and communicated in a healthcare prediction model?</a:t>
            </a:r>
          </a:p>
          <a:p>
            <a:pPr rtl="0"/>
            <a:r>
              <a:rPr lang="en-GB" dirty="0"/>
              <a:t>Those three verbs structure everything that follows.</a:t>
            </a:r>
          </a:p>
          <a:p>
            <a:pPr rtl="0"/>
            <a:r>
              <a:rPr lang="en-GB" b="1" dirty="0"/>
              <a:t>Define</a:t>
            </a:r>
            <a:r>
              <a:rPr lang="en-GB" dirty="0"/>
              <a:t> — I take Leventhal's procedural justice rules, written for human decisions, and translate them into fairness criteria for healthcare AI.</a:t>
            </a:r>
          </a:p>
          <a:p>
            <a:pPr rtl="0"/>
            <a:r>
              <a:rPr lang="en-GB" b="1" dirty="0"/>
              <a:t>Measure</a:t>
            </a:r>
            <a:r>
              <a:rPr lang="en-GB" dirty="0"/>
              <a:t> — I turn those criteria into something testable: quantitative metrics for the technical rules, and a structured checklist for the ones that aren't purely technical.</a:t>
            </a:r>
          </a:p>
          <a:p>
            <a:pPr rtl="0"/>
            <a:r>
              <a:rPr lang="en-GB" b="1" dirty="0"/>
              <a:t>Communicate</a:t>
            </a:r>
            <a:r>
              <a:rPr lang="en-GB" dirty="0"/>
              <a:t> — and because fairness only matters if people can see it, I present the results in a way that works for stakeholders whether or not they have a technical background — which is the dashboard.</a:t>
            </a:r>
          </a:p>
          <a:p>
            <a:pPr rtl="0"/>
            <a:r>
              <a:rPr lang="en-GB" dirty="0"/>
              <a:t>So: define it, measure it, communicate it. Keep those three in mind — they're the thread through the rest of the talk.</a:t>
            </a:r>
          </a:p>
          <a:p>
            <a:endParaRPr lang="en-GB" dirty="0"/>
          </a:p>
        </p:txBody>
      </p:sp>
      <p:sp>
        <p:nvSpPr>
          <p:cNvPr id="4" name="Slide Number Placeholder 3"/>
          <p:cNvSpPr>
            <a:spLocks noGrp="1"/>
          </p:cNvSpPr>
          <p:nvPr>
            <p:ph type="sldNum" sz="quarter" idx="5"/>
          </p:nvPr>
        </p:nvSpPr>
        <p:spPr/>
        <p:txBody>
          <a:bodyPr/>
          <a:lstStyle/>
          <a:p>
            <a:fld id="{50DC7DE9-ACFA-4D31-A3BC-33B1D466B041}" type="slidenum">
              <a:rPr lang="en-GB" smtClean="0"/>
              <a:t>4</a:t>
            </a:fld>
            <a:endParaRPr lang="en-GB"/>
          </a:p>
        </p:txBody>
      </p:sp>
    </p:spTree>
    <p:extLst>
      <p:ext uri="{BB962C8B-B14F-4D97-AF65-F5344CB8AC3E}">
        <p14:creationId xmlns:p14="http://schemas.microsoft.com/office/powerpoint/2010/main" val="24764671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where I define what fairness means → Leventhal's 1980 framework, six rules for a fair process </a:t>
            </a:r>
          </a:p>
          <a:p>
            <a:endParaRPr lang="en-GB" dirty="0"/>
          </a:p>
          <a:p>
            <a:r>
              <a:rPr lang="en-GB" dirty="0"/>
              <a:t>Key thing: he wrote them for </a:t>
            </a:r>
            <a:r>
              <a:rPr lang="en-GB" i="1" dirty="0"/>
              <a:t>humans</a:t>
            </a:r>
            <a:r>
              <a:rPr lang="en-GB" dirty="0"/>
              <a:t> — managers deciding between people, not algorithms </a:t>
            </a:r>
          </a:p>
          <a:p>
            <a:endParaRPr lang="en-GB" dirty="0"/>
          </a:p>
          <a:p>
            <a:r>
              <a:rPr lang="en-GB" dirty="0"/>
              <a:t>So my job was translating each rule into something you can test in a model </a:t>
            </a:r>
            <a:r>
              <a:rPr lang="en-GB" i="1" dirty="0"/>
              <a:t>(point at the table)</a:t>
            </a:r>
          </a:p>
          <a:p>
            <a:endParaRPr lang="en-GB" i="1" dirty="0"/>
          </a:p>
          <a:p>
            <a:r>
              <a:rPr lang="en-GB" dirty="0"/>
              <a:t> Left column = his original wording, right column = my healthcare version </a:t>
            </a:r>
          </a:p>
          <a:p>
            <a:endParaRPr lang="en-GB" dirty="0"/>
          </a:p>
          <a:p>
            <a:r>
              <a:rPr lang="en-GB" dirty="0"/>
              <a:t>Example: correctability </a:t>
            </a:r>
            <a:r>
              <a:rPr lang="en-GB" i="1" dirty="0"/>
              <a:t>(point to it)</a:t>
            </a:r>
            <a:r>
              <a:rPr lang="en-GB" dirty="0"/>
              <a:t> → for him, "review or appeal a decision"; for me, "can a clinician override it? is there an audit trail?“</a:t>
            </a:r>
          </a:p>
          <a:p>
            <a:endParaRPr lang="en-GB" dirty="0"/>
          </a:p>
          <a:p>
            <a:r>
              <a:rPr lang="en-GB" dirty="0"/>
              <a:t> Not the first to adapt him — </a:t>
            </a:r>
            <a:r>
              <a:rPr lang="en-GB" dirty="0" err="1"/>
              <a:t>Jabagi</a:t>
            </a:r>
            <a:r>
              <a:rPr lang="en-GB" dirty="0"/>
              <a:t> did it for HR algorithms in 2025; I'm bringing it into healthcare</a:t>
            </a:r>
          </a:p>
        </p:txBody>
      </p:sp>
      <p:sp>
        <p:nvSpPr>
          <p:cNvPr id="4" name="Slide Number Placeholder 3"/>
          <p:cNvSpPr>
            <a:spLocks noGrp="1"/>
          </p:cNvSpPr>
          <p:nvPr>
            <p:ph type="sldNum" sz="quarter" idx="5"/>
          </p:nvPr>
        </p:nvSpPr>
        <p:spPr/>
        <p:txBody>
          <a:bodyPr/>
          <a:lstStyle/>
          <a:p>
            <a:fld id="{50DC7DE9-ACFA-4D31-A3BC-33B1D466B041}" type="slidenum">
              <a:rPr lang="en-GB" smtClean="0"/>
              <a:t>5</a:t>
            </a:fld>
            <a:endParaRPr lang="en-GB"/>
          </a:p>
        </p:txBody>
      </p:sp>
    </p:spTree>
    <p:extLst>
      <p:ext uri="{BB962C8B-B14F-4D97-AF65-F5344CB8AC3E}">
        <p14:creationId xmlns:p14="http://schemas.microsoft.com/office/powerpoint/2010/main" val="5865137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scoring anything, I had to define what "passing" means for each of the six criteria</a:t>
            </a:r>
          </a:p>
          <a:p>
            <a:endParaRPr lang="en-GB" dirty="0"/>
          </a:p>
          <a:p>
            <a:r>
              <a:rPr lang="en-GB" dirty="0"/>
              <a:t>Some bars are standard </a:t>
            </a:r>
            <a:r>
              <a:rPr lang="en-GB" i="1" dirty="0"/>
              <a:t>(point to Accuracy)</a:t>
            </a:r>
            <a:r>
              <a:rPr lang="en-GB" dirty="0"/>
              <a:t> → AUC 0.80 is a recognised convention </a:t>
            </a:r>
          </a:p>
          <a:p>
            <a:endParaRPr lang="en-GB" dirty="0"/>
          </a:p>
          <a:p>
            <a:r>
              <a:rPr lang="en-GB" dirty="0" err="1"/>
              <a:t>thers</a:t>
            </a:r>
            <a:r>
              <a:rPr lang="en-GB" dirty="0"/>
              <a:t> I set myself </a:t>
            </a:r>
            <a:r>
              <a:rPr lang="en-GB" i="1" dirty="0"/>
              <a:t>(point to the right column)</a:t>
            </a:r>
            <a:r>
              <a:rPr lang="en-GB" dirty="0"/>
              <a:t> → labelled "researcher-defined"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0DC7DE9-ACFA-4D31-A3BC-33B1D466B041}" type="slidenum">
              <a:rPr lang="en-GB" smtClean="0"/>
              <a:t>7</a:t>
            </a:fld>
            <a:endParaRPr lang="en-GB"/>
          </a:p>
        </p:txBody>
      </p:sp>
    </p:spTree>
    <p:extLst>
      <p:ext uri="{BB962C8B-B14F-4D97-AF65-F5344CB8AC3E}">
        <p14:creationId xmlns:p14="http://schemas.microsoft.com/office/powerpoint/2010/main" val="37720370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Three choices that make this a careful fairness analysis, not just a model</a:t>
            </a:r>
          </a:p>
          <a:p>
            <a:r>
              <a:rPr lang="en-GB" dirty="0"/>
              <a:t> </a:t>
            </a:r>
            <a:r>
              <a:rPr lang="en-GB" b="1" dirty="0"/>
              <a:t>No leakage</a:t>
            </a:r>
            <a:r>
              <a:rPr lang="en-GB" dirty="0"/>
              <a:t> → prepped everything on training data only → so results are real, not the model peeking at test patients </a:t>
            </a:r>
          </a:p>
          <a:p>
            <a:r>
              <a:rPr lang="en-GB" b="1" dirty="0"/>
              <a:t>Split protects the smallest group</a:t>
            </a:r>
            <a:r>
              <a:rPr lang="en-GB" dirty="0"/>
              <a:t> → women are a minority → a random split could've left too few to judge → I balanced it so fairness wasn't left to chance </a:t>
            </a:r>
          </a:p>
          <a:p>
            <a:r>
              <a:rPr lang="en-GB" b="1" dirty="0"/>
              <a:t>Kept sex and age in on purpose</a:t>
            </a:r>
            <a:r>
              <a:rPr lang="en-GB" dirty="0"/>
              <a:t> → this is the counterintuitive one → removing them doesn't help, the model just relearns bias invisibly → keeping them means I can </a:t>
            </a:r>
            <a:r>
              <a:rPr lang="en-GB" i="1" dirty="0"/>
              <a:t>see</a:t>
            </a:r>
            <a:r>
              <a:rPr lang="en-GB" dirty="0"/>
              <a:t> it and measure it</a:t>
            </a:r>
          </a:p>
        </p:txBody>
      </p:sp>
      <p:sp>
        <p:nvSpPr>
          <p:cNvPr id="4" name="Slide Number Placeholder 3"/>
          <p:cNvSpPr>
            <a:spLocks noGrp="1"/>
          </p:cNvSpPr>
          <p:nvPr>
            <p:ph type="sldNum" sz="quarter" idx="5"/>
          </p:nvPr>
        </p:nvSpPr>
        <p:spPr/>
        <p:txBody>
          <a:bodyPr/>
          <a:lstStyle/>
          <a:p>
            <a:fld id="{50DC7DE9-ACFA-4D31-A3BC-33B1D466B041}" type="slidenum">
              <a:rPr lang="en-GB" smtClean="0"/>
              <a:t>8</a:t>
            </a:fld>
            <a:endParaRPr lang="en-GB"/>
          </a:p>
        </p:txBody>
      </p:sp>
    </p:spTree>
    <p:extLst>
      <p:ext uri="{BB962C8B-B14F-4D97-AF65-F5344CB8AC3E}">
        <p14:creationId xmlns:p14="http://schemas.microsoft.com/office/powerpoint/2010/main" val="13194033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AUC</a:t>
            </a:r>
            <a:r>
              <a:rPr lang="en-GB" dirty="0"/>
              <a:t> = </a:t>
            </a:r>
            <a:r>
              <a:rPr lang="en-GB" b="1" dirty="0"/>
              <a:t>Area Under the Curve</a:t>
            </a:r>
            <a:r>
              <a:rPr lang="en-GB" dirty="0"/>
              <a:t> </a:t>
            </a:r>
            <a:r>
              <a:rPr lang="en-GB" b="1" dirty="0"/>
              <a:t>ROC</a:t>
            </a:r>
            <a:r>
              <a:rPr lang="en-GB" dirty="0"/>
              <a:t> = </a:t>
            </a:r>
            <a:r>
              <a:rPr lang="en-GB" b="1" dirty="0"/>
              <a:t>Receiver Operating Characteristic</a:t>
            </a:r>
          </a:p>
          <a:p>
            <a:r>
              <a:rPr lang="en-GB" dirty="0"/>
              <a:t>On accuracy → excellent. 0.957, way above the 0.80 bar</a:t>
            </a:r>
          </a:p>
          <a:p>
            <a:r>
              <a:rPr lang="en-GB" dirty="0"/>
              <a:t> Judged the usual way, you'd deploy it </a:t>
            </a:r>
            <a:r>
              <a:rPr lang="en-GB" i="1" dirty="0"/>
              <a:t>(pause)</a:t>
            </a:r>
            <a:r>
              <a:rPr lang="en-GB" dirty="0"/>
              <a:t> </a:t>
            </a:r>
          </a:p>
          <a:p>
            <a:r>
              <a:rPr lang="en-GB" dirty="0"/>
              <a:t>But accuracy is only 1 of 6 criteria Score all six → passes 3, fails 3 </a:t>
            </a:r>
          </a:p>
          <a:p>
            <a:r>
              <a:rPr lang="en-GB" i="1" dirty="0"/>
              <a:t>(point at the dots)</a:t>
            </a:r>
            <a:r>
              <a:rPr lang="en-GB" dirty="0"/>
              <a:t> Green: accuracy, consistency, ethicality. Red: bias suppression, representativeness, correctability </a:t>
            </a:r>
          </a:p>
          <a:p>
            <a:r>
              <a:rPr lang="en-GB" dirty="0"/>
              <a:t>Looks ready — but half the fairness criteria fail. That gap is the whole talk</a:t>
            </a:r>
          </a:p>
        </p:txBody>
      </p:sp>
      <p:sp>
        <p:nvSpPr>
          <p:cNvPr id="4" name="Slide Number Placeholder 3"/>
          <p:cNvSpPr>
            <a:spLocks noGrp="1"/>
          </p:cNvSpPr>
          <p:nvPr>
            <p:ph type="sldNum" sz="quarter" idx="5"/>
          </p:nvPr>
        </p:nvSpPr>
        <p:spPr/>
        <p:txBody>
          <a:bodyPr/>
          <a:lstStyle/>
          <a:p>
            <a:fld id="{50DC7DE9-ACFA-4D31-A3BC-33B1D466B041}" type="slidenum">
              <a:rPr lang="en-GB" smtClean="0"/>
              <a:t>9</a:t>
            </a:fld>
            <a:endParaRPr lang="en-GB"/>
          </a:p>
        </p:txBody>
      </p:sp>
    </p:spTree>
    <p:extLst>
      <p:ext uri="{BB962C8B-B14F-4D97-AF65-F5344CB8AC3E}">
        <p14:creationId xmlns:p14="http://schemas.microsoft.com/office/powerpoint/2010/main" val="15648954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Recall by sex → % of real heart-disease cases the model caught</a:t>
            </a:r>
          </a:p>
          <a:p>
            <a:r>
              <a:rPr lang="en-GB" dirty="0"/>
              <a:t> </a:t>
            </a:r>
          </a:p>
          <a:p>
            <a:r>
              <a:rPr lang="en-GB" dirty="0"/>
              <a:t>With only 10 women in the test set, that 70% rests on 7 of 10 cases, so the true rate could be anywhere from 40 to 89% — I report that range to be honest about the uncertainty."</a:t>
            </a:r>
            <a:endParaRPr lang="en-GB" i="1" dirty="0"/>
          </a:p>
          <a:p>
            <a:r>
              <a:rPr lang="en-GB" dirty="0"/>
              <a:t>Bottom box → formal metrics agree, both past the 0.10 line</a:t>
            </a:r>
          </a:p>
        </p:txBody>
      </p:sp>
      <p:sp>
        <p:nvSpPr>
          <p:cNvPr id="4" name="Slide Number Placeholder 3"/>
          <p:cNvSpPr>
            <a:spLocks noGrp="1"/>
          </p:cNvSpPr>
          <p:nvPr>
            <p:ph type="sldNum" sz="quarter" idx="5"/>
          </p:nvPr>
        </p:nvSpPr>
        <p:spPr/>
        <p:txBody>
          <a:bodyPr/>
          <a:lstStyle/>
          <a:p>
            <a:fld id="{50DC7DE9-ACFA-4D31-A3BC-33B1D466B041}" type="slidenum">
              <a:rPr lang="en-GB" smtClean="0"/>
              <a:t>10</a:t>
            </a:fld>
            <a:endParaRPr lang="en-GB"/>
          </a:p>
        </p:txBody>
      </p:sp>
    </p:spTree>
    <p:extLst>
      <p:ext uri="{BB962C8B-B14F-4D97-AF65-F5344CB8AC3E}">
        <p14:creationId xmlns:p14="http://schemas.microsoft.com/office/powerpoint/2010/main" val="1988090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0DC7DE9-ACFA-4D31-A3BC-33B1D466B041}" type="slidenum">
              <a:rPr lang="en-GB" smtClean="0"/>
              <a:t>11</a:t>
            </a:fld>
            <a:endParaRPr lang="en-GB"/>
          </a:p>
        </p:txBody>
      </p:sp>
    </p:spTree>
    <p:extLst>
      <p:ext uri="{BB962C8B-B14F-4D97-AF65-F5344CB8AC3E}">
        <p14:creationId xmlns:p14="http://schemas.microsoft.com/office/powerpoint/2010/main" val="12155555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Normal training just chases accuracy. Fairness-aware training adds a second goal — don't be much worse for one group than another — so the model balances both as it learns</a:t>
            </a:r>
          </a:p>
        </p:txBody>
      </p:sp>
      <p:sp>
        <p:nvSpPr>
          <p:cNvPr id="4" name="Slide Number Placeholder 3"/>
          <p:cNvSpPr>
            <a:spLocks noGrp="1"/>
          </p:cNvSpPr>
          <p:nvPr>
            <p:ph type="sldNum" sz="quarter" idx="5"/>
          </p:nvPr>
        </p:nvSpPr>
        <p:spPr/>
        <p:txBody>
          <a:bodyPr/>
          <a:lstStyle/>
          <a:p>
            <a:fld id="{50DC7DE9-ACFA-4D31-A3BC-33B1D466B041}" type="slidenum">
              <a:rPr lang="en-GB" smtClean="0"/>
              <a:t>12</a:t>
            </a:fld>
            <a:endParaRPr lang="en-GB"/>
          </a:p>
        </p:txBody>
      </p:sp>
    </p:spTree>
    <p:extLst>
      <p:ext uri="{BB962C8B-B14F-4D97-AF65-F5344CB8AC3E}">
        <p14:creationId xmlns:p14="http://schemas.microsoft.com/office/powerpoint/2010/main" val="13622838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0DC7DE9-ACFA-4D31-A3BC-33B1D466B041}" type="slidenum">
              <a:rPr lang="en-GB" smtClean="0"/>
              <a:t>13</a:t>
            </a:fld>
            <a:endParaRPr lang="en-GB"/>
          </a:p>
        </p:txBody>
      </p:sp>
    </p:spTree>
    <p:extLst>
      <p:ext uri="{BB962C8B-B14F-4D97-AF65-F5344CB8AC3E}">
        <p14:creationId xmlns:p14="http://schemas.microsoft.com/office/powerpoint/2010/main" val="2277984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checklist grew </a:t>
            </a:r>
            <a:r>
              <a:rPr lang="en-GB" dirty="0" err="1"/>
              <a:t>bc</a:t>
            </a:r>
            <a:r>
              <a:rPr lang="en-GB" dirty="0"/>
              <a:t> mitigation added a new capability, </a:t>
            </a:r>
            <a:r>
              <a:rPr lang="en-GB" i="1" dirty="0"/>
              <a:t>which became a new thing worth measuring </a:t>
            </a:r>
            <a:endParaRPr lang="en-GB" dirty="0"/>
          </a:p>
          <a:p>
            <a:r>
              <a:rPr lang="en-GB" dirty="0"/>
              <a:t>Changing correctability makes it hard to compare before and after </a:t>
            </a:r>
          </a:p>
        </p:txBody>
      </p:sp>
      <p:sp>
        <p:nvSpPr>
          <p:cNvPr id="4" name="Slide Number Placeholder 3"/>
          <p:cNvSpPr>
            <a:spLocks noGrp="1"/>
          </p:cNvSpPr>
          <p:nvPr>
            <p:ph type="sldNum" sz="quarter" idx="5"/>
          </p:nvPr>
        </p:nvSpPr>
        <p:spPr/>
        <p:txBody>
          <a:bodyPr/>
          <a:lstStyle/>
          <a:p>
            <a:fld id="{50DC7DE9-ACFA-4D31-A3BC-33B1D466B041}" type="slidenum">
              <a:rPr lang="en-GB" smtClean="0"/>
              <a:t>14</a:t>
            </a:fld>
            <a:endParaRPr lang="en-GB"/>
          </a:p>
        </p:txBody>
      </p:sp>
    </p:spTree>
    <p:extLst>
      <p:ext uri="{BB962C8B-B14F-4D97-AF65-F5344CB8AC3E}">
        <p14:creationId xmlns:p14="http://schemas.microsoft.com/office/powerpoint/2010/main" val="34059986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GB" b="1" dirty="0"/>
              <a:t>Reached people through snowball sampling</a:t>
            </a:r>
            <a:r>
              <a:rPr lang="en-GB" dirty="0"/>
              <a:t> </a:t>
            </a:r>
          </a:p>
          <a:p>
            <a:pPr rtl="0"/>
            <a:r>
              <a:rPr lang="en-GB" b="1" dirty="0"/>
              <a:t>Collected through Google Forms</a:t>
            </a:r>
            <a:r>
              <a:rPr lang="en-GB" dirty="0"/>
              <a:t> → </a:t>
            </a:r>
          </a:p>
          <a:p>
            <a:pPr rtl="0"/>
            <a:r>
              <a:rPr lang="en-GB" b="1" dirty="0"/>
              <a:t>question mapped to one of Leventhal's six criteria</a:t>
            </a:r>
            <a:endParaRPr lang="en-GB" dirty="0"/>
          </a:p>
          <a:p>
            <a:pPr rtl="0"/>
            <a:r>
              <a:rPr lang="en-GB" b="1" dirty="0"/>
              <a:t>One overall statement about the survey:</a:t>
            </a:r>
            <a:endParaRPr lang="en-GB" dirty="0"/>
          </a:p>
          <a:p>
            <a:pPr rtl="0"/>
            <a:r>
              <a:rPr lang="en-GB" dirty="0"/>
              <a:t>The survey gives me a second, independent line of evidence — instead of only asking whether the model </a:t>
            </a:r>
            <a:r>
              <a:rPr lang="en-GB" i="1" dirty="0"/>
              <a:t>is</a:t>
            </a:r>
            <a:r>
              <a:rPr lang="en-GB" dirty="0"/>
              <a:t> fair, it asks what the public actually </a:t>
            </a:r>
            <a:r>
              <a:rPr lang="en-GB" i="1" dirty="0"/>
              <a:t>expects</a:t>
            </a:r>
            <a:r>
              <a:rPr lang="en-GB" dirty="0"/>
              <a:t> fairness to mean, measured against the same six criteria.</a:t>
            </a:r>
          </a:p>
          <a:p>
            <a:endParaRPr lang="en-GB" dirty="0"/>
          </a:p>
        </p:txBody>
      </p:sp>
      <p:sp>
        <p:nvSpPr>
          <p:cNvPr id="4" name="Slide Number Placeholder 3"/>
          <p:cNvSpPr>
            <a:spLocks noGrp="1"/>
          </p:cNvSpPr>
          <p:nvPr>
            <p:ph type="sldNum" sz="quarter" idx="5"/>
          </p:nvPr>
        </p:nvSpPr>
        <p:spPr/>
        <p:txBody>
          <a:bodyPr/>
          <a:lstStyle/>
          <a:p>
            <a:fld id="{50DC7DE9-ACFA-4D31-A3BC-33B1D466B041}" type="slidenum">
              <a:rPr lang="en-GB" smtClean="0"/>
              <a:t>15</a:t>
            </a:fld>
            <a:endParaRPr lang="en-GB"/>
          </a:p>
        </p:txBody>
      </p:sp>
    </p:spTree>
    <p:extLst>
      <p:ext uri="{BB962C8B-B14F-4D97-AF65-F5344CB8AC3E}">
        <p14:creationId xmlns:p14="http://schemas.microsoft.com/office/powerpoint/2010/main" val="15633083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800005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29984"/>
            <a:ext cx="12191695" cy="128016"/>
          </a:xfrm>
          <a:prstGeom prst="rect">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74519"/>
            <a:ext cx="9144000" cy="215444"/>
          </a:xfrm>
          <a:prstGeom prst="rect">
            <a:avLst/>
          </a:prstGeom>
          <a:noFill/>
        </p:spPr>
        <p:txBody>
          <a:bodyPr wrap="square" lIns="0" tIns="0" rIns="0" bIns="0" anchor="t">
            <a:spAutoFit/>
          </a:bodyPr>
          <a:lstStyle/>
          <a:p>
            <a:pPr algn="l">
              <a:lnSpc>
                <a:spcPct val="100000"/>
              </a:lnSpc>
            </a:pPr>
            <a:r>
              <a:rPr sz="1400" b="1" i="0" dirty="0">
                <a:solidFill>
                  <a:srgbClr val="C9748F"/>
                </a:solidFill>
                <a:latin typeface="Calibri"/>
              </a:rPr>
              <a:t>MSC DISSERTATION </a:t>
            </a:r>
          </a:p>
        </p:txBody>
      </p:sp>
      <p:sp>
        <p:nvSpPr>
          <p:cNvPr id="5" name="TextBox 4"/>
          <p:cNvSpPr txBox="1"/>
          <p:nvPr/>
        </p:nvSpPr>
        <p:spPr>
          <a:xfrm>
            <a:off x="777240" y="2286000"/>
            <a:ext cx="10607040" cy="1828800"/>
          </a:xfrm>
          <a:prstGeom prst="rect">
            <a:avLst/>
          </a:prstGeom>
          <a:noFill/>
        </p:spPr>
        <p:txBody>
          <a:bodyPr wrap="square" lIns="0" tIns="0" rIns="0" bIns="0" anchor="t">
            <a:spAutoFit/>
          </a:bodyPr>
          <a:lstStyle/>
          <a:p>
            <a:pPr algn="l">
              <a:lnSpc>
                <a:spcPct val="105000"/>
              </a:lnSpc>
            </a:pPr>
            <a:r>
              <a:rPr sz="4400" b="1" i="0">
                <a:solidFill>
                  <a:srgbClr val="1A1A1A"/>
                </a:solidFill>
                <a:latin typeface="Georgia"/>
              </a:rPr>
              <a:t>Procedural Fairness in</a:t>
            </a:r>
          </a:p>
          <a:p>
            <a:pPr algn="l">
              <a:lnSpc>
                <a:spcPct val="105000"/>
              </a:lnSpc>
            </a:pPr>
            <a:r>
              <a:rPr sz="4400" b="1" i="0">
                <a:solidFill>
                  <a:srgbClr val="1A1A1A"/>
                </a:solidFill>
                <a:latin typeface="Georgia"/>
              </a:rPr>
              <a:t>Healthcare AI</a:t>
            </a:r>
          </a:p>
        </p:txBody>
      </p:sp>
      <p:sp>
        <p:nvSpPr>
          <p:cNvPr id="6" name="TextBox 5"/>
          <p:cNvSpPr txBox="1"/>
          <p:nvPr/>
        </p:nvSpPr>
        <p:spPr>
          <a:xfrm>
            <a:off x="822960" y="3977639"/>
            <a:ext cx="10058400" cy="307777"/>
          </a:xfrm>
          <a:prstGeom prst="rect">
            <a:avLst/>
          </a:prstGeom>
          <a:noFill/>
        </p:spPr>
        <p:txBody>
          <a:bodyPr wrap="square" lIns="0" tIns="0" rIns="0" bIns="0" anchor="t">
            <a:spAutoFit/>
          </a:bodyPr>
          <a:lstStyle/>
          <a:p>
            <a:r>
              <a:rPr lang="en-GB" sz="2000" i="1" dirty="0">
                <a:solidFill>
                  <a:schemeClr val="tx1">
                    <a:lumMod val="65000"/>
                    <a:lumOff val="35000"/>
                  </a:schemeClr>
                </a:solidFill>
                <a:latin typeface="+mj-lt"/>
              </a:rPr>
              <a:t>A six-criterion fairness framework, tested on a heart disease prediction model</a:t>
            </a:r>
            <a:endParaRPr sz="1900" b="0" i="1" dirty="0">
              <a:solidFill>
                <a:srgbClr val="666666"/>
              </a:solidFill>
              <a:latin typeface="Calibri"/>
            </a:endParaRPr>
          </a:p>
        </p:txBody>
      </p:sp>
      <p:cxnSp>
        <p:nvCxnSpPr>
          <p:cNvPr id="7" name="Connector 6"/>
          <p:cNvCxnSpPr/>
          <p:nvPr/>
        </p:nvCxnSpPr>
        <p:spPr>
          <a:xfrm>
            <a:off x="822960" y="4892040"/>
            <a:ext cx="3840480" cy="0"/>
          </a:xfrm>
          <a:prstGeom prst="line">
            <a:avLst/>
          </a:prstGeom>
          <a:ln w="25400">
            <a:solidFill>
              <a:srgbClr val="F2C4C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5074920"/>
            <a:ext cx="7315200" cy="365760"/>
          </a:xfrm>
          <a:prstGeom prst="rect">
            <a:avLst/>
          </a:prstGeom>
          <a:noFill/>
        </p:spPr>
        <p:txBody>
          <a:bodyPr wrap="square" lIns="0" tIns="0" rIns="0" bIns="0" anchor="t">
            <a:spAutoFit/>
          </a:bodyPr>
          <a:lstStyle/>
          <a:p>
            <a:pPr algn="l">
              <a:lnSpc>
                <a:spcPct val="100000"/>
              </a:lnSpc>
            </a:pPr>
            <a:r>
              <a:rPr sz="1700" b="1" i="0">
                <a:solidFill>
                  <a:srgbClr val="1A1A1A"/>
                </a:solidFill>
                <a:latin typeface="Calibri"/>
              </a:rPr>
              <a:t>Kaylee Scarce</a:t>
            </a:r>
          </a:p>
        </p:txBody>
      </p:sp>
      <p:sp>
        <p:nvSpPr>
          <p:cNvPr id="9" name="TextBox 8"/>
          <p:cNvSpPr txBox="1"/>
          <p:nvPr/>
        </p:nvSpPr>
        <p:spPr>
          <a:xfrm>
            <a:off x="822960" y="5486400"/>
            <a:ext cx="7315200" cy="320040"/>
          </a:xfrm>
          <a:prstGeom prst="rect">
            <a:avLst/>
          </a:prstGeom>
          <a:noFill/>
        </p:spPr>
        <p:txBody>
          <a:bodyPr wrap="square" lIns="0" tIns="0" rIns="0" bIns="0" anchor="t">
            <a:spAutoFit/>
          </a:bodyPr>
          <a:lstStyle/>
          <a:p>
            <a:pPr algn="l">
              <a:lnSpc>
                <a:spcPct val="100000"/>
              </a:lnSpc>
            </a:pPr>
            <a:r>
              <a:rPr sz="1350" b="0" i="0">
                <a:solidFill>
                  <a:srgbClr val="666666"/>
                </a:solidFill>
                <a:latin typeface="Calibri"/>
              </a:rPr>
              <a:t>Newcastle University · 2026</a:t>
            </a:r>
          </a:p>
        </p:txBody>
      </p:sp>
      <p:sp>
        <p:nvSpPr>
          <p:cNvPr id="10" name="TextBox 9"/>
          <p:cNvSpPr txBox="1"/>
          <p:nvPr/>
        </p:nvSpPr>
        <p:spPr>
          <a:xfrm>
            <a:off x="822960" y="5779008"/>
            <a:ext cx="7315200" cy="320040"/>
          </a:xfrm>
          <a:prstGeom prst="rect">
            <a:avLst/>
          </a:prstGeom>
          <a:noFill/>
        </p:spPr>
        <p:txBody>
          <a:bodyPr wrap="square" lIns="0" tIns="0" rIns="0" bIns="0" anchor="t">
            <a:spAutoFit/>
          </a:bodyPr>
          <a:lstStyle/>
          <a:p>
            <a:pPr algn="l">
              <a:lnSpc>
                <a:spcPct val="100000"/>
              </a:lnSpc>
            </a:pPr>
            <a:r>
              <a:rPr sz="1350" b="0" i="1">
                <a:solidFill>
                  <a:srgbClr val="666666"/>
                </a:solidFill>
                <a:latin typeface="Calibri"/>
              </a:rPr>
              <a:t>Supervised by Dr Vlad González-Zelaya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2" name="TextBox 1"/>
          <p:cNvSpPr txBox="1"/>
          <p:nvPr/>
        </p:nvSpPr>
        <p:spPr>
          <a:xfrm>
            <a:off x="685800" y="384048"/>
            <a:ext cx="9144000" cy="320040"/>
          </a:xfrm>
          <a:prstGeom prst="rect">
            <a:avLst/>
          </a:prstGeom>
          <a:noFill/>
        </p:spPr>
        <p:txBody>
          <a:bodyPr wrap="square" lIns="0" tIns="0" rIns="0" bIns="0" anchor="t">
            <a:spAutoFit/>
          </a:bodyPr>
          <a:lstStyle/>
          <a:p>
            <a:pPr algn="l">
              <a:lnSpc>
                <a:spcPct val="100000"/>
              </a:lnSpc>
            </a:pPr>
            <a:r>
              <a:rPr sz="1300" b="1" i="0">
                <a:solidFill>
                  <a:srgbClr val="C9748F"/>
                </a:solidFill>
                <a:latin typeface="Calibri"/>
              </a:rPr>
              <a:t>OVERVIEW</a:t>
            </a:r>
          </a:p>
        </p:txBody>
      </p:sp>
      <p:sp>
        <p:nvSpPr>
          <p:cNvPr id="3" name="TextBox 2"/>
          <p:cNvSpPr txBox="1"/>
          <p:nvPr/>
        </p:nvSpPr>
        <p:spPr>
          <a:xfrm>
            <a:off x="685800" y="658368"/>
            <a:ext cx="10789920" cy="914400"/>
          </a:xfrm>
          <a:prstGeom prst="rect">
            <a:avLst/>
          </a:prstGeom>
          <a:noFill/>
        </p:spPr>
        <p:txBody>
          <a:bodyPr wrap="square" lIns="0" tIns="0" rIns="0" bIns="0" anchor="t">
            <a:spAutoFit/>
          </a:bodyPr>
          <a:lstStyle/>
          <a:p>
            <a:pPr algn="l">
              <a:lnSpc>
                <a:spcPct val="102000"/>
              </a:lnSpc>
            </a:pPr>
            <a:r>
              <a:rPr sz="3000" b="1" i="0">
                <a:solidFill>
                  <a:srgbClr val="1A1A1A"/>
                </a:solidFill>
                <a:latin typeface="Georgia"/>
              </a:rPr>
              <a:t>What We'll Cover</a:t>
            </a:r>
          </a:p>
        </p:txBody>
      </p:sp>
      <p:sp>
        <p:nvSpPr>
          <p:cNvPr id="4" name="Rounded Rectangle 3"/>
          <p:cNvSpPr/>
          <p:nvPr/>
        </p:nvSpPr>
        <p:spPr>
          <a:xfrm>
            <a:off x="685800" y="1874519"/>
            <a:ext cx="3310128" cy="1965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2130552"/>
            <a:ext cx="1371600" cy="548640"/>
          </a:xfrm>
          <a:prstGeom prst="rect">
            <a:avLst/>
          </a:prstGeom>
          <a:noFill/>
        </p:spPr>
        <p:txBody>
          <a:bodyPr wrap="square" lIns="0" tIns="0" rIns="0" bIns="0" anchor="t">
            <a:spAutoFit/>
          </a:bodyPr>
          <a:lstStyle/>
          <a:p>
            <a:pPr algn="l">
              <a:lnSpc>
                <a:spcPct val="100000"/>
              </a:lnSpc>
            </a:pPr>
            <a:r>
              <a:rPr sz="2600" b="1" i="0" dirty="0">
                <a:solidFill>
                  <a:srgbClr val="F2C4CE"/>
                </a:solidFill>
                <a:latin typeface="Georgia"/>
              </a:rPr>
              <a:t>01</a:t>
            </a:r>
          </a:p>
        </p:txBody>
      </p:sp>
      <p:sp>
        <p:nvSpPr>
          <p:cNvPr id="6" name="TextBox 5"/>
          <p:cNvSpPr txBox="1"/>
          <p:nvPr/>
        </p:nvSpPr>
        <p:spPr>
          <a:xfrm>
            <a:off x="960120" y="2834639"/>
            <a:ext cx="2761488" cy="914400"/>
          </a:xfrm>
          <a:prstGeom prst="rect">
            <a:avLst/>
          </a:prstGeom>
          <a:noFill/>
        </p:spPr>
        <p:txBody>
          <a:bodyPr wrap="square" lIns="0" tIns="0" rIns="0" bIns="0" anchor="t">
            <a:spAutoFit/>
          </a:bodyPr>
          <a:lstStyle/>
          <a:p>
            <a:pPr algn="l">
              <a:lnSpc>
                <a:spcPct val="110000"/>
              </a:lnSpc>
            </a:pPr>
            <a:r>
              <a:rPr sz="1550" b="1" i="0" dirty="0">
                <a:solidFill>
                  <a:srgbClr val="1A1A1A"/>
                </a:solidFill>
                <a:latin typeface="Calibri"/>
              </a:rPr>
              <a:t>Motivation &amp;</a:t>
            </a:r>
          </a:p>
          <a:p>
            <a:pPr algn="l">
              <a:lnSpc>
                <a:spcPct val="110000"/>
              </a:lnSpc>
            </a:pPr>
            <a:r>
              <a:rPr sz="1550" b="1" i="0" dirty="0">
                <a:solidFill>
                  <a:srgbClr val="1A1A1A"/>
                </a:solidFill>
                <a:latin typeface="Calibri"/>
              </a:rPr>
              <a:t>Research Question</a:t>
            </a:r>
          </a:p>
        </p:txBody>
      </p:sp>
      <p:sp>
        <p:nvSpPr>
          <p:cNvPr id="7" name="Rounded Rectangle 6"/>
          <p:cNvSpPr/>
          <p:nvPr/>
        </p:nvSpPr>
        <p:spPr>
          <a:xfrm>
            <a:off x="4315968" y="1874519"/>
            <a:ext cx="3310128" cy="1965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2130552"/>
            <a:ext cx="1371600" cy="548640"/>
          </a:xfrm>
          <a:prstGeom prst="rect">
            <a:avLst/>
          </a:prstGeom>
          <a:noFill/>
        </p:spPr>
        <p:txBody>
          <a:bodyPr wrap="square" lIns="0" tIns="0" rIns="0" bIns="0" anchor="t">
            <a:spAutoFit/>
          </a:bodyPr>
          <a:lstStyle/>
          <a:p>
            <a:pPr algn="l">
              <a:lnSpc>
                <a:spcPct val="100000"/>
              </a:lnSpc>
            </a:pPr>
            <a:r>
              <a:rPr sz="2600" b="1" i="0">
                <a:solidFill>
                  <a:srgbClr val="F2C4CE"/>
                </a:solidFill>
                <a:latin typeface="Georgia"/>
              </a:rPr>
              <a:t>02</a:t>
            </a:r>
          </a:p>
        </p:txBody>
      </p:sp>
      <p:sp>
        <p:nvSpPr>
          <p:cNvPr id="9" name="TextBox 8"/>
          <p:cNvSpPr txBox="1"/>
          <p:nvPr/>
        </p:nvSpPr>
        <p:spPr>
          <a:xfrm>
            <a:off x="4590288" y="2834639"/>
            <a:ext cx="2761488" cy="914400"/>
          </a:xfrm>
          <a:prstGeom prst="rect">
            <a:avLst/>
          </a:prstGeom>
          <a:noFill/>
        </p:spPr>
        <p:txBody>
          <a:bodyPr wrap="square" lIns="0" tIns="0" rIns="0" bIns="0" anchor="t">
            <a:spAutoFit/>
          </a:bodyPr>
          <a:lstStyle/>
          <a:p>
            <a:pPr algn="l">
              <a:lnSpc>
                <a:spcPct val="110000"/>
              </a:lnSpc>
            </a:pPr>
            <a:r>
              <a:rPr sz="1550" b="1" i="0">
                <a:solidFill>
                  <a:srgbClr val="1A1A1A"/>
                </a:solidFill>
                <a:latin typeface="Calibri"/>
              </a:rPr>
              <a:t>Data &amp;</a:t>
            </a:r>
          </a:p>
          <a:p>
            <a:pPr algn="l">
              <a:lnSpc>
                <a:spcPct val="110000"/>
              </a:lnSpc>
            </a:pPr>
            <a:r>
              <a:rPr sz="1550" b="1" i="0">
                <a:solidFill>
                  <a:srgbClr val="1A1A1A"/>
                </a:solidFill>
                <a:latin typeface="Calibri"/>
              </a:rPr>
              <a:t>Methodology</a:t>
            </a:r>
          </a:p>
        </p:txBody>
      </p:sp>
      <p:sp>
        <p:nvSpPr>
          <p:cNvPr id="10" name="Rounded Rectangle 9"/>
          <p:cNvSpPr/>
          <p:nvPr/>
        </p:nvSpPr>
        <p:spPr>
          <a:xfrm>
            <a:off x="7946136" y="1874519"/>
            <a:ext cx="3310128" cy="1965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0456" y="2130552"/>
            <a:ext cx="1371600" cy="548640"/>
          </a:xfrm>
          <a:prstGeom prst="rect">
            <a:avLst/>
          </a:prstGeom>
          <a:noFill/>
        </p:spPr>
        <p:txBody>
          <a:bodyPr wrap="square" lIns="0" tIns="0" rIns="0" bIns="0" anchor="t">
            <a:spAutoFit/>
          </a:bodyPr>
          <a:lstStyle/>
          <a:p>
            <a:pPr algn="l">
              <a:lnSpc>
                <a:spcPct val="100000"/>
              </a:lnSpc>
            </a:pPr>
            <a:r>
              <a:rPr sz="2600" b="1" i="0">
                <a:solidFill>
                  <a:srgbClr val="F2C4CE"/>
                </a:solidFill>
                <a:latin typeface="Georgia"/>
              </a:rPr>
              <a:t>03</a:t>
            </a:r>
          </a:p>
        </p:txBody>
      </p:sp>
      <p:sp>
        <p:nvSpPr>
          <p:cNvPr id="12" name="TextBox 11"/>
          <p:cNvSpPr txBox="1"/>
          <p:nvPr/>
        </p:nvSpPr>
        <p:spPr>
          <a:xfrm>
            <a:off x="8220456" y="2834639"/>
            <a:ext cx="2761488" cy="914400"/>
          </a:xfrm>
          <a:prstGeom prst="rect">
            <a:avLst/>
          </a:prstGeom>
          <a:noFill/>
        </p:spPr>
        <p:txBody>
          <a:bodyPr wrap="square" lIns="0" tIns="0" rIns="0" bIns="0" anchor="t">
            <a:spAutoFit/>
          </a:bodyPr>
          <a:lstStyle/>
          <a:p>
            <a:pPr algn="l">
              <a:lnSpc>
                <a:spcPct val="110000"/>
              </a:lnSpc>
            </a:pPr>
            <a:r>
              <a:rPr sz="1550" b="1" i="0">
                <a:solidFill>
                  <a:srgbClr val="1A1A1A"/>
                </a:solidFill>
                <a:latin typeface="Calibri"/>
              </a:rPr>
              <a:t>Baseline</a:t>
            </a:r>
          </a:p>
          <a:p>
            <a:pPr algn="l">
              <a:lnSpc>
                <a:spcPct val="110000"/>
              </a:lnSpc>
            </a:pPr>
            <a:r>
              <a:rPr sz="1550" b="1" i="0">
                <a:solidFill>
                  <a:srgbClr val="1A1A1A"/>
                </a:solidFill>
                <a:latin typeface="Calibri"/>
              </a:rPr>
              <a:t>Results</a:t>
            </a:r>
          </a:p>
        </p:txBody>
      </p:sp>
      <p:sp>
        <p:nvSpPr>
          <p:cNvPr id="13" name="Rounded Rectangle 12"/>
          <p:cNvSpPr/>
          <p:nvPr/>
        </p:nvSpPr>
        <p:spPr>
          <a:xfrm>
            <a:off x="685800" y="4160520"/>
            <a:ext cx="3310128" cy="1965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0120" y="4416552"/>
            <a:ext cx="1371600" cy="548640"/>
          </a:xfrm>
          <a:prstGeom prst="rect">
            <a:avLst/>
          </a:prstGeom>
          <a:noFill/>
        </p:spPr>
        <p:txBody>
          <a:bodyPr wrap="square" lIns="0" tIns="0" rIns="0" bIns="0" anchor="t">
            <a:spAutoFit/>
          </a:bodyPr>
          <a:lstStyle/>
          <a:p>
            <a:pPr algn="l">
              <a:lnSpc>
                <a:spcPct val="100000"/>
              </a:lnSpc>
            </a:pPr>
            <a:r>
              <a:rPr sz="2600" b="1" i="0">
                <a:solidFill>
                  <a:srgbClr val="F2C4CE"/>
                </a:solidFill>
                <a:latin typeface="Georgia"/>
              </a:rPr>
              <a:t>04</a:t>
            </a:r>
          </a:p>
        </p:txBody>
      </p:sp>
      <p:sp>
        <p:nvSpPr>
          <p:cNvPr id="15" name="TextBox 14"/>
          <p:cNvSpPr txBox="1"/>
          <p:nvPr/>
        </p:nvSpPr>
        <p:spPr>
          <a:xfrm>
            <a:off x="960120" y="5120640"/>
            <a:ext cx="2761488" cy="914400"/>
          </a:xfrm>
          <a:prstGeom prst="rect">
            <a:avLst/>
          </a:prstGeom>
          <a:noFill/>
        </p:spPr>
        <p:txBody>
          <a:bodyPr wrap="square" lIns="0" tIns="0" rIns="0" bIns="0" anchor="t">
            <a:spAutoFit/>
          </a:bodyPr>
          <a:lstStyle/>
          <a:p>
            <a:pPr algn="l">
              <a:lnSpc>
                <a:spcPct val="110000"/>
              </a:lnSpc>
            </a:pPr>
            <a:r>
              <a:rPr sz="1550" b="1" i="0">
                <a:solidFill>
                  <a:srgbClr val="1A1A1A"/>
                </a:solidFill>
                <a:latin typeface="Calibri"/>
              </a:rPr>
              <a:t>Fairness Problems</a:t>
            </a:r>
          </a:p>
          <a:p>
            <a:pPr algn="l">
              <a:lnSpc>
                <a:spcPct val="110000"/>
              </a:lnSpc>
            </a:pPr>
            <a:r>
              <a:rPr sz="1550" b="1" i="0">
                <a:solidFill>
                  <a:srgbClr val="1A1A1A"/>
                </a:solidFill>
                <a:latin typeface="Calibri"/>
              </a:rPr>
              <a:t>&amp; Root Causes</a:t>
            </a:r>
          </a:p>
        </p:txBody>
      </p:sp>
      <p:sp>
        <p:nvSpPr>
          <p:cNvPr id="16" name="Rounded Rectangle 15"/>
          <p:cNvSpPr/>
          <p:nvPr/>
        </p:nvSpPr>
        <p:spPr>
          <a:xfrm>
            <a:off x="4315968" y="4160520"/>
            <a:ext cx="3310128" cy="1965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4416552"/>
            <a:ext cx="1371600" cy="548640"/>
          </a:xfrm>
          <a:prstGeom prst="rect">
            <a:avLst/>
          </a:prstGeom>
          <a:noFill/>
        </p:spPr>
        <p:txBody>
          <a:bodyPr wrap="square" lIns="0" tIns="0" rIns="0" bIns="0" anchor="t">
            <a:spAutoFit/>
          </a:bodyPr>
          <a:lstStyle/>
          <a:p>
            <a:pPr algn="l">
              <a:lnSpc>
                <a:spcPct val="100000"/>
              </a:lnSpc>
            </a:pPr>
            <a:r>
              <a:rPr sz="2600" b="1" i="0">
                <a:solidFill>
                  <a:srgbClr val="F2C4CE"/>
                </a:solidFill>
                <a:latin typeface="Georgia"/>
              </a:rPr>
              <a:t>05</a:t>
            </a:r>
          </a:p>
        </p:txBody>
      </p:sp>
      <p:sp>
        <p:nvSpPr>
          <p:cNvPr id="18" name="TextBox 17"/>
          <p:cNvSpPr txBox="1"/>
          <p:nvPr/>
        </p:nvSpPr>
        <p:spPr>
          <a:xfrm>
            <a:off x="4590288" y="5120640"/>
            <a:ext cx="2761488" cy="914400"/>
          </a:xfrm>
          <a:prstGeom prst="rect">
            <a:avLst/>
          </a:prstGeom>
          <a:noFill/>
        </p:spPr>
        <p:txBody>
          <a:bodyPr wrap="square" lIns="0" tIns="0" rIns="0" bIns="0" anchor="t">
            <a:spAutoFit/>
          </a:bodyPr>
          <a:lstStyle/>
          <a:p>
            <a:pPr algn="l">
              <a:lnSpc>
                <a:spcPct val="110000"/>
              </a:lnSpc>
            </a:pPr>
            <a:r>
              <a:rPr sz="1550" b="1" i="0">
                <a:solidFill>
                  <a:srgbClr val="1A1A1A"/>
                </a:solidFill>
                <a:latin typeface="Calibri"/>
              </a:rPr>
              <a:t>Mitigation</a:t>
            </a:r>
          </a:p>
          <a:p>
            <a:pPr algn="l">
              <a:lnSpc>
                <a:spcPct val="110000"/>
              </a:lnSpc>
            </a:pPr>
            <a:r>
              <a:rPr sz="1550" b="1" i="0">
                <a:solidFill>
                  <a:srgbClr val="1A1A1A"/>
                </a:solidFill>
                <a:latin typeface="Calibri"/>
              </a:rPr>
              <a:t>&amp; Results</a:t>
            </a:r>
          </a:p>
        </p:txBody>
      </p:sp>
      <p:sp>
        <p:nvSpPr>
          <p:cNvPr id="19" name="Rounded Rectangle 18"/>
          <p:cNvSpPr/>
          <p:nvPr/>
        </p:nvSpPr>
        <p:spPr>
          <a:xfrm>
            <a:off x="7946136" y="4160520"/>
            <a:ext cx="3310128" cy="1965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0456" y="4416552"/>
            <a:ext cx="1371600" cy="548640"/>
          </a:xfrm>
          <a:prstGeom prst="rect">
            <a:avLst/>
          </a:prstGeom>
          <a:noFill/>
        </p:spPr>
        <p:txBody>
          <a:bodyPr wrap="square" lIns="0" tIns="0" rIns="0" bIns="0" anchor="t">
            <a:spAutoFit/>
          </a:bodyPr>
          <a:lstStyle/>
          <a:p>
            <a:pPr algn="l">
              <a:lnSpc>
                <a:spcPct val="100000"/>
              </a:lnSpc>
            </a:pPr>
            <a:r>
              <a:rPr sz="2600" b="1" i="0">
                <a:solidFill>
                  <a:srgbClr val="F2C4CE"/>
                </a:solidFill>
                <a:latin typeface="Georgia"/>
              </a:rPr>
              <a:t>06</a:t>
            </a:r>
          </a:p>
        </p:txBody>
      </p:sp>
      <p:sp>
        <p:nvSpPr>
          <p:cNvPr id="21" name="TextBox 20"/>
          <p:cNvSpPr txBox="1"/>
          <p:nvPr/>
        </p:nvSpPr>
        <p:spPr>
          <a:xfrm>
            <a:off x="8220456" y="5120640"/>
            <a:ext cx="2761488" cy="914400"/>
          </a:xfrm>
          <a:prstGeom prst="rect">
            <a:avLst/>
          </a:prstGeom>
          <a:noFill/>
        </p:spPr>
        <p:txBody>
          <a:bodyPr wrap="square" lIns="0" tIns="0" rIns="0" bIns="0" anchor="t">
            <a:spAutoFit/>
          </a:bodyPr>
          <a:lstStyle/>
          <a:p>
            <a:pPr algn="l">
              <a:lnSpc>
                <a:spcPct val="110000"/>
              </a:lnSpc>
            </a:pPr>
            <a:r>
              <a:rPr sz="1550" b="1" i="0">
                <a:solidFill>
                  <a:srgbClr val="1A1A1A"/>
                </a:solidFill>
                <a:latin typeface="Calibri"/>
              </a:rPr>
              <a:t>Survey, Limitations</a:t>
            </a:r>
          </a:p>
          <a:p>
            <a:pPr algn="l">
              <a:lnSpc>
                <a:spcPct val="110000"/>
              </a:lnSpc>
            </a:pPr>
            <a:r>
              <a:rPr sz="1550" b="1" i="0">
                <a:solidFill>
                  <a:srgbClr val="1A1A1A"/>
                </a:solidFill>
                <a:latin typeface="Calibri"/>
              </a:rPr>
              <a:t>&amp; Recommendations</a:t>
            </a:r>
          </a:p>
        </p:txBody>
      </p:sp>
      <p:sp>
        <p:nvSpPr>
          <p:cNvPr id="22" name="TextBox 21"/>
          <p:cNvSpPr txBox="1"/>
          <p:nvPr/>
        </p:nvSpPr>
        <p:spPr>
          <a:xfrm>
            <a:off x="685800" y="6510528"/>
            <a:ext cx="6400800" cy="274320"/>
          </a:xfrm>
          <a:prstGeom prst="rect">
            <a:avLst/>
          </a:prstGeom>
          <a:noFill/>
        </p:spPr>
        <p:txBody>
          <a:bodyPr wrap="square" lIns="0" tIns="0" rIns="0" bIns="0" anchor="t">
            <a:spAutoFit/>
          </a:bodyPr>
          <a:lstStyle/>
          <a:p>
            <a:pPr algn="l">
              <a:lnSpc>
                <a:spcPct val="100000"/>
              </a:lnSpc>
            </a:pPr>
            <a:r>
              <a:rPr sz="950" b="0" i="0">
                <a:solidFill>
                  <a:srgbClr val="999999"/>
                </a:solidFill>
                <a:latin typeface="Calibri"/>
              </a:rPr>
              <a:t>Procedural Fairness in Healthcare AI</a:t>
            </a:r>
          </a:p>
        </p:txBody>
      </p:sp>
      <p:sp>
        <p:nvSpPr>
          <p:cNvPr id="23" name="TextBox 22"/>
          <p:cNvSpPr txBox="1"/>
          <p:nvPr/>
        </p:nvSpPr>
        <p:spPr>
          <a:xfrm>
            <a:off x="11521440" y="6510528"/>
            <a:ext cx="457200" cy="274320"/>
          </a:xfrm>
          <a:prstGeom prst="rect">
            <a:avLst/>
          </a:prstGeom>
          <a:noFill/>
        </p:spPr>
        <p:txBody>
          <a:bodyPr wrap="square" lIns="0" tIns="0" rIns="0" bIns="0" anchor="t">
            <a:spAutoFit/>
          </a:bodyPr>
          <a:lstStyle/>
          <a:p>
            <a:pPr algn="r">
              <a:lnSpc>
                <a:spcPct val="100000"/>
              </a:lnSpc>
            </a:pPr>
            <a:r>
              <a:rPr sz="950" b="0" i="0">
                <a:solidFill>
                  <a:srgbClr val="999999"/>
                </a:solidFill>
                <a:latin typeface="Calibri"/>
              </a:rPr>
              <a:t>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2" name="TextBox 1"/>
          <p:cNvSpPr txBox="1"/>
          <p:nvPr/>
        </p:nvSpPr>
        <p:spPr>
          <a:xfrm>
            <a:off x="685800" y="384048"/>
            <a:ext cx="9144000" cy="320040"/>
          </a:xfrm>
          <a:prstGeom prst="rect">
            <a:avLst/>
          </a:prstGeom>
          <a:noFill/>
        </p:spPr>
        <p:txBody>
          <a:bodyPr wrap="square" lIns="0" tIns="0" rIns="0" bIns="0" anchor="t">
            <a:spAutoFit/>
          </a:bodyPr>
          <a:lstStyle/>
          <a:p>
            <a:pPr algn="l">
              <a:lnSpc>
                <a:spcPct val="100000"/>
              </a:lnSpc>
            </a:pPr>
            <a:r>
              <a:rPr sz="1300" b="1" i="0">
                <a:solidFill>
                  <a:srgbClr val="C9748F"/>
                </a:solidFill>
                <a:latin typeface="Calibri"/>
              </a:rPr>
              <a:t>MOTIVATION</a:t>
            </a:r>
          </a:p>
        </p:txBody>
      </p:sp>
      <p:sp>
        <p:nvSpPr>
          <p:cNvPr id="3" name="TextBox 2"/>
          <p:cNvSpPr txBox="1"/>
          <p:nvPr/>
        </p:nvSpPr>
        <p:spPr>
          <a:xfrm>
            <a:off x="685800" y="658368"/>
            <a:ext cx="10789920" cy="442237"/>
          </a:xfrm>
          <a:prstGeom prst="rect">
            <a:avLst/>
          </a:prstGeom>
          <a:noFill/>
        </p:spPr>
        <p:txBody>
          <a:bodyPr wrap="square" lIns="0" tIns="0" rIns="0" bIns="0" anchor="t">
            <a:spAutoFit/>
          </a:bodyPr>
          <a:lstStyle/>
          <a:p>
            <a:pPr algn="l">
              <a:lnSpc>
                <a:spcPct val="102000"/>
              </a:lnSpc>
            </a:pPr>
            <a:r>
              <a:rPr lang="en-GB" sz="3000" b="1" i="0" dirty="0">
                <a:solidFill>
                  <a:srgbClr val="1A1A1A"/>
                </a:solidFill>
                <a:latin typeface="Georgia"/>
              </a:rPr>
              <a:t>When an accurate model is not a safe one</a:t>
            </a:r>
            <a:endParaRPr sz="3000" b="1" i="0" dirty="0">
              <a:solidFill>
                <a:srgbClr val="1A1A1A"/>
              </a:solidFill>
              <a:latin typeface="Georgia"/>
            </a:endParaRPr>
          </a:p>
        </p:txBody>
      </p:sp>
      <p:sp>
        <p:nvSpPr>
          <p:cNvPr id="4" name="TextBox 3"/>
          <p:cNvSpPr txBox="1"/>
          <p:nvPr/>
        </p:nvSpPr>
        <p:spPr>
          <a:xfrm>
            <a:off x="685800" y="1600200"/>
            <a:ext cx="10607040" cy="634276"/>
          </a:xfrm>
          <a:prstGeom prst="rect">
            <a:avLst/>
          </a:prstGeom>
          <a:noFill/>
        </p:spPr>
        <p:txBody>
          <a:bodyPr wrap="square" lIns="0" tIns="0" rIns="0" bIns="0" anchor="t">
            <a:spAutoFit/>
          </a:bodyPr>
          <a:lstStyle/>
          <a:p>
            <a:pPr>
              <a:lnSpc>
                <a:spcPct val="130000"/>
              </a:lnSpc>
            </a:pPr>
            <a:r>
              <a:rPr lang="en-GB" sz="1600" dirty="0">
                <a:solidFill>
                  <a:schemeClr val="tx1">
                    <a:lumMod val="65000"/>
                    <a:lumOff val="35000"/>
                  </a:schemeClr>
                </a:solidFill>
              </a:rPr>
              <a:t>AI now supports high-stakes decisions across society and is increasingly used in healthcare, where a wrong decision is not just an inconvenience, it can mean a missed diagnosis.</a:t>
            </a:r>
            <a:endParaRPr lang="en-GB" sz="1700" b="0" i="0" dirty="0">
              <a:solidFill>
                <a:schemeClr val="tx1">
                  <a:lumMod val="65000"/>
                  <a:lumOff val="35000"/>
                </a:schemeClr>
              </a:solidFill>
              <a:latin typeface="Calibri"/>
            </a:endParaRPr>
          </a:p>
        </p:txBody>
      </p:sp>
      <p:grpSp>
        <p:nvGrpSpPr>
          <p:cNvPr id="25" name="Group 24">
            <a:extLst>
              <a:ext uri="{FF2B5EF4-FFF2-40B4-BE49-F238E27FC236}">
                <a16:creationId xmlns:a16="http://schemas.microsoft.com/office/drawing/2014/main" id="{02B5C8FD-DE18-A99B-3E37-538C5016A785}"/>
              </a:ext>
            </a:extLst>
          </p:cNvPr>
          <p:cNvGrpSpPr/>
          <p:nvPr/>
        </p:nvGrpSpPr>
        <p:grpSpPr>
          <a:xfrm>
            <a:off x="960120" y="3063240"/>
            <a:ext cx="3291840" cy="2377440"/>
            <a:chOff x="960120" y="3063240"/>
            <a:chExt cx="3291840" cy="2377440"/>
          </a:xfrm>
        </p:grpSpPr>
        <p:sp>
          <p:nvSpPr>
            <p:cNvPr id="5" name="Rounded Rectangle 4"/>
            <p:cNvSpPr/>
            <p:nvPr/>
          </p:nvSpPr>
          <p:spPr>
            <a:xfrm>
              <a:off x="960120" y="3063240"/>
              <a:ext cx="3291840" cy="2377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960120" y="3063240"/>
              <a:ext cx="3291840" cy="82296"/>
            </a:xfrm>
            <a:prstGeom prst="rect">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35981" y="3661386"/>
              <a:ext cx="1940118" cy="738664"/>
            </a:xfrm>
            <a:prstGeom prst="rect">
              <a:avLst/>
            </a:prstGeom>
            <a:noFill/>
          </p:spPr>
          <p:txBody>
            <a:bodyPr wrap="square" lIns="0" tIns="0" rIns="0" bIns="0" anchor="t">
              <a:spAutoFit/>
            </a:bodyPr>
            <a:lstStyle/>
            <a:p>
              <a:pPr algn="l">
                <a:lnSpc>
                  <a:spcPct val="100000"/>
                </a:lnSpc>
              </a:pPr>
              <a:r>
                <a:rPr lang="en-GB" sz="4800" b="1" dirty="0">
                  <a:solidFill>
                    <a:srgbClr val="1A1A1A"/>
                  </a:solidFill>
                  <a:latin typeface="Georgia"/>
                </a:rPr>
                <a:t>93.5%</a:t>
              </a:r>
              <a:endParaRPr sz="4800" b="1" i="0" dirty="0">
                <a:solidFill>
                  <a:srgbClr val="1A1A1A"/>
                </a:solidFill>
                <a:latin typeface="Georgia"/>
              </a:endParaRPr>
            </a:p>
          </p:txBody>
        </p:sp>
        <p:sp>
          <p:nvSpPr>
            <p:cNvPr id="8" name="TextBox 7"/>
            <p:cNvSpPr txBox="1"/>
            <p:nvPr/>
          </p:nvSpPr>
          <p:spPr>
            <a:xfrm>
              <a:off x="1178781" y="4599797"/>
              <a:ext cx="2651760" cy="500202"/>
            </a:xfrm>
            <a:prstGeom prst="rect">
              <a:avLst/>
            </a:prstGeom>
            <a:noFill/>
          </p:spPr>
          <p:txBody>
            <a:bodyPr wrap="square" lIns="0" tIns="0" rIns="0" bIns="0" anchor="t">
              <a:spAutoFit/>
            </a:bodyPr>
            <a:lstStyle/>
            <a:p>
              <a:pPr algn="ctr">
                <a:lnSpc>
                  <a:spcPct val="125000"/>
                </a:lnSpc>
              </a:pPr>
              <a:r>
                <a:rPr lang="en-GB" sz="1350" b="0" i="0" dirty="0">
                  <a:solidFill>
                    <a:srgbClr val="666666"/>
                  </a:solidFill>
                  <a:latin typeface="Calibri"/>
                </a:rPr>
                <a:t>Men with heart disease correctly identified </a:t>
              </a:r>
              <a:endParaRPr sz="1350" b="0" i="0" dirty="0">
                <a:solidFill>
                  <a:srgbClr val="666666"/>
                </a:solidFill>
                <a:latin typeface="Calibri"/>
              </a:endParaRPr>
            </a:p>
          </p:txBody>
        </p:sp>
      </p:grpSp>
      <p:grpSp>
        <p:nvGrpSpPr>
          <p:cNvPr id="27" name="Group 26">
            <a:extLst>
              <a:ext uri="{FF2B5EF4-FFF2-40B4-BE49-F238E27FC236}">
                <a16:creationId xmlns:a16="http://schemas.microsoft.com/office/drawing/2014/main" id="{2610F3EC-B372-A10B-6638-81ACCDBFA380}"/>
              </a:ext>
            </a:extLst>
          </p:cNvPr>
          <p:cNvGrpSpPr/>
          <p:nvPr/>
        </p:nvGrpSpPr>
        <p:grpSpPr>
          <a:xfrm>
            <a:off x="8458200" y="3063240"/>
            <a:ext cx="3291840" cy="2377440"/>
            <a:chOff x="8458200" y="3063240"/>
            <a:chExt cx="3291840" cy="2377440"/>
          </a:xfrm>
        </p:grpSpPr>
        <p:sp>
          <p:nvSpPr>
            <p:cNvPr id="13" name="Rounded Rectangle 12"/>
            <p:cNvSpPr/>
            <p:nvPr/>
          </p:nvSpPr>
          <p:spPr>
            <a:xfrm>
              <a:off x="8458200" y="3063240"/>
              <a:ext cx="3291840" cy="2377440"/>
            </a:xfrm>
            <a:prstGeom prst="roundRect">
              <a:avLst>
                <a:gd name="adj" fmla="val 8000"/>
              </a:avLst>
            </a:prstGeom>
            <a:solidFill>
              <a:srgbClr val="FFFFFF"/>
            </a:solidFill>
            <a:ln w="92075">
              <a:solidFill>
                <a:srgbClr val="C974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08219" y="3657221"/>
              <a:ext cx="1991802" cy="738664"/>
            </a:xfrm>
            <a:prstGeom prst="rect">
              <a:avLst/>
            </a:prstGeom>
            <a:noFill/>
          </p:spPr>
          <p:txBody>
            <a:bodyPr wrap="square" lIns="0" tIns="0" rIns="0" bIns="0" anchor="t">
              <a:spAutoFit/>
            </a:bodyPr>
            <a:lstStyle/>
            <a:p>
              <a:pPr algn="l">
                <a:lnSpc>
                  <a:spcPct val="100000"/>
                </a:lnSpc>
              </a:pPr>
              <a:r>
                <a:rPr lang="en-GB" sz="4800" b="1" i="0" dirty="0">
                  <a:solidFill>
                    <a:srgbClr val="1A1A1A"/>
                  </a:solidFill>
                  <a:latin typeface="Georgia"/>
                </a:rPr>
                <a:t>0.957</a:t>
              </a:r>
              <a:endParaRPr sz="4800" b="1" i="0" dirty="0">
                <a:solidFill>
                  <a:srgbClr val="1A1A1A"/>
                </a:solidFill>
                <a:latin typeface="Georgia"/>
              </a:endParaRPr>
            </a:p>
          </p:txBody>
        </p:sp>
        <p:sp>
          <p:nvSpPr>
            <p:cNvPr id="16" name="TextBox 15"/>
            <p:cNvSpPr txBox="1"/>
            <p:nvPr/>
          </p:nvSpPr>
          <p:spPr>
            <a:xfrm>
              <a:off x="8869680" y="4584914"/>
              <a:ext cx="2651760" cy="500202"/>
            </a:xfrm>
            <a:prstGeom prst="rect">
              <a:avLst/>
            </a:prstGeom>
            <a:noFill/>
          </p:spPr>
          <p:txBody>
            <a:bodyPr wrap="square" lIns="0" tIns="0" rIns="0" bIns="0" anchor="t">
              <a:spAutoFit/>
            </a:bodyPr>
            <a:lstStyle/>
            <a:p>
              <a:pPr algn="ctr">
                <a:lnSpc>
                  <a:spcPct val="125000"/>
                </a:lnSpc>
              </a:pPr>
              <a:r>
                <a:rPr lang="en-GB" sz="1350" b="0" i="0" dirty="0">
                  <a:solidFill>
                    <a:srgbClr val="666666"/>
                  </a:solidFill>
                  <a:latin typeface="Calibri"/>
                </a:rPr>
                <a:t>Overal</a:t>
              </a:r>
              <a:r>
                <a:rPr lang="en-GB" sz="1350" dirty="0">
                  <a:solidFill>
                    <a:srgbClr val="666666"/>
                  </a:solidFill>
                  <a:latin typeface="Calibri"/>
                </a:rPr>
                <a:t>l score…The model looks excellent </a:t>
              </a:r>
              <a:endParaRPr sz="1350" b="0" i="0" dirty="0">
                <a:solidFill>
                  <a:srgbClr val="666666"/>
                </a:solidFill>
                <a:latin typeface="Calibri"/>
              </a:endParaRPr>
            </a:p>
          </p:txBody>
        </p:sp>
      </p:grpSp>
      <p:sp>
        <p:nvSpPr>
          <p:cNvPr id="17" name="TextBox 16"/>
          <p:cNvSpPr txBox="1"/>
          <p:nvPr/>
        </p:nvSpPr>
        <p:spPr>
          <a:xfrm>
            <a:off x="685800" y="6510528"/>
            <a:ext cx="6400800" cy="274320"/>
          </a:xfrm>
          <a:prstGeom prst="rect">
            <a:avLst/>
          </a:prstGeom>
          <a:noFill/>
        </p:spPr>
        <p:txBody>
          <a:bodyPr wrap="square" lIns="0" tIns="0" rIns="0" bIns="0" anchor="t">
            <a:spAutoFit/>
          </a:bodyPr>
          <a:lstStyle/>
          <a:p>
            <a:pPr algn="l">
              <a:lnSpc>
                <a:spcPct val="100000"/>
              </a:lnSpc>
            </a:pPr>
            <a:r>
              <a:rPr sz="950" b="0" i="0">
                <a:solidFill>
                  <a:srgbClr val="999999"/>
                </a:solidFill>
                <a:latin typeface="Calibri"/>
              </a:rPr>
              <a:t>Procedural Fairness in Healthcare AI</a:t>
            </a:r>
          </a:p>
        </p:txBody>
      </p:sp>
      <p:sp>
        <p:nvSpPr>
          <p:cNvPr id="18" name="TextBox 17"/>
          <p:cNvSpPr txBox="1"/>
          <p:nvPr/>
        </p:nvSpPr>
        <p:spPr>
          <a:xfrm>
            <a:off x="11521440" y="6510528"/>
            <a:ext cx="457200" cy="274320"/>
          </a:xfrm>
          <a:prstGeom prst="rect">
            <a:avLst/>
          </a:prstGeom>
          <a:noFill/>
        </p:spPr>
        <p:txBody>
          <a:bodyPr wrap="square" lIns="0" tIns="0" rIns="0" bIns="0" anchor="t">
            <a:spAutoFit/>
          </a:bodyPr>
          <a:lstStyle/>
          <a:p>
            <a:pPr algn="r">
              <a:lnSpc>
                <a:spcPct val="100000"/>
              </a:lnSpc>
            </a:pPr>
            <a:r>
              <a:rPr sz="950" b="0" i="0">
                <a:solidFill>
                  <a:srgbClr val="999999"/>
                </a:solidFill>
                <a:latin typeface="Calibri"/>
              </a:rPr>
              <a:t>2</a:t>
            </a:r>
          </a:p>
        </p:txBody>
      </p:sp>
      <p:grpSp>
        <p:nvGrpSpPr>
          <p:cNvPr id="26" name="Group 25">
            <a:extLst>
              <a:ext uri="{FF2B5EF4-FFF2-40B4-BE49-F238E27FC236}">
                <a16:creationId xmlns:a16="http://schemas.microsoft.com/office/drawing/2014/main" id="{0AA1F235-0A73-8F20-D9D0-542EFA9B44D2}"/>
              </a:ext>
            </a:extLst>
          </p:cNvPr>
          <p:cNvGrpSpPr/>
          <p:nvPr/>
        </p:nvGrpSpPr>
        <p:grpSpPr>
          <a:xfrm>
            <a:off x="4709159" y="3063240"/>
            <a:ext cx="3291840" cy="2377440"/>
            <a:chOff x="4709159" y="3063240"/>
            <a:chExt cx="3291840" cy="2377440"/>
          </a:xfrm>
        </p:grpSpPr>
        <p:sp>
          <p:nvSpPr>
            <p:cNvPr id="9" name="Rounded Rectangle 8"/>
            <p:cNvSpPr/>
            <p:nvPr/>
          </p:nvSpPr>
          <p:spPr>
            <a:xfrm>
              <a:off x="4709159" y="3063240"/>
              <a:ext cx="3291840" cy="2377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709159" y="3063240"/>
              <a:ext cx="3291840" cy="82296"/>
            </a:xfrm>
            <a:prstGeom prst="rect">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311E2777-A519-A352-BD87-17E86C84E823}"/>
                </a:ext>
              </a:extLst>
            </p:cNvPr>
            <p:cNvSpPr txBox="1"/>
            <p:nvPr/>
          </p:nvSpPr>
          <p:spPr>
            <a:xfrm>
              <a:off x="5708043" y="3657221"/>
              <a:ext cx="1940118" cy="738664"/>
            </a:xfrm>
            <a:prstGeom prst="rect">
              <a:avLst/>
            </a:prstGeom>
            <a:noFill/>
          </p:spPr>
          <p:txBody>
            <a:bodyPr wrap="square" lIns="0" tIns="0" rIns="0" bIns="0" anchor="t">
              <a:spAutoFit/>
            </a:bodyPr>
            <a:lstStyle/>
            <a:p>
              <a:pPr algn="l">
                <a:lnSpc>
                  <a:spcPct val="100000"/>
                </a:lnSpc>
              </a:pPr>
              <a:r>
                <a:rPr lang="en-GB" sz="4800" b="1" i="0" dirty="0">
                  <a:solidFill>
                    <a:srgbClr val="1A1A1A"/>
                  </a:solidFill>
                  <a:latin typeface="Georgia"/>
                </a:rPr>
                <a:t>70%</a:t>
              </a:r>
              <a:endParaRPr sz="4800" b="1" i="0" dirty="0">
                <a:solidFill>
                  <a:srgbClr val="1A1A1A"/>
                </a:solidFill>
                <a:latin typeface="Georgia"/>
              </a:endParaRPr>
            </a:p>
          </p:txBody>
        </p:sp>
        <p:sp>
          <p:nvSpPr>
            <p:cNvPr id="22" name="TextBox 21">
              <a:extLst>
                <a:ext uri="{FF2B5EF4-FFF2-40B4-BE49-F238E27FC236}">
                  <a16:creationId xmlns:a16="http://schemas.microsoft.com/office/drawing/2014/main" id="{4C9DA0FD-2E79-5AA1-8AC0-DB940533C7AB}"/>
                </a:ext>
              </a:extLst>
            </p:cNvPr>
            <p:cNvSpPr txBox="1"/>
            <p:nvPr/>
          </p:nvSpPr>
          <p:spPr>
            <a:xfrm>
              <a:off x="5029199" y="4589652"/>
              <a:ext cx="2651760" cy="500202"/>
            </a:xfrm>
            <a:prstGeom prst="rect">
              <a:avLst/>
            </a:prstGeom>
            <a:noFill/>
          </p:spPr>
          <p:txBody>
            <a:bodyPr wrap="square" lIns="0" tIns="0" rIns="0" bIns="0" anchor="t">
              <a:spAutoFit/>
            </a:bodyPr>
            <a:lstStyle/>
            <a:p>
              <a:pPr algn="ctr">
                <a:lnSpc>
                  <a:spcPct val="125000"/>
                </a:lnSpc>
              </a:pPr>
              <a:r>
                <a:rPr lang="en-GB" sz="1350" b="0" i="0" dirty="0">
                  <a:solidFill>
                    <a:srgbClr val="666666"/>
                  </a:solidFill>
                  <a:latin typeface="Calibri"/>
                </a:rPr>
                <a:t>Women with heart disease correctly identified </a:t>
              </a:r>
              <a:endParaRPr sz="1350" b="0" i="0" dirty="0">
                <a:solidFill>
                  <a:srgbClr val="666666"/>
                </a:solidFill>
                <a:latin typeface="Calibri"/>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 calcmode="lin" valueType="num">
                                      <p:cBhvr additive="base">
                                        <p:cTn id="7" dur="500" fill="hold"/>
                                        <p:tgtEl>
                                          <p:spTgt spid="25"/>
                                        </p:tgtEl>
                                        <p:attrNameLst>
                                          <p:attrName>ppt_x</p:attrName>
                                        </p:attrNameLst>
                                      </p:cBhvr>
                                      <p:tavLst>
                                        <p:tav tm="0">
                                          <p:val>
                                            <p:strVal val="#ppt_x"/>
                                          </p:val>
                                        </p:tav>
                                        <p:tav tm="100000">
                                          <p:val>
                                            <p:strVal val="#ppt_x"/>
                                          </p:val>
                                        </p:tav>
                                      </p:tavLst>
                                    </p:anim>
                                    <p:anim calcmode="lin" valueType="num">
                                      <p:cBhvr additive="base">
                                        <p:cTn id="8" dur="500" fill="hold"/>
                                        <p:tgtEl>
                                          <p:spTgt spid="2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26"/>
                                        </p:tgtEl>
                                        <p:attrNameLst>
                                          <p:attrName>style.visibility</p:attrName>
                                        </p:attrNameLst>
                                      </p:cBhvr>
                                      <p:to>
                                        <p:strVal val="visible"/>
                                      </p:to>
                                    </p:set>
                                    <p:anim calcmode="lin" valueType="num">
                                      <p:cBhvr additive="base">
                                        <p:cTn id="11" dur="500" fill="hold"/>
                                        <p:tgtEl>
                                          <p:spTgt spid="26"/>
                                        </p:tgtEl>
                                        <p:attrNameLst>
                                          <p:attrName>ppt_x</p:attrName>
                                        </p:attrNameLst>
                                      </p:cBhvr>
                                      <p:tavLst>
                                        <p:tav tm="0">
                                          <p:val>
                                            <p:strVal val="#ppt_x"/>
                                          </p:val>
                                        </p:tav>
                                        <p:tav tm="100000">
                                          <p:val>
                                            <p:strVal val="#ppt_x"/>
                                          </p:val>
                                        </p:tav>
                                      </p:tavLst>
                                    </p:anim>
                                    <p:anim calcmode="lin" valueType="num">
                                      <p:cBhvr additive="base">
                                        <p:cTn id="12"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 calcmode="lin" valueType="num">
                                      <p:cBhvr additive="base">
                                        <p:cTn id="17" dur="500" fill="hold"/>
                                        <p:tgtEl>
                                          <p:spTgt spid="27"/>
                                        </p:tgtEl>
                                        <p:attrNameLst>
                                          <p:attrName>ppt_x</p:attrName>
                                        </p:attrNameLst>
                                      </p:cBhvr>
                                      <p:tavLst>
                                        <p:tav tm="0">
                                          <p:val>
                                            <p:strVal val="#ppt_x"/>
                                          </p:val>
                                        </p:tav>
                                        <p:tav tm="100000">
                                          <p:val>
                                            <p:strVal val="#ppt_x"/>
                                          </p:val>
                                        </p:tav>
                                      </p:tavLst>
                                    </p:anim>
                                    <p:anim calcmode="lin" valueType="num">
                                      <p:cBhvr additive="base">
                                        <p:cTn id="18" dur="500" fill="hold"/>
                                        <p:tgtEl>
                                          <p:spTgt spid="2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2" name="TextBox 1"/>
          <p:cNvSpPr txBox="1"/>
          <p:nvPr/>
        </p:nvSpPr>
        <p:spPr>
          <a:xfrm>
            <a:off x="685800" y="384048"/>
            <a:ext cx="9144000" cy="320040"/>
          </a:xfrm>
          <a:prstGeom prst="rect">
            <a:avLst/>
          </a:prstGeom>
          <a:noFill/>
        </p:spPr>
        <p:txBody>
          <a:bodyPr wrap="square" lIns="0" tIns="0" rIns="0" bIns="0" anchor="t">
            <a:spAutoFit/>
          </a:bodyPr>
          <a:lstStyle/>
          <a:p>
            <a:pPr algn="l">
              <a:lnSpc>
                <a:spcPct val="100000"/>
              </a:lnSpc>
            </a:pPr>
            <a:r>
              <a:rPr sz="1300" b="1" i="0">
                <a:solidFill>
                  <a:srgbClr val="C9748F"/>
                </a:solidFill>
                <a:latin typeface="Calibri"/>
              </a:rPr>
              <a:t>RESEARCH QUESTION</a:t>
            </a:r>
          </a:p>
        </p:txBody>
      </p:sp>
      <p:sp>
        <p:nvSpPr>
          <p:cNvPr id="3" name="TextBox 2"/>
          <p:cNvSpPr txBox="1"/>
          <p:nvPr/>
        </p:nvSpPr>
        <p:spPr>
          <a:xfrm>
            <a:off x="777240" y="1222809"/>
            <a:ext cx="10607040" cy="1108765"/>
          </a:xfrm>
          <a:prstGeom prst="rect">
            <a:avLst/>
          </a:prstGeom>
          <a:noFill/>
        </p:spPr>
        <p:txBody>
          <a:bodyPr wrap="square" lIns="0" tIns="0" rIns="0" bIns="0" anchor="t">
            <a:spAutoFit/>
          </a:bodyPr>
          <a:lstStyle/>
          <a:p>
            <a:pPr>
              <a:lnSpc>
                <a:spcPct val="125000"/>
              </a:lnSpc>
            </a:pPr>
            <a:r>
              <a:rPr lang="en-GB" sz="3000" b="1" dirty="0"/>
              <a:t>How can procedural fairness be </a:t>
            </a:r>
            <a:r>
              <a:rPr lang="en-GB" sz="3000" b="1" dirty="0">
                <a:solidFill>
                  <a:srgbClr val="C9748F"/>
                </a:solidFill>
              </a:rPr>
              <a:t>defined</a:t>
            </a:r>
            <a:r>
              <a:rPr lang="en-GB" sz="3000" b="1" dirty="0"/>
              <a:t>,</a:t>
            </a:r>
            <a:r>
              <a:rPr lang="en-GB" sz="3000" b="1" dirty="0">
                <a:solidFill>
                  <a:srgbClr val="C9748F"/>
                </a:solidFill>
              </a:rPr>
              <a:t> measured</a:t>
            </a:r>
            <a:r>
              <a:rPr lang="en-GB" sz="3000" b="1" dirty="0"/>
              <a:t>, and</a:t>
            </a:r>
            <a:r>
              <a:rPr lang="en-GB" sz="3000" b="1" dirty="0">
                <a:solidFill>
                  <a:srgbClr val="C9748F"/>
                </a:solidFill>
              </a:rPr>
              <a:t> communicated</a:t>
            </a:r>
            <a:r>
              <a:rPr lang="en-GB" sz="3000" b="1" dirty="0"/>
              <a:t> in a healthcare prediction model?</a:t>
            </a:r>
            <a:endParaRPr lang="en-GB" sz="3000" b="1" i="0" dirty="0">
              <a:solidFill>
                <a:srgbClr val="1A1A1A"/>
              </a:solidFill>
              <a:latin typeface="Georgia"/>
            </a:endParaRPr>
          </a:p>
        </p:txBody>
      </p:sp>
      <p:sp>
        <p:nvSpPr>
          <p:cNvPr id="17" name="TextBox 16"/>
          <p:cNvSpPr txBox="1"/>
          <p:nvPr/>
        </p:nvSpPr>
        <p:spPr>
          <a:xfrm>
            <a:off x="685800" y="6510528"/>
            <a:ext cx="6400800" cy="274320"/>
          </a:xfrm>
          <a:prstGeom prst="rect">
            <a:avLst/>
          </a:prstGeom>
          <a:noFill/>
        </p:spPr>
        <p:txBody>
          <a:bodyPr wrap="square" lIns="0" tIns="0" rIns="0" bIns="0" anchor="t">
            <a:spAutoFit/>
          </a:bodyPr>
          <a:lstStyle/>
          <a:p>
            <a:pPr algn="l">
              <a:lnSpc>
                <a:spcPct val="100000"/>
              </a:lnSpc>
            </a:pPr>
            <a:r>
              <a:rPr sz="950" b="0" i="0">
                <a:solidFill>
                  <a:srgbClr val="999999"/>
                </a:solidFill>
                <a:latin typeface="Calibri"/>
              </a:rPr>
              <a:t>Procedural Fairness in Healthcare AI</a:t>
            </a:r>
          </a:p>
        </p:txBody>
      </p:sp>
      <p:sp>
        <p:nvSpPr>
          <p:cNvPr id="18" name="TextBox 17"/>
          <p:cNvSpPr txBox="1"/>
          <p:nvPr/>
        </p:nvSpPr>
        <p:spPr>
          <a:xfrm>
            <a:off x="11521440" y="6510528"/>
            <a:ext cx="457200" cy="274320"/>
          </a:xfrm>
          <a:prstGeom prst="rect">
            <a:avLst/>
          </a:prstGeom>
          <a:noFill/>
        </p:spPr>
        <p:txBody>
          <a:bodyPr wrap="square" lIns="0" tIns="0" rIns="0" bIns="0" anchor="t">
            <a:spAutoFit/>
          </a:bodyPr>
          <a:lstStyle/>
          <a:p>
            <a:pPr algn="r">
              <a:lnSpc>
                <a:spcPct val="100000"/>
              </a:lnSpc>
            </a:pPr>
            <a:r>
              <a:rPr sz="950" b="0" i="0">
                <a:solidFill>
                  <a:srgbClr val="999999"/>
                </a:solidFill>
                <a:latin typeface="Calibri"/>
              </a:rPr>
              <a:t>3</a:t>
            </a:r>
          </a:p>
        </p:txBody>
      </p:sp>
      <p:sp>
        <p:nvSpPr>
          <p:cNvPr id="30" name="Rounded Rectangle 3">
            <a:extLst>
              <a:ext uri="{FF2B5EF4-FFF2-40B4-BE49-F238E27FC236}">
                <a16:creationId xmlns:a16="http://schemas.microsoft.com/office/drawing/2014/main" id="{41F06222-E281-0C8C-4F81-2FAC93A4EC65}"/>
              </a:ext>
            </a:extLst>
          </p:cNvPr>
          <p:cNvSpPr/>
          <p:nvPr/>
        </p:nvSpPr>
        <p:spPr>
          <a:xfrm>
            <a:off x="168564" y="3274675"/>
            <a:ext cx="2901372" cy="2479580"/>
          </a:xfrm>
          <a:prstGeom prst="roundRect">
            <a:avLst>
              <a:gd name="adj" fmla="val 6000"/>
            </a:avLst>
          </a:prstGeom>
          <a:solidFill>
            <a:srgbClr val="FFFFFF"/>
          </a:solidFill>
          <a:ln>
            <a:noFill/>
          </a:ln>
          <a:effectLst>
            <a:glow rad="127000">
              <a:srgbClr val="C9748F">
                <a:alpha val="37000"/>
              </a:srgbClr>
            </a:glow>
            <a:softEdge rad="0"/>
          </a:effectLst>
        </p:spPr>
        <p:style>
          <a:lnRef idx="1">
            <a:schemeClr val="accent1"/>
          </a:lnRef>
          <a:fillRef idx="3">
            <a:schemeClr val="accent1"/>
          </a:fillRef>
          <a:effectRef idx="2">
            <a:schemeClr val="accent1"/>
          </a:effectRef>
          <a:fontRef idx="minor">
            <a:schemeClr val="lt1"/>
          </a:fontRef>
        </p:style>
        <p:txBody>
          <a:bodyPr rtlCol="0" anchor="ctr"/>
          <a:lstStyle/>
          <a:p>
            <a:pPr>
              <a:lnSpc>
                <a:spcPct val="110000"/>
              </a:lnSpc>
            </a:pPr>
            <a:endParaRPr lang="en-GB" b="1" dirty="0">
              <a:solidFill>
                <a:srgbClr val="1A1A1A"/>
              </a:solidFill>
            </a:endParaRPr>
          </a:p>
        </p:txBody>
      </p:sp>
      <p:sp>
        <p:nvSpPr>
          <p:cNvPr id="32" name="TextBox 31">
            <a:extLst>
              <a:ext uri="{FF2B5EF4-FFF2-40B4-BE49-F238E27FC236}">
                <a16:creationId xmlns:a16="http://schemas.microsoft.com/office/drawing/2014/main" id="{0C2DA2AD-65CE-7B17-03F3-29531EF4F2D2}"/>
              </a:ext>
            </a:extLst>
          </p:cNvPr>
          <p:cNvSpPr txBox="1"/>
          <p:nvPr/>
        </p:nvSpPr>
        <p:spPr>
          <a:xfrm>
            <a:off x="714375" y="3274675"/>
            <a:ext cx="1809750" cy="400110"/>
          </a:xfrm>
          <a:prstGeom prst="rect">
            <a:avLst/>
          </a:prstGeom>
          <a:noFill/>
        </p:spPr>
        <p:txBody>
          <a:bodyPr wrap="square" lIns="0" tIns="0" rIns="0" bIns="0" anchor="t">
            <a:spAutoFit/>
          </a:bodyPr>
          <a:lstStyle/>
          <a:p>
            <a:pPr algn="l">
              <a:lnSpc>
                <a:spcPct val="100000"/>
              </a:lnSpc>
            </a:pPr>
            <a:r>
              <a:rPr lang="en-GB" sz="2600" b="1" i="0" dirty="0">
                <a:solidFill>
                  <a:srgbClr val="F2C4CE"/>
                </a:solidFill>
                <a:latin typeface="Georgia"/>
              </a:rPr>
              <a:t>1. Define</a:t>
            </a:r>
            <a:endParaRPr sz="2600" b="1" i="0" dirty="0">
              <a:solidFill>
                <a:srgbClr val="F2C4CE"/>
              </a:solidFill>
              <a:latin typeface="Georgia"/>
            </a:endParaRPr>
          </a:p>
        </p:txBody>
      </p:sp>
      <p:sp>
        <p:nvSpPr>
          <p:cNvPr id="38" name="Rounded Rectangle 3">
            <a:extLst>
              <a:ext uri="{FF2B5EF4-FFF2-40B4-BE49-F238E27FC236}">
                <a16:creationId xmlns:a16="http://schemas.microsoft.com/office/drawing/2014/main" id="{6BC72206-AC41-6F0C-1817-C7B3F57624E1}"/>
              </a:ext>
            </a:extLst>
          </p:cNvPr>
          <p:cNvSpPr/>
          <p:nvPr/>
        </p:nvSpPr>
        <p:spPr>
          <a:xfrm>
            <a:off x="4645315" y="3274675"/>
            <a:ext cx="2901372" cy="2479580"/>
          </a:xfrm>
          <a:prstGeom prst="roundRect">
            <a:avLst>
              <a:gd name="adj" fmla="val 6000"/>
            </a:avLst>
          </a:prstGeom>
          <a:solidFill>
            <a:srgbClr val="FFFFFF"/>
          </a:solidFill>
          <a:ln>
            <a:noFill/>
          </a:ln>
          <a:effectLst>
            <a:glow rad="127000">
              <a:srgbClr val="C9748F">
                <a:alpha val="37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
            <a:extLst>
              <a:ext uri="{FF2B5EF4-FFF2-40B4-BE49-F238E27FC236}">
                <a16:creationId xmlns:a16="http://schemas.microsoft.com/office/drawing/2014/main" id="{7BA95D5B-5C9C-F324-B706-12A8A1AC66B7}"/>
              </a:ext>
            </a:extLst>
          </p:cNvPr>
          <p:cNvSpPr/>
          <p:nvPr/>
        </p:nvSpPr>
        <p:spPr>
          <a:xfrm>
            <a:off x="9122066" y="3274675"/>
            <a:ext cx="2901372" cy="2479580"/>
          </a:xfrm>
          <a:prstGeom prst="roundRect">
            <a:avLst>
              <a:gd name="adj" fmla="val 6000"/>
            </a:avLst>
          </a:prstGeom>
          <a:solidFill>
            <a:srgbClr val="FFFFFF"/>
          </a:solidFill>
          <a:ln>
            <a:noFill/>
          </a:ln>
          <a:effectLst>
            <a:glow rad="127000">
              <a:srgbClr val="C9748F">
                <a:alpha val="37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773D744C-E8D4-F389-71B0-1C67FE248CD6}"/>
              </a:ext>
            </a:extLst>
          </p:cNvPr>
          <p:cNvSpPr txBox="1"/>
          <p:nvPr/>
        </p:nvSpPr>
        <p:spPr>
          <a:xfrm>
            <a:off x="5080144" y="3274675"/>
            <a:ext cx="2031711" cy="400110"/>
          </a:xfrm>
          <a:prstGeom prst="rect">
            <a:avLst/>
          </a:prstGeom>
          <a:noFill/>
        </p:spPr>
        <p:txBody>
          <a:bodyPr wrap="square" lIns="0" tIns="0" rIns="0" bIns="0" anchor="t">
            <a:spAutoFit/>
          </a:bodyPr>
          <a:lstStyle/>
          <a:p>
            <a:pPr algn="l">
              <a:lnSpc>
                <a:spcPct val="100000"/>
              </a:lnSpc>
            </a:pPr>
            <a:r>
              <a:rPr lang="en-GB" sz="2600" b="1" dirty="0">
                <a:solidFill>
                  <a:srgbClr val="F2C4CE"/>
                </a:solidFill>
                <a:latin typeface="Georgia"/>
              </a:rPr>
              <a:t>2. Measure </a:t>
            </a:r>
            <a:endParaRPr sz="2600" b="1" i="0" dirty="0">
              <a:solidFill>
                <a:srgbClr val="F2C4CE"/>
              </a:solidFill>
              <a:latin typeface="Georgia"/>
            </a:endParaRPr>
          </a:p>
        </p:txBody>
      </p:sp>
      <p:sp>
        <p:nvSpPr>
          <p:cNvPr id="44" name="TextBox 43">
            <a:extLst>
              <a:ext uri="{FF2B5EF4-FFF2-40B4-BE49-F238E27FC236}">
                <a16:creationId xmlns:a16="http://schemas.microsoft.com/office/drawing/2014/main" id="{0A7A5957-4930-9FFE-52D2-680AE877CFCD}"/>
              </a:ext>
            </a:extLst>
          </p:cNvPr>
          <p:cNvSpPr txBox="1"/>
          <p:nvPr/>
        </p:nvSpPr>
        <p:spPr>
          <a:xfrm>
            <a:off x="9170557" y="3274675"/>
            <a:ext cx="2901372" cy="400110"/>
          </a:xfrm>
          <a:prstGeom prst="rect">
            <a:avLst/>
          </a:prstGeom>
          <a:noFill/>
        </p:spPr>
        <p:txBody>
          <a:bodyPr wrap="square" lIns="0" tIns="0" rIns="0" bIns="0" anchor="t">
            <a:spAutoFit/>
          </a:bodyPr>
          <a:lstStyle/>
          <a:p>
            <a:pPr algn="l">
              <a:lnSpc>
                <a:spcPct val="100000"/>
              </a:lnSpc>
            </a:pPr>
            <a:r>
              <a:rPr lang="en-GB" sz="2600" b="1" dirty="0">
                <a:solidFill>
                  <a:srgbClr val="F2C4CE"/>
                </a:solidFill>
                <a:latin typeface="Georgia"/>
              </a:rPr>
              <a:t>3. Communicate </a:t>
            </a:r>
            <a:endParaRPr sz="2600" b="1" i="0" dirty="0">
              <a:solidFill>
                <a:srgbClr val="F2C4CE"/>
              </a:solidFill>
              <a:latin typeface="Georgia"/>
            </a:endParaRPr>
          </a:p>
        </p:txBody>
      </p:sp>
      <p:sp>
        <p:nvSpPr>
          <p:cNvPr id="45" name="TextBox 44">
            <a:extLst>
              <a:ext uri="{FF2B5EF4-FFF2-40B4-BE49-F238E27FC236}">
                <a16:creationId xmlns:a16="http://schemas.microsoft.com/office/drawing/2014/main" id="{9E2AC0CB-43E6-9476-00D1-0D8BBFEC63CD}"/>
              </a:ext>
            </a:extLst>
          </p:cNvPr>
          <p:cNvSpPr txBox="1"/>
          <p:nvPr/>
        </p:nvSpPr>
        <p:spPr>
          <a:xfrm>
            <a:off x="418522" y="3999345"/>
            <a:ext cx="2401455" cy="1200329"/>
          </a:xfrm>
          <a:prstGeom prst="rect">
            <a:avLst/>
          </a:prstGeom>
          <a:noFill/>
        </p:spPr>
        <p:txBody>
          <a:bodyPr wrap="square" rtlCol="0">
            <a:spAutoFit/>
          </a:bodyPr>
          <a:lstStyle/>
          <a:p>
            <a:pPr algn="ctr"/>
            <a:r>
              <a:rPr lang="en-GB" dirty="0"/>
              <a:t>Translate Leventhal’s procedural justice rules into fairness criteria for healthcare AI</a:t>
            </a:r>
          </a:p>
        </p:txBody>
      </p:sp>
      <p:sp>
        <p:nvSpPr>
          <p:cNvPr id="47" name="TextBox 46">
            <a:extLst>
              <a:ext uri="{FF2B5EF4-FFF2-40B4-BE49-F238E27FC236}">
                <a16:creationId xmlns:a16="http://schemas.microsoft.com/office/drawing/2014/main" id="{37AA4A33-3224-FE1E-CE7D-8F759C66BFF7}"/>
              </a:ext>
            </a:extLst>
          </p:cNvPr>
          <p:cNvSpPr txBox="1"/>
          <p:nvPr/>
        </p:nvSpPr>
        <p:spPr>
          <a:xfrm>
            <a:off x="4695247" y="3860433"/>
            <a:ext cx="2801503" cy="1477328"/>
          </a:xfrm>
          <a:prstGeom prst="rect">
            <a:avLst/>
          </a:prstGeom>
          <a:noFill/>
        </p:spPr>
        <p:txBody>
          <a:bodyPr wrap="square" rtlCol="0">
            <a:spAutoFit/>
          </a:bodyPr>
          <a:lstStyle/>
          <a:p>
            <a:pPr algn="ctr"/>
            <a:r>
              <a:rPr lang="en-GB" dirty="0"/>
              <a:t>Operationalize all six criteria: quantitative metrics for technical rules, structured checklist for sociotechnical </a:t>
            </a:r>
          </a:p>
        </p:txBody>
      </p:sp>
      <p:sp>
        <p:nvSpPr>
          <p:cNvPr id="49" name="TextBox 48">
            <a:extLst>
              <a:ext uri="{FF2B5EF4-FFF2-40B4-BE49-F238E27FC236}">
                <a16:creationId xmlns:a16="http://schemas.microsoft.com/office/drawing/2014/main" id="{87A51E32-A303-E3B7-F3DD-44E051B37754}"/>
              </a:ext>
            </a:extLst>
          </p:cNvPr>
          <p:cNvSpPr txBox="1"/>
          <p:nvPr/>
        </p:nvSpPr>
        <p:spPr>
          <a:xfrm>
            <a:off x="9221935" y="4052800"/>
            <a:ext cx="2801503" cy="923330"/>
          </a:xfrm>
          <a:prstGeom prst="rect">
            <a:avLst/>
          </a:prstGeom>
          <a:noFill/>
        </p:spPr>
        <p:txBody>
          <a:bodyPr wrap="square" rtlCol="0">
            <a:spAutoFit/>
          </a:bodyPr>
          <a:lstStyle/>
          <a:p>
            <a:pPr algn="ctr"/>
            <a:r>
              <a:rPr lang="en-GB" dirty="0"/>
              <a:t>Present the results to stakeholders of mixed technical backgrounds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a:extLst>
            <a:ext uri="{FF2B5EF4-FFF2-40B4-BE49-F238E27FC236}">
              <a16:creationId xmlns:a16="http://schemas.microsoft.com/office/drawing/2014/main" id="{5CD20868-2950-C53B-E4B3-AE6214548FB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036CF6F-CD03-BAB0-F63F-9887A8CE3CF5}"/>
              </a:ext>
            </a:extLst>
          </p:cNvPr>
          <p:cNvSpPr txBox="1"/>
          <p:nvPr/>
        </p:nvSpPr>
        <p:spPr>
          <a:xfrm>
            <a:off x="685800" y="384048"/>
            <a:ext cx="9144000" cy="200055"/>
          </a:xfrm>
          <a:prstGeom prst="rect">
            <a:avLst/>
          </a:prstGeom>
          <a:noFill/>
        </p:spPr>
        <p:txBody>
          <a:bodyPr wrap="square" lIns="0" tIns="0" rIns="0" bIns="0" anchor="t">
            <a:spAutoFit/>
          </a:bodyPr>
          <a:lstStyle/>
          <a:p>
            <a:pPr algn="l">
              <a:lnSpc>
                <a:spcPct val="100000"/>
              </a:lnSpc>
            </a:pPr>
            <a:r>
              <a:rPr lang="en-GB" sz="1300" b="1" dirty="0">
                <a:solidFill>
                  <a:srgbClr val="C9748F"/>
                </a:solidFill>
                <a:latin typeface="Calibri"/>
              </a:rPr>
              <a:t>DEFINING FAIRNESS</a:t>
            </a:r>
            <a:endParaRPr sz="1300" b="1" i="0" dirty="0">
              <a:solidFill>
                <a:srgbClr val="C9748F"/>
              </a:solidFill>
              <a:latin typeface="Calibri"/>
            </a:endParaRPr>
          </a:p>
        </p:txBody>
      </p:sp>
      <p:sp>
        <p:nvSpPr>
          <p:cNvPr id="3" name="TextBox 2">
            <a:extLst>
              <a:ext uri="{FF2B5EF4-FFF2-40B4-BE49-F238E27FC236}">
                <a16:creationId xmlns:a16="http://schemas.microsoft.com/office/drawing/2014/main" id="{5A6FBDC0-AC05-C9E2-CD9B-F4D142CB71E8}"/>
              </a:ext>
            </a:extLst>
          </p:cNvPr>
          <p:cNvSpPr txBox="1"/>
          <p:nvPr/>
        </p:nvSpPr>
        <p:spPr>
          <a:xfrm>
            <a:off x="777240" y="1222809"/>
            <a:ext cx="10607040" cy="521874"/>
          </a:xfrm>
          <a:prstGeom prst="rect">
            <a:avLst/>
          </a:prstGeom>
          <a:noFill/>
        </p:spPr>
        <p:txBody>
          <a:bodyPr wrap="square" lIns="0" tIns="0" rIns="0" bIns="0" anchor="t">
            <a:spAutoFit/>
          </a:bodyPr>
          <a:lstStyle/>
          <a:p>
            <a:pPr>
              <a:lnSpc>
                <a:spcPct val="125000"/>
              </a:lnSpc>
            </a:pPr>
            <a:r>
              <a:rPr lang="en-GB" sz="3000" b="1" dirty="0">
                <a:solidFill>
                  <a:srgbClr val="1A1A1A"/>
                </a:solidFill>
                <a:latin typeface="Georgia"/>
              </a:rPr>
              <a:t>From Justice Theory to Testable Criteria </a:t>
            </a:r>
            <a:endParaRPr lang="en-GB" sz="3000" b="1" i="0" dirty="0">
              <a:solidFill>
                <a:srgbClr val="1A1A1A"/>
              </a:solidFill>
              <a:latin typeface="Georgia"/>
            </a:endParaRPr>
          </a:p>
        </p:txBody>
      </p:sp>
      <p:sp>
        <p:nvSpPr>
          <p:cNvPr id="17" name="TextBox 16">
            <a:extLst>
              <a:ext uri="{FF2B5EF4-FFF2-40B4-BE49-F238E27FC236}">
                <a16:creationId xmlns:a16="http://schemas.microsoft.com/office/drawing/2014/main" id="{AE2F83DA-5413-AF08-D91B-2FB2AD76C5AD}"/>
              </a:ext>
            </a:extLst>
          </p:cNvPr>
          <p:cNvSpPr txBox="1"/>
          <p:nvPr/>
        </p:nvSpPr>
        <p:spPr>
          <a:xfrm>
            <a:off x="685800" y="6510528"/>
            <a:ext cx="6400800" cy="274320"/>
          </a:xfrm>
          <a:prstGeom prst="rect">
            <a:avLst/>
          </a:prstGeom>
          <a:noFill/>
        </p:spPr>
        <p:txBody>
          <a:bodyPr wrap="square" lIns="0" tIns="0" rIns="0" bIns="0" anchor="t">
            <a:spAutoFit/>
          </a:bodyPr>
          <a:lstStyle/>
          <a:p>
            <a:pPr algn="l">
              <a:lnSpc>
                <a:spcPct val="100000"/>
              </a:lnSpc>
            </a:pPr>
            <a:r>
              <a:rPr sz="950" b="0" i="0">
                <a:solidFill>
                  <a:srgbClr val="999999"/>
                </a:solidFill>
                <a:latin typeface="Calibri"/>
              </a:rPr>
              <a:t>Procedural Fairness in Healthcare AI</a:t>
            </a:r>
          </a:p>
        </p:txBody>
      </p:sp>
      <p:sp>
        <p:nvSpPr>
          <p:cNvPr id="18" name="TextBox 17">
            <a:extLst>
              <a:ext uri="{FF2B5EF4-FFF2-40B4-BE49-F238E27FC236}">
                <a16:creationId xmlns:a16="http://schemas.microsoft.com/office/drawing/2014/main" id="{D3D53ADA-8B71-5CE4-4ACF-E53FEE468A2E}"/>
              </a:ext>
            </a:extLst>
          </p:cNvPr>
          <p:cNvSpPr txBox="1"/>
          <p:nvPr/>
        </p:nvSpPr>
        <p:spPr>
          <a:xfrm>
            <a:off x="11521440" y="6510528"/>
            <a:ext cx="457200" cy="146194"/>
          </a:xfrm>
          <a:prstGeom prst="rect">
            <a:avLst/>
          </a:prstGeom>
          <a:noFill/>
        </p:spPr>
        <p:txBody>
          <a:bodyPr wrap="square" lIns="0" tIns="0" rIns="0" bIns="0" anchor="t">
            <a:spAutoFit/>
          </a:bodyPr>
          <a:lstStyle/>
          <a:p>
            <a:pPr algn="r">
              <a:lnSpc>
                <a:spcPct val="100000"/>
              </a:lnSpc>
            </a:pPr>
            <a:r>
              <a:rPr lang="en-GB" sz="950" dirty="0">
                <a:solidFill>
                  <a:srgbClr val="999999"/>
                </a:solidFill>
                <a:latin typeface="Calibri"/>
              </a:rPr>
              <a:t>4</a:t>
            </a:r>
            <a:endParaRPr sz="950" b="0" i="0" dirty="0">
              <a:solidFill>
                <a:srgbClr val="999999"/>
              </a:solidFill>
              <a:latin typeface="Calibri"/>
            </a:endParaRPr>
          </a:p>
        </p:txBody>
      </p:sp>
      <p:sp>
        <p:nvSpPr>
          <p:cNvPr id="5" name="TextBox 4">
            <a:extLst>
              <a:ext uri="{FF2B5EF4-FFF2-40B4-BE49-F238E27FC236}">
                <a16:creationId xmlns:a16="http://schemas.microsoft.com/office/drawing/2014/main" id="{91654379-1293-5197-BEC8-532690F3DFC6}"/>
              </a:ext>
            </a:extLst>
          </p:cNvPr>
          <p:cNvSpPr txBox="1"/>
          <p:nvPr/>
        </p:nvSpPr>
        <p:spPr>
          <a:xfrm>
            <a:off x="685800" y="1862274"/>
            <a:ext cx="10607040" cy="614271"/>
          </a:xfrm>
          <a:prstGeom prst="rect">
            <a:avLst/>
          </a:prstGeom>
          <a:noFill/>
        </p:spPr>
        <p:txBody>
          <a:bodyPr wrap="square" lIns="0" tIns="0" rIns="0" bIns="0" anchor="t">
            <a:spAutoFit/>
          </a:bodyPr>
          <a:lstStyle/>
          <a:p>
            <a:pPr>
              <a:lnSpc>
                <a:spcPct val="130000"/>
              </a:lnSpc>
            </a:pPr>
            <a:r>
              <a:rPr lang="en-GB" sz="1600" dirty="0">
                <a:solidFill>
                  <a:schemeClr val="tx1">
                    <a:lumMod val="65000"/>
                    <a:lumOff val="35000"/>
                  </a:schemeClr>
                </a:solidFill>
              </a:rPr>
              <a:t>Leventhal's (1980) six procedural justice rules, written for human decision making, adapted into criteria that can be assessed in a healthcare prediction model (following </a:t>
            </a:r>
            <a:r>
              <a:rPr lang="en-GB" sz="1600" dirty="0" err="1">
                <a:solidFill>
                  <a:schemeClr val="tx1">
                    <a:lumMod val="65000"/>
                    <a:lumOff val="35000"/>
                  </a:schemeClr>
                </a:solidFill>
              </a:rPr>
              <a:t>Jabagi</a:t>
            </a:r>
            <a:r>
              <a:rPr lang="en-GB" sz="1600" dirty="0">
                <a:solidFill>
                  <a:schemeClr val="tx1">
                    <a:lumMod val="65000"/>
                    <a:lumOff val="35000"/>
                  </a:schemeClr>
                </a:solidFill>
              </a:rPr>
              <a:t> et al., 2025)</a:t>
            </a:r>
            <a:endParaRPr lang="en-GB" sz="1700" b="0" i="0" dirty="0">
              <a:solidFill>
                <a:schemeClr val="tx1">
                  <a:lumMod val="65000"/>
                  <a:lumOff val="35000"/>
                </a:schemeClr>
              </a:solidFill>
              <a:latin typeface="Calibri"/>
            </a:endParaRPr>
          </a:p>
        </p:txBody>
      </p:sp>
      <p:graphicFrame>
        <p:nvGraphicFramePr>
          <p:cNvPr id="7" name="Table 6">
            <a:extLst>
              <a:ext uri="{FF2B5EF4-FFF2-40B4-BE49-F238E27FC236}">
                <a16:creationId xmlns:a16="http://schemas.microsoft.com/office/drawing/2014/main" id="{2BD9042F-9652-5C8B-54DE-26B4BE6B2D11}"/>
              </a:ext>
            </a:extLst>
          </p:cNvPr>
          <p:cNvGraphicFramePr>
            <a:graphicFrameLocks noGrp="1"/>
          </p:cNvGraphicFramePr>
          <p:nvPr>
            <p:extLst>
              <p:ext uri="{D42A27DB-BD31-4B8C-83A1-F6EECF244321}">
                <p14:modId xmlns:p14="http://schemas.microsoft.com/office/powerpoint/2010/main" val="1729925407"/>
              </p:ext>
            </p:extLst>
          </p:nvPr>
        </p:nvGraphicFramePr>
        <p:xfrm>
          <a:off x="1738827" y="2753636"/>
          <a:ext cx="8714346" cy="3479800"/>
        </p:xfrm>
        <a:graphic>
          <a:graphicData uri="http://schemas.openxmlformats.org/drawingml/2006/table">
            <a:tbl>
              <a:tblPr firstRow="1" bandRow="1">
                <a:tableStyleId>{21E4AEA4-8DFA-4A89-87EB-49C32662AFE0}</a:tableStyleId>
              </a:tblPr>
              <a:tblGrid>
                <a:gridCol w="2021117">
                  <a:extLst>
                    <a:ext uri="{9D8B030D-6E8A-4147-A177-3AD203B41FA5}">
                      <a16:colId xmlns:a16="http://schemas.microsoft.com/office/drawing/2014/main" val="2353116357"/>
                    </a:ext>
                  </a:extLst>
                </a:gridCol>
                <a:gridCol w="3250456">
                  <a:extLst>
                    <a:ext uri="{9D8B030D-6E8A-4147-A177-3AD203B41FA5}">
                      <a16:colId xmlns:a16="http://schemas.microsoft.com/office/drawing/2014/main" val="3455370070"/>
                    </a:ext>
                  </a:extLst>
                </a:gridCol>
                <a:gridCol w="3442773">
                  <a:extLst>
                    <a:ext uri="{9D8B030D-6E8A-4147-A177-3AD203B41FA5}">
                      <a16:colId xmlns:a16="http://schemas.microsoft.com/office/drawing/2014/main" val="1817306241"/>
                    </a:ext>
                  </a:extLst>
                </a:gridCol>
              </a:tblGrid>
              <a:tr h="370840">
                <a:tc>
                  <a:txBody>
                    <a:bodyPr/>
                    <a:lstStyle/>
                    <a:p>
                      <a:r>
                        <a:rPr lang="en-GB" dirty="0"/>
                        <a:t>Rule</a:t>
                      </a:r>
                      <a:endParaRPr lang="en-GB" b="1" dirty="0"/>
                    </a:p>
                  </a:txBody>
                  <a:tcPr>
                    <a:solidFill>
                      <a:srgbClr val="C9748F"/>
                    </a:solidFill>
                  </a:tcPr>
                </a:tc>
                <a:tc>
                  <a:txBody>
                    <a:bodyPr/>
                    <a:lstStyle/>
                    <a:p>
                      <a:r>
                        <a:rPr lang="en-GB" dirty="0"/>
                        <a:t>Leventhal (1980)</a:t>
                      </a:r>
                      <a:endParaRPr lang="en-GB" b="1" dirty="0"/>
                    </a:p>
                  </a:txBody>
                  <a:tcPr>
                    <a:solidFill>
                      <a:srgbClr val="C9748F"/>
                    </a:solidFill>
                  </a:tcPr>
                </a:tc>
                <a:tc>
                  <a:txBody>
                    <a:bodyPr/>
                    <a:lstStyle/>
                    <a:p>
                      <a:r>
                        <a:rPr lang="en-GB" dirty="0"/>
                        <a:t>Adapted For Healthcare </a:t>
                      </a:r>
                      <a:endParaRPr lang="en-GB" b="1" dirty="0"/>
                    </a:p>
                  </a:txBody>
                  <a:tcPr>
                    <a:solidFill>
                      <a:srgbClr val="C9748F"/>
                    </a:solidFill>
                  </a:tcPr>
                </a:tc>
                <a:extLst>
                  <a:ext uri="{0D108BD9-81ED-4DB2-BD59-A6C34878D82A}">
                    <a16:rowId xmlns:a16="http://schemas.microsoft.com/office/drawing/2014/main" val="681362744"/>
                  </a:ext>
                </a:extLst>
              </a:tr>
              <a:tr h="370840">
                <a:tc>
                  <a:txBody>
                    <a:bodyPr/>
                    <a:lstStyle/>
                    <a:p>
                      <a:r>
                        <a:rPr lang="en-GB" sz="1400" b="1" dirty="0">
                          <a:solidFill>
                            <a:schemeClr val="tx1">
                              <a:lumMod val="65000"/>
                              <a:lumOff val="35000"/>
                            </a:schemeClr>
                          </a:solidFill>
                        </a:rPr>
                        <a:t>Accuracy </a:t>
                      </a:r>
                    </a:p>
                  </a:txBody>
                  <a:tcPr/>
                </a:tc>
                <a:tc>
                  <a:txBody>
                    <a:bodyPr/>
                    <a:lstStyle/>
                    <a:p>
                      <a:r>
                        <a:rPr lang="en-GB" sz="1400" i="1" dirty="0">
                          <a:solidFill>
                            <a:schemeClr val="tx1">
                              <a:lumMod val="65000"/>
                              <a:lumOff val="35000"/>
                            </a:schemeClr>
                          </a:solidFill>
                        </a:rPr>
                        <a:t>Decisions based on accurate and complete </a:t>
                      </a:r>
                    </a:p>
                  </a:txBody>
                  <a:tcPr/>
                </a:tc>
                <a:tc>
                  <a:txBody>
                    <a:bodyPr/>
                    <a:lstStyle/>
                    <a:p>
                      <a:r>
                        <a:rPr lang="en-GB" sz="1400" dirty="0">
                          <a:solidFill>
                            <a:schemeClr val="tx1">
                              <a:lumMod val="65000"/>
                              <a:lumOff val="35000"/>
                            </a:schemeClr>
                          </a:solidFill>
                        </a:rPr>
                        <a:t>High-quality data, low error rate; patient-safety risk</a:t>
                      </a:r>
                    </a:p>
                  </a:txBody>
                  <a:tcPr/>
                </a:tc>
                <a:extLst>
                  <a:ext uri="{0D108BD9-81ED-4DB2-BD59-A6C34878D82A}">
                    <a16:rowId xmlns:a16="http://schemas.microsoft.com/office/drawing/2014/main" val="2234888937"/>
                  </a:ext>
                </a:extLst>
              </a:tr>
              <a:tr h="370840">
                <a:tc>
                  <a:txBody>
                    <a:bodyPr/>
                    <a:lstStyle/>
                    <a:p>
                      <a:r>
                        <a:rPr lang="en-GB" sz="1400" b="1" dirty="0">
                          <a:solidFill>
                            <a:schemeClr val="tx1">
                              <a:lumMod val="65000"/>
                              <a:lumOff val="35000"/>
                            </a:schemeClr>
                          </a:solidFill>
                        </a:rPr>
                        <a:t>Bias Suppression </a:t>
                      </a:r>
                    </a:p>
                  </a:txBody>
                  <a:tcPr/>
                </a:tc>
                <a:tc>
                  <a:txBody>
                    <a:bodyPr/>
                    <a:lstStyle/>
                    <a:p>
                      <a:r>
                        <a:rPr lang="en-GB" sz="1400" i="1" dirty="0">
                          <a:solidFill>
                            <a:schemeClr val="tx1">
                              <a:lumMod val="65000"/>
                              <a:lumOff val="35000"/>
                            </a:schemeClr>
                          </a:solidFill>
                        </a:rPr>
                        <a:t>Free from personal bias, self-interest, or prejudice </a:t>
                      </a:r>
                    </a:p>
                  </a:txBody>
                  <a:tcPr/>
                </a:tc>
                <a:tc>
                  <a:txBody>
                    <a:bodyPr/>
                    <a:lstStyle/>
                    <a:p>
                      <a:r>
                        <a:rPr lang="en-GB" sz="1400" dirty="0">
                          <a:solidFill>
                            <a:schemeClr val="tx1">
                              <a:lumMod val="65000"/>
                              <a:lumOff val="35000"/>
                            </a:schemeClr>
                          </a:solidFill>
                        </a:rPr>
                        <a:t>Protected attributes must not unfairly drive predictions </a:t>
                      </a:r>
                    </a:p>
                  </a:txBody>
                  <a:tcPr/>
                </a:tc>
                <a:extLst>
                  <a:ext uri="{0D108BD9-81ED-4DB2-BD59-A6C34878D82A}">
                    <a16:rowId xmlns:a16="http://schemas.microsoft.com/office/drawing/2014/main" val="3551187529"/>
                  </a:ext>
                </a:extLst>
              </a:tr>
              <a:tr h="370840">
                <a:tc>
                  <a:txBody>
                    <a:bodyPr/>
                    <a:lstStyle/>
                    <a:p>
                      <a:r>
                        <a:rPr lang="en-GB" sz="1400" b="1" dirty="0">
                          <a:solidFill>
                            <a:schemeClr val="tx1">
                              <a:lumMod val="65000"/>
                              <a:lumOff val="35000"/>
                            </a:schemeClr>
                          </a:solidFill>
                        </a:rPr>
                        <a:t>Representativeness </a:t>
                      </a:r>
                    </a:p>
                  </a:txBody>
                  <a:tcPr/>
                </a:tc>
                <a:tc>
                  <a:txBody>
                    <a:bodyPr/>
                    <a:lstStyle/>
                    <a:p>
                      <a:r>
                        <a:rPr lang="en-GB" sz="1400" i="1" dirty="0">
                          <a:solidFill>
                            <a:schemeClr val="tx1">
                              <a:lumMod val="65000"/>
                              <a:lumOff val="35000"/>
                            </a:schemeClr>
                          </a:solidFill>
                        </a:rPr>
                        <a:t>Interest of all affected parties considered </a:t>
                      </a:r>
                    </a:p>
                  </a:txBody>
                  <a:tcPr/>
                </a:tc>
                <a:tc>
                  <a:txBody>
                    <a:bodyPr/>
                    <a:lstStyle/>
                    <a:p>
                      <a:r>
                        <a:rPr lang="en-GB" sz="1400" dirty="0">
                          <a:solidFill>
                            <a:schemeClr val="tx1">
                              <a:lumMod val="65000"/>
                              <a:lumOff val="35000"/>
                            </a:schemeClr>
                          </a:solidFill>
                        </a:rPr>
                        <a:t>Training data must represent all patient subgroups </a:t>
                      </a:r>
                    </a:p>
                  </a:txBody>
                  <a:tcPr/>
                </a:tc>
                <a:extLst>
                  <a:ext uri="{0D108BD9-81ED-4DB2-BD59-A6C34878D82A}">
                    <a16:rowId xmlns:a16="http://schemas.microsoft.com/office/drawing/2014/main" val="2917839049"/>
                  </a:ext>
                </a:extLst>
              </a:tr>
              <a:tr h="370840">
                <a:tc>
                  <a:txBody>
                    <a:bodyPr/>
                    <a:lstStyle/>
                    <a:p>
                      <a:r>
                        <a:rPr lang="en-GB" sz="1400" b="1" dirty="0">
                          <a:solidFill>
                            <a:schemeClr val="tx1">
                              <a:lumMod val="65000"/>
                              <a:lumOff val="35000"/>
                            </a:schemeClr>
                          </a:solidFill>
                        </a:rPr>
                        <a:t>Consistency </a:t>
                      </a:r>
                    </a:p>
                  </a:txBody>
                  <a:tcPr/>
                </a:tc>
                <a:tc>
                  <a:txBody>
                    <a:bodyPr/>
                    <a:lstStyle/>
                    <a:p>
                      <a:r>
                        <a:rPr lang="en-GB" sz="1400" i="1" dirty="0">
                          <a:solidFill>
                            <a:schemeClr val="tx1">
                              <a:lumMod val="65000"/>
                              <a:lumOff val="35000"/>
                            </a:schemeClr>
                          </a:solidFill>
                        </a:rPr>
                        <a:t>Applied consistently across people over time </a:t>
                      </a:r>
                    </a:p>
                  </a:txBody>
                  <a:tcPr/>
                </a:tc>
                <a:tc>
                  <a:txBody>
                    <a:bodyPr/>
                    <a:lstStyle/>
                    <a:p>
                      <a:r>
                        <a:rPr lang="en-GB" sz="1400" dirty="0">
                          <a:solidFill>
                            <a:schemeClr val="tx1">
                              <a:lumMod val="65000"/>
                              <a:lumOff val="35000"/>
                            </a:schemeClr>
                          </a:solidFill>
                        </a:rPr>
                        <a:t>Same logic for all groups; stable over time</a:t>
                      </a:r>
                    </a:p>
                  </a:txBody>
                  <a:tcPr/>
                </a:tc>
                <a:extLst>
                  <a:ext uri="{0D108BD9-81ED-4DB2-BD59-A6C34878D82A}">
                    <a16:rowId xmlns:a16="http://schemas.microsoft.com/office/drawing/2014/main" val="229006898"/>
                  </a:ext>
                </a:extLst>
              </a:tr>
              <a:tr h="370840">
                <a:tc>
                  <a:txBody>
                    <a:bodyPr/>
                    <a:lstStyle/>
                    <a:p>
                      <a:r>
                        <a:rPr lang="en-GB" sz="1400" b="1" dirty="0">
                          <a:solidFill>
                            <a:schemeClr val="tx1">
                              <a:lumMod val="65000"/>
                              <a:lumOff val="35000"/>
                            </a:schemeClr>
                          </a:solidFill>
                        </a:rPr>
                        <a:t>Correctability</a:t>
                      </a:r>
                    </a:p>
                  </a:txBody>
                  <a:tcPr/>
                </a:tc>
                <a:tc>
                  <a:txBody>
                    <a:bodyPr/>
                    <a:lstStyle/>
                    <a:p>
                      <a:r>
                        <a:rPr lang="en-GB" sz="1400" i="1" dirty="0">
                          <a:solidFill>
                            <a:schemeClr val="tx1">
                              <a:lumMod val="65000"/>
                              <a:lumOff val="35000"/>
                            </a:schemeClr>
                          </a:solidFill>
                        </a:rPr>
                        <a:t>Mechanisms to review, appeal, or correct decisions</a:t>
                      </a:r>
                    </a:p>
                  </a:txBody>
                  <a:tcPr/>
                </a:tc>
                <a:tc>
                  <a:txBody>
                    <a:bodyPr/>
                    <a:lstStyle/>
                    <a:p>
                      <a:r>
                        <a:rPr lang="en-GB" sz="1400" dirty="0">
                          <a:solidFill>
                            <a:schemeClr val="tx1">
                              <a:lumMod val="65000"/>
                              <a:lumOff val="35000"/>
                            </a:schemeClr>
                          </a:solidFill>
                        </a:rPr>
                        <a:t>Clinicians can challenge and override; audit trail </a:t>
                      </a:r>
                    </a:p>
                  </a:txBody>
                  <a:tcPr/>
                </a:tc>
                <a:extLst>
                  <a:ext uri="{0D108BD9-81ED-4DB2-BD59-A6C34878D82A}">
                    <a16:rowId xmlns:a16="http://schemas.microsoft.com/office/drawing/2014/main" val="3824120409"/>
                  </a:ext>
                </a:extLst>
              </a:tr>
              <a:tr h="370840">
                <a:tc>
                  <a:txBody>
                    <a:bodyPr/>
                    <a:lstStyle/>
                    <a:p>
                      <a:r>
                        <a:rPr lang="en-GB" sz="1400" b="1" dirty="0">
                          <a:solidFill>
                            <a:schemeClr val="tx1">
                              <a:lumMod val="65000"/>
                              <a:lumOff val="35000"/>
                            </a:schemeClr>
                          </a:solidFill>
                        </a:rPr>
                        <a:t>Ethicality </a:t>
                      </a:r>
                    </a:p>
                  </a:txBody>
                  <a:tcPr/>
                </a:tc>
                <a:tc>
                  <a:txBody>
                    <a:bodyPr/>
                    <a:lstStyle/>
                    <a:p>
                      <a:r>
                        <a:rPr lang="en-GB" sz="1400" i="1" dirty="0">
                          <a:solidFill>
                            <a:schemeClr val="tx1">
                              <a:lumMod val="65000"/>
                              <a:lumOff val="35000"/>
                            </a:schemeClr>
                          </a:solidFill>
                        </a:rPr>
                        <a:t>Compatible with fundamental moral and ethical values </a:t>
                      </a:r>
                    </a:p>
                  </a:txBody>
                  <a:tcPr/>
                </a:tc>
                <a:tc>
                  <a:txBody>
                    <a:bodyPr/>
                    <a:lstStyle/>
                    <a:p>
                      <a:r>
                        <a:rPr lang="en-GB" sz="1400" dirty="0">
                          <a:solidFill>
                            <a:schemeClr val="tx1">
                              <a:lumMod val="65000"/>
                              <a:lumOff val="35000"/>
                            </a:schemeClr>
                          </a:solidFill>
                        </a:rPr>
                        <a:t>Respect patient rights, and meet all ethical and legal standards </a:t>
                      </a:r>
                    </a:p>
                  </a:txBody>
                  <a:tcPr/>
                </a:tc>
                <a:extLst>
                  <a:ext uri="{0D108BD9-81ED-4DB2-BD59-A6C34878D82A}">
                    <a16:rowId xmlns:a16="http://schemas.microsoft.com/office/drawing/2014/main" val="2841332434"/>
                  </a:ext>
                </a:extLst>
              </a:tr>
            </a:tbl>
          </a:graphicData>
        </a:graphic>
      </p:graphicFrame>
    </p:spTree>
    <p:extLst>
      <p:ext uri="{BB962C8B-B14F-4D97-AF65-F5344CB8AC3E}">
        <p14:creationId xmlns:p14="http://schemas.microsoft.com/office/powerpoint/2010/main" val="36159132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5" name="Text 3"/>
          <p:cNvSpPr/>
          <p:nvPr/>
        </p:nvSpPr>
        <p:spPr>
          <a:xfrm>
            <a:off x="685800" y="613898"/>
            <a:ext cx="11874500" cy="387350"/>
          </a:xfrm>
          <a:prstGeom prst="rect">
            <a:avLst/>
          </a:prstGeom>
          <a:noFill/>
          <a:ln/>
        </p:spPr>
        <p:txBody>
          <a:bodyPr wrap="square" lIns="16933" tIns="16933" rIns="16933" bIns="16933" rtlCol="0" anchor="t">
            <a:noAutofit/>
          </a:bodyPr>
          <a:lstStyle/>
          <a:p>
            <a:r>
              <a:rPr lang="en-US" sz="3000" b="1" dirty="0">
                <a:latin typeface="Georgia" panose="02040502050405020303" pitchFamily="18" charset="0"/>
              </a:rPr>
              <a:t>Setting the bar for each criterion </a:t>
            </a:r>
          </a:p>
        </p:txBody>
      </p:sp>
      <p:sp>
        <p:nvSpPr>
          <p:cNvPr id="6" name="Text 4"/>
          <p:cNvSpPr/>
          <p:nvPr/>
        </p:nvSpPr>
        <p:spPr>
          <a:xfrm>
            <a:off x="698500" y="1098550"/>
            <a:ext cx="11874500" cy="196850"/>
          </a:xfrm>
          <a:prstGeom prst="rect">
            <a:avLst/>
          </a:prstGeom>
          <a:noFill/>
          <a:ln/>
        </p:spPr>
        <p:txBody>
          <a:bodyPr wrap="square" lIns="16933" tIns="16933" rIns="16933" bIns="16933" rtlCol="0" anchor="t">
            <a:normAutofit fontScale="92500" lnSpcReduction="20000"/>
          </a:bodyPr>
          <a:lstStyle/>
          <a:p>
            <a:r>
              <a:rPr lang="en-US" sz="1400" dirty="0">
                <a:solidFill>
                  <a:srgbClr val="666666"/>
                </a:solidFill>
                <a:ea typeface="Manrope" pitchFamily="34" charset="-122"/>
                <a:cs typeface="Manrope" pitchFamily="34" charset="-120"/>
              </a:rPr>
              <a:t>Six criteria, each with a measured bar and a clear reason it sits where it does</a:t>
            </a:r>
            <a:r>
              <a:rPr lang="en-US" sz="1000" dirty="0">
                <a:solidFill>
                  <a:srgbClr val="666666"/>
                </a:solidFill>
                <a:latin typeface="Manrope" pitchFamily="34" charset="0"/>
                <a:ea typeface="Manrope" pitchFamily="34" charset="-122"/>
                <a:cs typeface="Manrope" pitchFamily="34" charset="-120"/>
              </a:rPr>
              <a:t>.</a:t>
            </a:r>
            <a:endParaRPr lang="en-US" sz="1000" dirty="0"/>
          </a:p>
        </p:txBody>
      </p:sp>
      <p:sp>
        <p:nvSpPr>
          <p:cNvPr id="7" name="Shape 5"/>
          <p:cNvSpPr/>
          <p:nvPr/>
        </p:nvSpPr>
        <p:spPr>
          <a:xfrm>
            <a:off x="698500" y="1447800"/>
            <a:ext cx="10795000" cy="4762500"/>
          </a:xfrm>
          <a:prstGeom prst="roundRect">
            <a:avLst>
              <a:gd name="adj" fmla="val 3200"/>
            </a:avLst>
          </a:prstGeom>
          <a:solidFill>
            <a:srgbClr val="FFFFFF"/>
          </a:solidFill>
          <a:ln/>
          <a:effectLst>
            <a:glow>
              <a:schemeClr val="accent1">
                <a:alpha val="40000"/>
              </a:schemeClr>
            </a:glow>
            <a:outerShdw blurRad="571500" dist="190500" dir="5400000" sx="104000" sy="104000" algn="bl" rotWithShape="0">
              <a:srgbClr val="C9748F">
                <a:alpha val="31000"/>
              </a:srgbClr>
            </a:outerShdw>
          </a:effectLst>
        </p:spPr>
        <p:txBody>
          <a:bodyPr/>
          <a:lstStyle/>
          <a:p>
            <a:endParaRPr lang="en-GB" sz="1200"/>
          </a:p>
        </p:txBody>
      </p:sp>
      <p:sp>
        <p:nvSpPr>
          <p:cNvPr id="8" name="Shape 6"/>
          <p:cNvSpPr/>
          <p:nvPr/>
        </p:nvSpPr>
        <p:spPr>
          <a:xfrm>
            <a:off x="698500" y="1388678"/>
            <a:ext cx="10795000" cy="368300"/>
          </a:xfrm>
          <a:prstGeom prst="rect">
            <a:avLst/>
          </a:prstGeom>
          <a:solidFill>
            <a:srgbClr val="C9748F"/>
          </a:solidFill>
          <a:ln/>
        </p:spPr>
        <p:txBody>
          <a:bodyPr/>
          <a:lstStyle/>
          <a:p>
            <a:endParaRPr lang="en-GB" dirty="0">
              <a:solidFill>
                <a:srgbClr val="C9748F"/>
              </a:solidFill>
              <a:latin typeface="+mj-lt"/>
            </a:endParaRPr>
          </a:p>
        </p:txBody>
      </p:sp>
      <p:sp>
        <p:nvSpPr>
          <p:cNvPr id="9" name="Text 7"/>
          <p:cNvSpPr/>
          <p:nvPr/>
        </p:nvSpPr>
        <p:spPr>
          <a:xfrm>
            <a:off x="990600" y="1439490"/>
            <a:ext cx="2737574" cy="165100"/>
          </a:xfrm>
          <a:prstGeom prst="rect">
            <a:avLst/>
          </a:prstGeom>
          <a:noFill/>
          <a:ln/>
        </p:spPr>
        <p:txBody>
          <a:bodyPr wrap="square" lIns="16933" tIns="16933" rIns="16933" bIns="16933" rtlCol="0" anchor="t">
            <a:noAutofit/>
          </a:bodyPr>
          <a:lstStyle/>
          <a:p>
            <a:r>
              <a:rPr lang="en-US" b="1" kern="0" spc="75" dirty="0">
                <a:solidFill>
                  <a:srgbClr val="FFFFFF"/>
                </a:solidFill>
                <a:latin typeface="+mj-lt"/>
                <a:ea typeface="Manrope" pitchFamily="34" charset="-122"/>
                <a:cs typeface="Manrope" pitchFamily="34" charset="-120"/>
              </a:rPr>
              <a:t>CRITERION</a:t>
            </a:r>
            <a:endParaRPr lang="en-US" dirty="0">
              <a:latin typeface="+mj-lt"/>
            </a:endParaRPr>
          </a:p>
        </p:txBody>
      </p:sp>
      <p:sp>
        <p:nvSpPr>
          <p:cNvPr id="10" name="Text 8"/>
          <p:cNvSpPr/>
          <p:nvPr/>
        </p:nvSpPr>
        <p:spPr>
          <a:xfrm>
            <a:off x="3471728" y="1431294"/>
            <a:ext cx="3102759" cy="165100"/>
          </a:xfrm>
          <a:prstGeom prst="rect">
            <a:avLst/>
          </a:prstGeom>
          <a:noFill/>
          <a:ln/>
        </p:spPr>
        <p:txBody>
          <a:bodyPr wrap="square" lIns="16933" tIns="16933" rIns="16933" bIns="16933" rtlCol="0" anchor="t">
            <a:noAutofit/>
          </a:bodyPr>
          <a:lstStyle/>
          <a:p>
            <a:r>
              <a:rPr lang="en-US" b="1" kern="0" spc="75" dirty="0">
                <a:solidFill>
                  <a:srgbClr val="FFFFFF"/>
                </a:solidFill>
                <a:latin typeface="+mj-lt"/>
                <a:ea typeface="Manrope" pitchFamily="34" charset="-122"/>
                <a:cs typeface="Manrope" pitchFamily="34" charset="-120"/>
              </a:rPr>
              <a:t>MEASURED BY</a:t>
            </a:r>
            <a:endParaRPr lang="en-US" dirty="0">
              <a:latin typeface="+mj-lt"/>
            </a:endParaRPr>
          </a:p>
        </p:txBody>
      </p:sp>
      <p:sp>
        <p:nvSpPr>
          <p:cNvPr id="11" name="Text 9"/>
          <p:cNvSpPr/>
          <p:nvPr/>
        </p:nvSpPr>
        <p:spPr>
          <a:xfrm>
            <a:off x="5678893" y="1419849"/>
            <a:ext cx="2332814" cy="199003"/>
          </a:xfrm>
          <a:prstGeom prst="rect">
            <a:avLst/>
          </a:prstGeom>
          <a:noFill/>
          <a:ln/>
        </p:spPr>
        <p:txBody>
          <a:bodyPr wrap="square" lIns="16933" tIns="16933" rIns="16933" bIns="16933" rtlCol="0" anchor="t">
            <a:noAutofit/>
          </a:bodyPr>
          <a:lstStyle/>
          <a:p>
            <a:r>
              <a:rPr lang="en-US" b="1" kern="0" spc="75" dirty="0">
                <a:solidFill>
                  <a:srgbClr val="FFFFFF"/>
                </a:solidFill>
                <a:latin typeface="+mj-lt"/>
                <a:ea typeface="Manrope" pitchFamily="34" charset="-122"/>
                <a:cs typeface="Manrope" pitchFamily="34" charset="-120"/>
              </a:rPr>
              <a:t>PASS THRESHOLD</a:t>
            </a:r>
            <a:endParaRPr lang="en-US" dirty="0">
              <a:latin typeface="+mj-lt"/>
            </a:endParaRPr>
          </a:p>
        </p:txBody>
      </p:sp>
      <p:sp>
        <p:nvSpPr>
          <p:cNvPr id="12" name="Text 10"/>
          <p:cNvSpPr/>
          <p:nvPr/>
        </p:nvSpPr>
        <p:spPr>
          <a:xfrm>
            <a:off x="7843183" y="1420916"/>
            <a:ext cx="3650317" cy="165100"/>
          </a:xfrm>
          <a:prstGeom prst="rect">
            <a:avLst/>
          </a:prstGeom>
          <a:noFill/>
          <a:ln/>
        </p:spPr>
        <p:txBody>
          <a:bodyPr wrap="square" lIns="16933" tIns="16933" rIns="16933" bIns="16933" rtlCol="0" anchor="t">
            <a:noAutofit/>
          </a:bodyPr>
          <a:lstStyle/>
          <a:p>
            <a:r>
              <a:rPr lang="en-US" b="1" kern="0" spc="75" dirty="0">
                <a:solidFill>
                  <a:srgbClr val="FFFFFF"/>
                </a:solidFill>
                <a:latin typeface="+mj-lt"/>
                <a:ea typeface="Manrope" pitchFamily="34" charset="-122"/>
                <a:cs typeface="Manrope" pitchFamily="34" charset="-120"/>
              </a:rPr>
              <a:t>WHERE THE BAR COMES FROM</a:t>
            </a:r>
            <a:endParaRPr lang="en-US" dirty="0">
              <a:latin typeface="+mj-lt"/>
            </a:endParaRPr>
          </a:p>
        </p:txBody>
      </p:sp>
      <p:sp>
        <p:nvSpPr>
          <p:cNvPr id="13" name="Shape 11"/>
          <p:cNvSpPr/>
          <p:nvPr/>
        </p:nvSpPr>
        <p:spPr>
          <a:xfrm>
            <a:off x="698500" y="1816100"/>
            <a:ext cx="10795000" cy="732333"/>
          </a:xfrm>
          <a:prstGeom prst="rect">
            <a:avLst/>
          </a:prstGeom>
          <a:solidFill>
            <a:srgbClr val="FFFFFF"/>
          </a:solidFill>
          <a:ln/>
        </p:spPr>
        <p:txBody>
          <a:bodyPr/>
          <a:lstStyle/>
          <a:p>
            <a:endParaRPr lang="en-GB" sz="1200"/>
          </a:p>
        </p:txBody>
      </p:sp>
      <p:sp>
        <p:nvSpPr>
          <p:cNvPr id="14" name="Shape 12"/>
          <p:cNvSpPr/>
          <p:nvPr/>
        </p:nvSpPr>
        <p:spPr>
          <a:xfrm>
            <a:off x="698500" y="2542084"/>
            <a:ext cx="10795000" cy="6350"/>
          </a:xfrm>
          <a:prstGeom prst="rect">
            <a:avLst/>
          </a:prstGeom>
          <a:solidFill>
            <a:srgbClr val="FBEEF1"/>
          </a:solidFill>
          <a:ln/>
        </p:spPr>
        <p:txBody>
          <a:bodyPr/>
          <a:lstStyle/>
          <a:p>
            <a:endParaRPr lang="en-GB" sz="1200"/>
          </a:p>
        </p:txBody>
      </p:sp>
      <p:sp>
        <p:nvSpPr>
          <p:cNvPr id="15" name="Shape 13"/>
          <p:cNvSpPr/>
          <p:nvPr/>
        </p:nvSpPr>
        <p:spPr>
          <a:xfrm rot="2700000">
            <a:off x="952500" y="2140942"/>
            <a:ext cx="76200" cy="76200"/>
          </a:xfrm>
          <a:prstGeom prst="roundRect">
            <a:avLst>
              <a:gd name="adj" fmla="val 33333"/>
            </a:avLst>
          </a:prstGeom>
          <a:solidFill>
            <a:srgbClr val="C9748F"/>
          </a:solidFill>
          <a:ln/>
        </p:spPr>
        <p:txBody>
          <a:bodyPr/>
          <a:lstStyle/>
          <a:p>
            <a:endParaRPr lang="en-GB" sz="1200"/>
          </a:p>
        </p:txBody>
      </p:sp>
      <p:sp>
        <p:nvSpPr>
          <p:cNvPr id="16" name="Text 14"/>
          <p:cNvSpPr/>
          <p:nvPr/>
        </p:nvSpPr>
        <p:spPr>
          <a:xfrm>
            <a:off x="1104900" y="2090142"/>
            <a:ext cx="973275" cy="142782"/>
          </a:xfrm>
          <a:prstGeom prst="rect">
            <a:avLst/>
          </a:prstGeom>
          <a:noFill/>
          <a:ln/>
        </p:spPr>
        <p:txBody>
          <a:bodyPr wrap="square" lIns="16933" tIns="16933" rIns="16933" bIns="16933" rtlCol="0" anchor="t">
            <a:noAutofit/>
          </a:bodyPr>
          <a:lstStyle/>
          <a:p>
            <a:r>
              <a:rPr lang="en-US" sz="1600" b="1" dirty="0">
                <a:solidFill>
                  <a:srgbClr val="C9748F"/>
                </a:solidFill>
                <a:latin typeface="Manrope" pitchFamily="34" charset="0"/>
                <a:ea typeface="Manrope" pitchFamily="34" charset="-122"/>
                <a:cs typeface="Manrope" pitchFamily="34" charset="-120"/>
              </a:rPr>
              <a:t>Accuracy</a:t>
            </a:r>
            <a:endParaRPr lang="en-US" sz="1600" dirty="0"/>
          </a:p>
        </p:txBody>
      </p:sp>
      <p:sp>
        <p:nvSpPr>
          <p:cNvPr id="17" name="Text 15"/>
          <p:cNvSpPr/>
          <p:nvPr/>
        </p:nvSpPr>
        <p:spPr>
          <a:xfrm>
            <a:off x="3441204" y="2096492"/>
            <a:ext cx="3102759" cy="190500"/>
          </a:xfrm>
          <a:prstGeom prst="rect">
            <a:avLst/>
          </a:prstGeom>
          <a:noFill/>
          <a:ln/>
        </p:spPr>
        <p:txBody>
          <a:bodyPr wrap="square" lIns="16933" tIns="16933" rIns="16933" bIns="16933" rtlCol="0" anchor="t">
            <a:noAutofit/>
          </a:bodyPr>
          <a:lstStyle/>
          <a:p>
            <a:r>
              <a:rPr lang="en-US" sz="1200" dirty="0">
                <a:solidFill>
                  <a:srgbClr val="1A1A1A"/>
                </a:solidFill>
                <a:ea typeface="Manrope" pitchFamily="34" charset="-122"/>
                <a:cs typeface="Manrope" pitchFamily="34" charset="-120"/>
              </a:rPr>
              <a:t>AUC-ROC</a:t>
            </a:r>
            <a:endParaRPr lang="en-US" sz="1200" dirty="0"/>
          </a:p>
        </p:txBody>
      </p:sp>
      <p:sp>
        <p:nvSpPr>
          <p:cNvPr id="18" name="Shape 16"/>
          <p:cNvSpPr/>
          <p:nvPr/>
        </p:nvSpPr>
        <p:spPr>
          <a:xfrm>
            <a:off x="6261894" y="2061568"/>
            <a:ext cx="583406" cy="234950"/>
          </a:xfrm>
          <a:prstGeom prst="roundRect">
            <a:avLst>
              <a:gd name="adj" fmla="val 50000"/>
            </a:avLst>
          </a:prstGeom>
          <a:solidFill>
            <a:srgbClr val="FBEEF1"/>
          </a:solidFill>
          <a:ln/>
        </p:spPr>
        <p:txBody>
          <a:bodyPr/>
          <a:lstStyle/>
          <a:p>
            <a:endParaRPr lang="en-GB" sz="1200"/>
          </a:p>
        </p:txBody>
      </p:sp>
      <p:sp>
        <p:nvSpPr>
          <p:cNvPr id="19" name="Text 17"/>
          <p:cNvSpPr/>
          <p:nvPr/>
        </p:nvSpPr>
        <p:spPr>
          <a:xfrm>
            <a:off x="6363494" y="2093318"/>
            <a:ext cx="431006" cy="196850"/>
          </a:xfrm>
          <a:prstGeom prst="rect">
            <a:avLst/>
          </a:prstGeom>
          <a:noFill/>
          <a:ln/>
        </p:spPr>
        <p:txBody>
          <a:bodyPr wrap="square" lIns="16933" tIns="16933" rIns="16933" bIns="16933" rtlCol="0" anchor="t">
            <a:noAutofit/>
          </a:bodyPr>
          <a:lstStyle/>
          <a:p>
            <a:r>
              <a:rPr lang="en-US" sz="1200" b="1" dirty="0">
                <a:solidFill>
                  <a:srgbClr val="1A1A1A"/>
                </a:solidFill>
                <a:ea typeface="Manrope" pitchFamily="34" charset="-122"/>
                <a:cs typeface="Manrope" pitchFamily="34" charset="-120"/>
              </a:rPr>
              <a:t>≥ 0.80</a:t>
            </a:r>
            <a:endParaRPr lang="en-US" sz="1200" dirty="0"/>
          </a:p>
        </p:txBody>
      </p:sp>
      <p:sp>
        <p:nvSpPr>
          <p:cNvPr id="20" name="Text 18"/>
          <p:cNvSpPr/>
          <p:nvPr/>
        </p:nvSpPr>
        <p:spPr>
          <a:xfrm>
            <a:off x="7921030" y="2104827"/>
            <a:ext cx="3650317" cy="173931"/>
          </a:xfrm>
          <a:prstGeom prst="rect">
            <a:avLst/>
          </a:prstGeom>
          <a:noFill/>
          <a:ln/>
        </p:spPr>
        <p:txBody>
          <a:bodyPr wrap="square" lIns="16933" tIns="16933" rIns="16933" bIns="16933" rtlCol="0" anchor="t">
            <a:noAutofit/>
          </a:bodyPr>
          <a:lstStyle/>
          <a:p>
            <a:pPr>
              <a:lnSpc>
                <a:spcPct val="97500"/>
              </a:lnSpc>
            </a:pPr>
            <a:r>
              <a:rPr lang="en-US" sz="1200" dirty="0">
                <a:solidFill>
                  <a:srgbClr val="666666"/>
                </a:solidFill>
                <a:ea typeface="Manrope" pitchFamily="34" charset="-122"/>
                <a:cs typeface="Manrope" pitchFamily="34" charset="-120"/>
              </a:rPr>
              <a:t>Established convention (Mandrekar, 2010)</a:t>
            </a:r>
            <a:endParaRPr lang="en-US" sz="1200" dirty="0"/>
          </a:p>
        </p:txBody>
      </p:sp>
      <p:sp>
        <p:nvSpPr>
          <p:cNvPr id="21" name="Shape 19"/>
          <p:cNvSpPr/>
          <p:nvPr/>
        </p:nvSpPr>
        <p:spPr>
          <a:xfrm>
            <a:off x="698500" y="2548434"/>
            <a:ext cx="10795000" cy="732433"/>
          </a:xfrm>
          <a:prstGeom prst="rect">
            <a:avLst/>
          </a:prstGeom>
          <a:solidFill>
            <a:srgbClr val="FBEEF1"/>
          </a:solidFill>
          <a:ln/>
        </p:spPr>
        <p:txBody>
          <a:bodyPr/>
          <a:lstStyle/>
          <a:p>
            <a:endParaRPr lang="en-GB" sz="1200"/>
          </a:p>
        </p:txBody>
      </p:sp>
      <p:sp>
        <p:nvSpPr>
          <p:cNvPr id="22" name="Shape 20"/>
          <p:cNvSpPr/>
          <p:nvPr/>
        </p:nvSpPr>
        <p:spPr>
          <a:xfrm>
            <a:off x="698500" y="3274517"/>
            <a:ext cx="10795000" cy="6350"/>
          </a:xfrm>
          <a:prstGeom prst="rect">
            <a:avLst/>
          </a:prstGeom>
          <a:solidFill>
            <a:srgbClr val="FBEEF1"/>
          </a:solidFill>
          <a:ln/>
        </p:spPr>
        <p:txBody>
          <a:bodyPr/>
          <a:lstStyle/>
          <a:p>
            <a:endParaRPr lang="en-GB" sz="1200"/>
          </a:p>
        </p:txBody>
      </p:sp>
      <p:sp>
        <p:nvSpPr>
          <p:cNvPr id="23" name="Shape 21"/>
          <p:cNvSpPr/>
          <p:nvPr/>
        </p:nvSpPr>
        <p:spPr>
          <a:xfrm rot="2700000">
            <a:off x="952500" y="2873375"/>
            <a:ext cx="76200" cy="76200"/>
          </a:xfrm>
          <a:prstGeom prst="roundRect">
            <a:avLst>
              <a:gd name="adj" fmla="val 33333"/>
            </a:avLst>
          </a:prstGeom>
          <a:solidFill>
            <a:srgbClr val="C9748F"/>
          </a:solidFill>
          <a:ln/>
        </p:spPr>
        <p:txBody>
          <a:bodyPr/>
          <a:lstStyle/>
          <a:p>
            <a:endParaRPr lang="en-GB" sz="1200"/>
          </a:p>
        </p:txBody>
      </p:sp>
      <p:sp>
        <p:nvSpPr>
          <p:cNvPr id="24" name="Text 22"/>
          <p:cNvSpPr/>
          <p:nvPr/>
        </p:nvSpPr>
        <p:spPr>
          <a:xfrm>
            <a:off x="1104900" y="2822575"/>
            <a:ext cx="1800789" cy="142782"/>
          </a:xfrm>
          <a:prstGeom prst="rect">
            <a:avLst/>
          </a:prstGeom>
          <a:noFill/>
          <a:ln/>
        </p:spPr>
        <p:txBody>
          <a:bodyPr wrap="square" lIns="16933" tIns="16933" rIns="16933" bIns="16933" rtlCol="0" anchor="t">
            <a:noAutofit/>
          </a:bodyPr>
          <a:lstStyle/>
          <a:p>
            <a:r>
              <a:rPr lang="en-US" sz="1600" b="1" dirty="0">
                <a:solidFill>
                  <a:srgbClr val="C9748F"/>
                </a:solidFill>
                <a:latin typeface="Manrope" pitchFamily="34" charset="0"/>
                <a:ea typeface="Manrope" pitchFamily="34" charset="-122"/>
                <a:cs typeface="Manrope" pitchFamily="34" charset="-120"/>
              </a:rPr>
              <a:t>Bias suppression</a:t>
            </a:r>
            <a:endParaRPr lang="en-US" sz="1600" dirty="0"/>
          </a:p>
        </p:txBody>
      </p:sp>
      <p:sp>
        <p:nvSpPr>
          <p:cNvPr id="25" name="Text 23"/>
          <p:cNvSpPr/>
          <p:nvPr/>
        </p:nvSpPr>
        <p:spPr>
          <a:xfrm>
            <a:off x="3441204" y="2828925"/>
            <a:ext cx="3102759" cy="190500"/>
          </a:xfrm>
          <a:prstGeom prst="rect">
            <a:avLst/>
          </a:prstGeom>
          <a:noFill/>
          <a:ln/>
        </p:spPr>
        <p:txBody>
          <a:bodyPr wrap="square" lIns="16933" tIns="16933" rIns="16933" bIns="16933" rtlCol="0" anchor="t">
            <a:noAutofit/>
          </a:bodyPr>
          <a:lstStyle/>
          <a:p>
            <a:r>
              <a:rPr lang="en-US" sz="1200" dirty="0">
                <a:solidFill>
                  <a:srgbClr val="1A1A1A"/>
                </a:solidFill>
                <a:ea typeface="Manrope" pitchFamily="34" charset="-122"/>
                <a:cs typeface="Manrope" pitchFamily="34" charset="-120"/>
              </a:rPr>
              <a:t>Parity &amp; equalised odds diff.</a:t>
            </a:r>
            <a:endParaRPr lang="en-US" sz="1200" dirty="0"/>
          </a:p>
        </p:txBody>
      </p:sp>
      <p:sp>
        <p:nvSpPr>
          <p:cNvPr id="26" name="Shape 24"/>
          <p:cNvSpPr/>
          <p:nvPr/>
        </p:nvSpPr>
        <p:spPr>
          <a:xfrm>
            <a:off x="6261894" y="2797175"/>
            <a:ext cx="917972" cy="228600"/>
          </a:xfrm>
          <a:prstGeom prst="roundRect">
            <a:avLst>
              <a:gd name="adj" fmla="val 50000"/>
            </a:avLst>
          </a:prstGeom>
          <a:solidFill>
            <a:srgbClr val="FBEEF1"/>
          </a:solidFill>
          <a:ln/>
        </p:spPr>
        <p:txBody>
          <a:bodyPr/>
          <a:lstStyle/>
          <a:p>
            <a:endParaRPr lang="en-GB" sz="1200"/>
          </a:p>
        </p:txBody>
      </p:sp>
      <p:sp>
        <p:nvSpPr>
          <p:cNvPr id="27" name="Text 25"/>
          <p:cNvSpPr/>
          <p:nvPr/>
        </p:nvSpPr>
        <p:spPr>
          <a:xfrm>
            <a:off x="6219130" y="2848283"/>
            <a:ext cx="917972" cy="196850"/>
          </a:xfrm>
          <a:prstGeom prst="rect">
            <a:avLst/>
          </a:prstGeom>
          <a:noFill/>
          <a:ln/>
        </p:spPr>
        <p:txBody>
          <a:bodyPr wrap="square" lIns="16933" tIns="16933" rIns="16933" bIns="16933" rtlCol="0" anchor="t">
            <a:noAutofit/>
          </a:bodyPr>
          <a:lstStyle/>
          <a:p>
            <a:r>
              <a:rPr lang="en-US" sz="1200" b="1" dirty="0">
                <a:solidFill>
                  <a:srgbClr val="1A1A1A"/>
                </a:solidFill>
                <a:ea typeface="Manrope" pitchFamily="34" charset="-122"/>
                <a:cs typeface="Manrope" pitchFamily="34" charset="-120"/>
              </a:rPr>
              <a:t>within ±0.10</a:t>
            </a:r>
            <a:endParaRPr lang="en-US" sz="1200" dirty="0"/>
          </a:p>
        </p:txBody>
      </p:sp>
      <p:sp>
        <p:nvSpPr>
          <p:cNvPr id="28" name="Text 26"/>
          <p:cNvSpPr/>
          <p:nvPr/>
        </p:nvSpPr>
        <p:spPr>
          <a:xfrm>
            <a:off x="7921030" y="2837160"/>
            <a:ext cx="3650317" cy="173931"/>
          </a:xfrm>
          <a:prstGeom prst="rect">
            <a:avLst/>
          </a:prstGeom>
          <a:noFill/>
          <a:ln/>
        </p:spPr>
        <p:txBody>
          <a:bodyPr wrap="square" lIns="16933" tIns="16933" rIns="16933" bIns="16933" rtlCol="0" anchor="t">
            <a:noAutofit/>
          </a:bodyPr>
          <a:lstStyle/>
          <a:p>
            <a:pPr>
              <a:lnSpc>
                <a:spcPct val="97500"/>
              </a:lnSpc>
            </a:pPr>
            <a:r>
              <a:rPr lang="en-US" sz="1200" dirty="0">
                <a:solidFill>
                  <a:srgbClr val="666666"/>
                </a:solidFill>
                <a:ea typeface="Manrope" pitchFamily="34" charset="-122"/>
                <a:cs typeface="Manrope" pitchFamily="34" charset="-120"/>
              </a:rPr>
              <a:t>Researcher-defined benchmark</a:t>
            </a:r>
            <a:endParaRPr lang="en-US" sz="1200" dirty="0"/>
          </a:p>
        </p:txBody>
      </p:sp>
      <p:sp>
        <p:nvSpPr>
          <p:cNvPr id="29" name="Shape 27"/>
          <p:cNvSpPr/>
          <p:nvPr/>
        </p:nvSpPr>
        <p:spPr>
          <a:xfrm>
            <a:off x="698500" y="3280867"/>
            <a:ext cx="10795000" cy="732333"/>
          </a:xfrm>
          <a:prstGeom prst="rect">
            <a:avLst/>
          </a:prstGeom>
          <a:solidFill>
            <a:srgbClr val="FFFFFF"/>
          </a:solidFill>
          <a:ln/>
        </p:spPr>
        <p:txBody>
          <a:bodyPr/>
          <a:lstStyle/>
          <a:p>
            <a:endParaRPr lang="en-GB" sz="1200"/>
          </a:p>
        </p:txBody>
      </p:sp>
      <p:sp>
        <p:nvSpPr>
          <p:cNvPr id="30" name="Shape 28"/>
          <p:cNvSpPr/>
          <p:nvPr/>
        </p:nvSpPr>
        <p:spPr>
          <a:xfrm>
            <a:off x="698500" y="4006850"/>
            <a:ext cx="10795000" cy="6350"/>
          </a:xfrm>
          <a:prstGeom prst="rect">
            <a:avLst/>
          </a:prstGeom>
          <a:solidFill>
            <a:srgbClr val="FBEEF1"/>
          </a:solidFill>
          <a:ln/>
        </p:spPr>
        <p:txBody>
          <a:bodyPr/>
          <a:lstStyle/>
          <a:p>
            <a:endParaRPr lang="en-GB" sz="1200"/>
          </a:p>
        </p:txBody>
      </p:sp>
      <p:sp>
        <p:nvSpPr>
          <p:cNvPr id="31" name="Shape 29"/>
          <p:cNvSpPr/>
          <p:nvPr/>
        </p:nvSpPr>
        <p:spPr>
          <a:xfrm rot="2700000">
            <a:off x="952500" y="3605709"/>
            <a:ext cx="76200" cy="76200"/>
          </a:xfrm>
          <a:prstGeom prst="roundRect">
            <a:avLst>
              <a:gd name="adj" fmla="val 33333"/>
            </a:avLst>
          </a:prstGeom>
          <a:solidFill>
            <a:srgbClr val="C9748F"/>
          </a:solidFill>
          <a:ln/>
        </p:spPr>
        <p:txBody>
          <a:bodyPr/>
          <a:lstStyle/>
          <a:p>
            <a:endParaRPr lang="en-GB" sz="1200"/>
          </a:p>
        </p:txBody>
      </p:sp>
      <p:sp>
        <p:nvSpPr>
          <p:cNvPr id="32" name="Text 30"/>
          <p:cNvSpPr/>
          <p:nvPr/>
        </p:nvSpPr>
        <p:spPr>
          <a:xfrm>
            <a:off x="1104901" y="3554909"/>
            <a:ext cx="2135015" cy="142782"/>
          </a:xfrm>
          <a:prstGeom prst="rect">
            <a:avLst/>
          </a:prstGeom>
          <a:noFill/>
          <a:ln/>
        </p:spPr>
        <p:txBody>
          <a:bodyPr wrap="square" lIns="16933" tIns="16933" rIns="16933" bIns="16933" rtlCol="0" anchor="t">
            <a:noAutofit/>
          </a:bodyPr>
          <a:lstStyle/>
          <a:p>
            <a:r>
              <a:rPr lang="en-US" sz="1600" b="1" dirty="0">
                <a:solidFill>
                  <a:srgbClr val="C9748F"/>
                </a:solidFill>
                <a:latin typeface="Manrope" pitchFamily="34" charset="0"/>
                <a:ea typeface="Manrope" pitchFamily="34" charset="-122"/>
                <a:cs typeface="Manrope" pitchFamily="34" charset="-120"/>
              </a:rPr>
              <a:t>Representativeness</a:t>
            </a:r>
            <a:endParaRPr lang="en-US" sz="1600" dirty="0"/>
          </a:p>
        </p:txBody>
      </p:sp>
      <p:sp>
        <p:nvSpPr>
          <p:cNvPr id="33" name="Text 31"/>
          <p:cNvSpPr/>
          <p:nvPr/>
        </p:nvSpPr>
        <p:spPr>
          <a:xfrm>
            <a:off x="3441204" y="3561259"/>
            <a:ext cx="3102759" cy="190500"/>
          </a:xfrm>
          <a:prstGeom prst="rect">
            <a:avLst/>
          </a:prstGeom>
          <a:noFill/>
          <a:ln/>
        </p:spPr>
        <p:txBody>
          <a:bodyPr wrap="square" lIns="16933" tIns="16933" rIns="16933" bIns="16933" rtlCol="0" anchor="t">
            <a:noAutofit/>
          </a:bodyPr>
          <a:lstStyle/>
          <a:p>
            <a:r>
              <a:rPr lang="en-US" sz="1200" dirty="0">
                <a:solidFill>
                  <a:srgbClr val="1A1A1A"/>
                </a:solidFill>
                <a:ea typeface="Manrope" pitchFamily="34" charset="-122"/>
                <a:cs typeface="Manrope" pitchFamily="34" charset="-120"/>
              </a:rPr>
              <a:t>Representation ratio</a:t>
            </a:r>
            <a:endParaRPr lang="en-US" sz="1200" dirty="0"/>
          </a:p>
        </p:txBody>
      </p:sp>
      <p:sp>
        <p:nvSpPr>
          <p:cNvPr id="34" name="Shape 32"/>
          <p:cNvSpPr/>
          <p:nvPr/>
        </p:nvSpPr>
        <p:spPr>
          <a:xfrm>
            <a:off x="6261894" y="3526334"/>
            <a:ext cx="583406" cy="234950"/>
          </a:xfrm>
          <a:prstGeom prst="roundRect">
            <a:avLst>
              <a:gd name="adj" fmla="val 50000"/>
            </a:avLst>
          </a:prstGeom>
          <a:solidFill>
            <a:srgbClr val="FBEEF1"/>
          </a:solidFill>
          <a:ln/>
        </p:spPr>
        <p:txBody>
          <a:bodyPr/>
          <a:lstStyle/>
          <a:p>
            <a:endParaRPr lang="en-GB" sz="1200"/>
          </a:p>
        </p:txBody>
      </p:sp>
      <p:sp>
        <p:nvSpPr>
          <p:cNvPr id="35" name="Text 33"/>
          <p:cNvSpPr/>
          <p:nvPr/>
        </p:nvSpPr>
        <p:spPr>
          <a:xfrm>
            <a:off x="6363494" y="3558084"/>
            <a:ext cx="431006" cy="196850"/>
          </a:xfrm>
          <a:prstGeom prst="rect">
            <a:avLst/>
          </a:prstGeom>
          <a:noFill/>
          <a:ln/>
        </p:spPr>
        <p:txBody>
          <a:bodyPr wrap="square" lIns="16933" tIns="16933" rIns="16933" bIns="16933" rtlCol="0" anchor="t">
            <a:normAutofit fontScale="92500" lnSpcReduction="10000"/>
          </a:bodyPr>
          <a:lstStyle/>
          <a:p>
            <a:r>
              <a:rPr lang="en-US" sz="950" b="1" dirty="0">
                <a:solidFill>
                  <a:srgbClr val="1A1A1A"/>
                </a:solidFill>
                <a:latin typeface="Manrope" pitchFamily="34" charset="0"/>
                <a:ea typeface="Manrope" pitchFamily="34" charset="-122"/>
                <a:cs typeface="Manrope" pitchFamily="34" charset="-120"/>
              </a:rPr>
              <a:t>≥ </a:t>
            </a:r>
            <a:r>
              <a:rPr lang="en-US" sz="1200" b="1" dirty="0">
                <a:solidFill>
                  <a:srgbClr val="1A1A1A"/>
                </a:solidFill>
                <a:latin typeface="Manrope" pitchFamily="34" charset="0"/>
                <a:ea typeface="Manrope" pitchFamily="34" charset="-122"/>
                <a:cs typeface="Manrope" pitchFamily="34" charset="-120"/>
              </a:rPr>
              <a:t>0.80</a:t>
            </a:r>
            <a:endParaRPr lang="en-US" sz="1200" dirty="0"/>
          </a:p>
        </p:txBody>
      </p:sp>
      <p:sp>
        <p:nvSpPr>
          <p:cNvPr id="36" name="Text 34"/>
          <p:cNvSpPr/>
          <p:nvPr/>
        </p:nvSpPr>
        <p:spPr>
          <a:xfrm>
            <a:off x="7921030" y="3569593"/>
            <a:ext cx="3650317" cy="173931"/>
          </a:xfrm>
          <a:prstGeom prst="rect">
            <a:avLst/>
          </a:prstGeom>
          <a:noFill/>
          <a:ln/>
        </p:spPr>
        <p:txBody>
          <a:bodyPr wrap="square" lIns="16933" tIns="16933" rIns="16933" bIns="16933" rtlCol="0" anchor="t">
            <a:noAutofit/>
          </a:bodyPr>
          <a:lstStyle/>
          <a:p>
            <a:pPr>
              <a:lnSpc>
                <a:spcPct val="97500"/>
              </a:lnSpc>
            </a:pPr>
            <a:r>
              <a:rPr lang="en-US" sz="1200" dirty="0">
                <a:solidFill>
                  <a:srgbClr val="666666"/>
                </a:solidFill>
                <a:ea typeface="Manrope" pitchFamily="34" charset="-122"/>
                <a:cs typeface="Manrope" pitchFamily="34" charset="-120"/>
              </a:rPr>
              <a:t>Adapted from the four-fifths rule</a:t>
            </a:r>
            <a:endParaRPr lang="en-US" sz="1200" dirty="0"/>
          </a:p>
        </p:txBody>
      </p:sp>
      <p:sp>
        <p:nvSpPr>
          <p:cNvPr id="37" name="Shape 35"/>
          <p:cNvSpPr/>
          <p:nvPr/>
        </p:nvSpPr>
        <p:spPr>
          <a:xfrm>
            <a:off x="698500" y="4013200"/>
            <a:ext cx="10795000" cy="732433"/>
          </a:xfrm>
          <a:prstGeom prst="rect">
            <a:avLst/>
          </a:prstGeom>
          <a:solidFill>
            <a:srgbClr val="FBEEF1"/>
          </a:solidFill>
          <a:ln/>
        </p:spPr>
        <p:txBody>
          <a:bodyPr/>
          <a:lstStyle/>
          <a:p>
            <a:endParaRPr lang="en-GB" sz="1200"/>
          </a:p>
        </p:txBody>
      </p:sp>
      <p:sp>
        <p:nvSpPr>
          <p:cNvPr id="38" name="Shape 36"/>
          <p:cNvSpPr/>
          <p:nvPr/>
        </p:nvSpPr>
        <p:spPr>
          <a:xfrm>
            <a:off x="698500" y="4739283"/>
            <a:ext cx="10795000" cy="6350"/>
          </a:xfrm>
          <a:prstGeom prst="rect">
            <a:avLst/>
          </a:prstGeom>
          <a:solidFill>
            <a:srgbClr val="FBEEF1"/>
          </a:solidFill>
          <a:ln/>
        </p:spPr>
        <p:txBody>
          <a:bodyPr/>
          <a:lstStyle/>
          <a:p>
            <a:endParaRPr lang="en-GB" sz="1200"/>
          </a:p>
        </p:txBody>
      </p:sp>
      <p:sp>
        <p:nvSpPr>
          <p:cNvPr id="39" name="Shape 37"/>
          <p:cNvSpPr/>
          <p:nvPr/>
        </p:nvSpPr>
        <p:spPr>
          <a:xfrm rot="2700000">
            <a:off x="952500" y="4338141"/>
            <a:ext cx="76200" cy="76200"/>
          </a:xfrm>
          <a:prstGeom prst="roundRect">
            <a:avLst>
              <a:gd name="adj" fmla="val 33333"/>
            </a:avLst>
          </a:prstGeom>
          <a:solidFill>
            <a:srgbClr val="C9748F"/>
          </a:solidFill>
          <a:ln/>
        </p:spPr>
        <p:txBody>
          <a:bodyPr/>
          <a:lstStyle/>
          <a:p>
            <a:endParaRPr lang="en-GB" sz="1200"/>
          </a:p>
        </p:txBody>
      </p:sp>
      <p:sp>
        <p:nvSpPr>
          <p:cNvPr id="40" name="Text 38"/>
          <p:cNvSpPr/>
          <p:nvPr/>
        </p:nvSpPr>
        <p:spPr>
          <a:xfrm>
            <a:off x="1104900" y="4287341"/>
            <a:ext cx="1328929" cy="142782"/>
          </a:xfrm>
          <a:prstGeom prst="rect">
            <a:avLst/>
          </a:prstGeom>
          <a:noFill/>
          <a:ln/>
        </p:spPr>
        <p:txBody>
          <a:bodyPr wrap="square" lIns="16933" tIns="16933" rIns="16933" bIns="16933" rtlCol="0" anchor="t">
            <a:noAutofit/>
          </a:bodyPr>
          <a:lstStyle/>
          <a:p>
            <a:r>
              <a:rPr lang="en-US" sz="1600" b="1" dirty="0">
                <a:solidFill>
                  <a:srgbClr val="C9748F"/>
                </a:solidFill>
                <a:latin typeface="Manrope" pitchFamily="34" charset="0"/>
                <a:ea typeface="Manrope" pitchFamily="34" charset="-122"/>
                <a:cs typeface="Manrope" pitchFamily="34" charset="-120"/>
              </a:rPr>
              <a:t>Consistency</a:t>
            </a:r>
            <a:endParaRPr lang="en-US" sz="1600" dirty="0"/>
          </a:p>
        </p:txBody>
      </p:sp>
      <p:sp>
        <p:nvSpPr>
          <p:cNvPr id="41" name="Text 39"/>
          <p:cNvSpPr/>
          <p:nvPr/>
        </p:nvSpPr>
        <p:spPr>
          <a:xfrm>
            <a:off x="3441204" y="4293691"/>
            <a:ext cx="3102759" cy="190500"/>
          </a:xfrm>
          <a:prstGeom prst="rect">
            <a:avLst/>
          </a:prstGeom>
          <a:noFill/>
          <a:ln/>
        </p:spPr>
        <p:txBody>
          <a:bodyPr wrap="square" lIns="16933" tIns="16933" rIns="16933" bIns="16933" rtlCol="0" anchor="t">
            <a:noAutofit/>
          </a:bodyPr>
          <a:lstStyle/>
          <a:p>
            <a:r>
              <a:rPr lang="en-US" sz="1200" dirty="0">
                <a:solidFill>
                  <a:srgbClr val="1A1A1A"/>
                </a:solidFill>
                <a:ea typeface="Manrope" pitchFamily="34" charset="-122"/>
                <a:cs typeface="Manrope" pitchFamily="34" charset="-120"/>
              </a:rPr>
              <a:t>Instability under perturbation</a:t>
            </a:r>
            <a:endParaRPr lang="en-US" sz="1200" dirty="0"/>
          </a:p>
        </p:txBody>
      </p:sp>
      <p:sp>
        <p:nvSpPr>
          <p:cNvPr id="42" name="Shape 40"/>
          <p:cNvSpPr/>
          <p:nvPr/>
        </p:nvSpPr>
        <p:spPr>
          <a:xfrm>
            <a:off x="6261894" y="4261941"/>
            <a:ext cx="484882" cy="228600"/>
          </a:xfrm>
          <a:prstGeom prst="roundRect">
            <a:avLst>
              <a:gd name="adj" fmla="val 50000"/>
            </a:avLst>
          </a:prstGeom>
          <a:solidFill>
            <a:srgbClr val="FBEEF1"/>
          </a:solidFill>
          <a:ln/>
        </p:spPr>
        <p:txBody>
          <a:bodyPr/>
          <a:lstStyle/>
          <a:p>
            <a:endParaRPr lang="en-GB" sz="1200"/>
          </a:p>
        </p:txBody>
      </p:sp>
      <p:sp>
        <p:nvSpPr>
          <p:cNvPr id="43" name="Text 41"/>
          <p:cNvSpPr/>
          <p:nvPr/>
        </p:nvSpPr>
        <p:spPr>
          <a:xfrm>
            <a:off x="6363494" y="4293691"/>
            <a:ext cx="431006" cy="228600"/>
          </a:xfrm>
          <a:prstGeom prst="rect">
            <a:avLst/>
          </a:prstGeom>
          <a:noFill/>
          <a:ln/>
        </p:spPr>
        <p:txBody>
          <a:bodyPr wrap="square" lIns="16933" tIns="16933" rIns="16933" bIns="16933" rtlCol="0" anchor="t">
            <a:noAutofit/>
          </a:bodyPr>
          <a:lstStyle/>
          <a:p>
            <a:r>
              <a:rPr lang="en-US" sz="1200" b="1" dirty="0">
                <a:solidFill>
                  <a:srgbClr val="1A1A1A"/>
                </a:solidFill>
                <a:ea typeface="Manrope" pitchFamily="34" charset="-122"/>
                <a:cs typeface="Manrope" pitchFamily="34" charset="-120"/>
              </a:rPr>
              <a:t>&lt; 5%</a:t>
            </a:r>
            <a:endParaRPr lang="en-US" sz="1200" dirty="0"/>
          </a:p>
        </p:txBody>
      </p:sp>
      <p:sp>
        <p:nvSpPr>
          <p:cNvPr id="44" name="Text 42"/>
          <p:cNvSpPr/>
          <p:nvPr/>
        </p:nvSpPr>
        <p:spPr>
          <a:xfrm>
            <a:off x="7921030" y="4301927"/>
            <a:ext cx="3650317" cy="173931"/>
          </a:xfrm>
          <a:prstGeom prst="rect">
            <a:avLst/>
          </a:prstGeom>
          <a:noFill/>
          <a:ln/>
        </p:spPr>
        <p:txBody>
          <a:bodyPr wrap="square" lIns="16933" tIns="16933" rIns="16933" bIns="16933" rtlCol="0" anchor="t">
            <a:noAutofit/>
          </a:bodyPr>
          <a:lstStyle/>
          <a:p>
            <a:pPr>
              <a:lnSpc>
                <a:spcPct val="97500"/>
              </a:lnSpc>
            </a:pPr>
            <a:r>
              <a:rPr lang="en-US" sz="1200" dirty="0">
                <a:solidFill>
                  <a:srgbClr val="666666"/>
                </a:solidFill>
                <a:ea typeface="Manrope" pitchFamily="34" charset="-122"/>
                <a:cs typeface="Manrope" pitchFamily="34" charset="-120"/>
              </a:rPr>
              <a:t>Researcher-defined benchmark</a:t>
            </a:r>
            <a:endParaRPr lang="en-US" sz="1200" dirty="0"/>
          </a:p>
        </p:txBody>
      </p:sp>
      <p:sp>
        <p:nvSpPr>
          <p:cNvPr id="45" name="Shape 43"/>
          <p:cNvSpPr/>
          <p:nvPr/>
        </p:nvSpPr>
        <p:spPr>
          <a:xfrm>
            <a:off x="698500" y="4745633"/>
            <a:ext cx="10795000" cy="732333"/>
          </a:xfrm>
          <a:prstGeom prst="rect">
            <a:avLst/>
          </a:prstGeom>
          <a:solidFill>
            <a:srgbClr val="FFFFFF"/>
          </a:solidFill>
          <a:ln/>
        </p:spPr>
        <p:txBody>
          <a:bodyPr/>
          <a:lstStyle/>
          <a:p>
            <a:endParaRPr lang="en-GB" sz="1200"/>
          </a:p>
        </p:txBody>
      </p:sp>
      <p:sp>
        <p:nvSpPr>
          <p:cNvPr id="46" name="Shape 44"/>
          <p:cNvSpPr/>
          <p:nvPr/>
        </p:nvSpPr>
        <p:spPr>
          <a:xfrm>
            <a:off x="698500" y="5471617"/>
            <a:ext cx="10795000" cy="6350"/>
          </a:xfrm>
          <a:prstGeom prst="rect">
            <a:avLst/>
          </a:prstGeom>
          <a:solidFill>
            <a:srgbClr val="FBEEF1"/>
          </a:solidFill>
          <a:ln/>
        </p:spPr>
        <p:txBody>
          <a:bodyPr/>
          <a:lstStyle/>
          <a:p>
            <a:endParaRPr lang="en-GB" sz="1200"/>
          </a:p>
        </p:txBody>
      </p:sp>
      <p:sp>
        <p:nvSpPr>
          <p:cNvPr id="47" name="Shape 45"/>
          <p:cNvSpPr/>
          <p:nvPr/>
        </p:nvSpPr>
        <p:spPr>
          <a:xfrm rot="2700000">
            <a:off x="952500" y="5070475"/>
            <a:ext cx="76200" cy="76200"/>
          </a:xfrm>
          <a:prstGeom prst="roundRect">
            <a:avLst>
              <a:gd name="adj" fmla="val 33333"/>
            </a:avLst>
          </a:prstGeom>
          <a:solidFill>
            <a:srgbClr val="C9748F"/>
          </a:solidFill>
          <a:ln/>
        </p:spPr>
        <p:txBody>
          <a:bodyPr/>
          <a:lstStyle/>
          <a:p>
            <a:endParaRPr lang="en-GB" sz="1200"/>
          </a:p>
        </p:txBody>
      </p:sp>
      <p:sp>
        <p:nvSpPr>
          <p:cNvPr id="48" name="Text 46"/>
          <p:cNvSpPr/>
          <p:nvPr/>
        </p:nvSpPr>
        <p:spPr>
          <a:xfrm>
            <a:off x="1104900" y="5019675"/>
            <a:ext cx="1481220" cy="142782"/>
          </a:xfrm>
          <a:prstGeom prst="rect">
            <a:avLst/>
          </a:prstGeom>
          <a:noFill/>
          <a:ln/>
        </p:spPr>
        <p:txBody>
          <a:bodyPr wrap="square" lIns="16933" tIns="16933" rIns="16933" bIns="16933" rtlCol="0" anchor="t">
            <a:noAutofit/>
          </a:bodyPr>
          <a:lstStyle/>
          <a:p>
            <a:r>
              <a:rPr lang="en-US" sz="1600" b="1" dirty="0">
                <a:solidFill>
                  <a:srgbClr val="C9748F"/>
                </a:solidFill>
                <a:latin typeface="Manrope" pitchFamily="34" charset="0"/>
                <a:ea typeface="Manrope" pitchFamily="34" charset="-122"/>
                <a:cs typeface="Manrope" pitchFamily="34" charset="-120"/>
              </a:rPr>
              <a:t>Correctability</a:t>
            </a:r>
            <a:endParaRPr lang="en-US" sz="1600" dirty="0"/>
          </a:p>
        </p:txBody>
      </p:sp>
      <p:sp>
        <p:nvSpPr>
          <p:cNvPr id="49" name="Text 47"/>
          <p:cNvSpPr/>
          <p:nvPr/>
        </p:nvSpPr>
        <p:spPr>
          <a:xfrm>
            <a:off x="3441204" y="5026025"/>
            <a:ext cx="3102759" cy="190500"/>
          </a:xfrm>
          <a:prstGeom prst="rect">
            <a:avLst/>
          </a:prstGeom>
          <a:noFill/>
          <a:ln/>
        </p:spPr>
        <p:txBody>
          <a:bodyPr wrap="square" lIns="16933" tIns="16933" rIns="16933" bIns="16933" rtlCol="0" anchor="t">
            <a:noAutofit/>
          </a:bodyPr>
          <a:lstStyle/>
          <a:p>
            <a:r>
              <a:rPr lang="en-US" sz="1200" dirty="0">
                <a:solidFill>
                  <a:srgbClr val="1A1A1A"/>
                </a:solidFill>
                <a:ea typeface="Manrope" pitchFamily="34" charset="-122"/>
                <a:cs typeface="Manrope" pitchFamily="34" charset="-120"/>
              </a:rPr>
              <a:t>Correctability checklist</a:t>
            </a:r>
            <a:endParaRPr lang="en-US" sz="1200" dirty="0"/>
          </a:p>
        </p:txBody>
      </p:sp>
      <p:sp>
        <p:nvSpPr>
          <p:cNvPr id="50" name="Shape 48"/>
          <p:cNvSpPr/>
          <p:nvPr/>
        </p:nvSpPr>
        <p:spPr>
          <a:xfrm>
            <a:off x="6261894" y="4991100"/>
            <a:ext cx="832445" cy="234950"/>
          </a:xfrm>
          <a:prstGeom prst="roundRect">
            <a:avLst>
              <a:gd name="adj" fmla="val 50000"/>
            </a:avLst>
          </a:prstGeom>
          <a:solidFill>
            <a:srgbClr val="FBEEF1"/>
          </a:solidFill>
          <a:ln/>
        </p:spPr>
        <p:txBody>
          <a:bodyPr/>
          <a:lstStyle/>
          <a:p>
            <a:endParaRPr lang="en-GB" sz="1200"/>
          </a:p>
        </p:txBody>
      </p:sp>
      <p:sp>
        <p:nvSpPr>
          <p:cNvPr id="51" name="Text 49"/>
          <p:cNvSpPr/>
          <p:nvPr/>
        </p:nvSpPr>
        <p:spPr>
          <a:xfrm>
            <a:off x="6373745" y="5014768"/>
            <a:ext cx="1007160" cy="139607"/>
          </a:xfrm>
          <a:prstGeom prst="rect">
            <a:avLst/>
          </a:prstGeom>
          <a:noFill/>
          <a:ln/>
        </p:spPr>
        <p:txBody>
          <a:bodyPr wrap="square" lIns="16933" tIns="16933" rIns="16933" bIns="16933" rtlCol="0" anchor="t">
            <a:noAutofit/>
          </a:bodyPr>
          <a:lstStyle/>
          <a:p>
            <a:r>
              <a:rPr lang="en-US" sz="1200" b="1" dirty="0">
                <a:solidFill>
                  <a:srgbClr val="1A1A1A"/>
                </a:solidFill>
                <a:ea typeface="Manrope" pitchFamily="34" charset="-122"/>
                <a:cs typeface="Manrope" pitchFamily="34" charset="-120"/>
              </a:rPr>
              <a:t>≥ 80% met</a:t>
            </a:r>
            <a:endParaRPr lang="en-US" sz="1200" dirty="0"/>
          </a:p>
        </p:txBody>
      </p:sp>
      <p:sp>
        <p:nvSpPr>
          <p:cNvPr id="52" name="Text 50"/>
          <p:cNvSpPr/>
          <p:nvPr/>
        </p:nvSpPr>
        <p:spPr>
          <a:xfrm>
            <a:off x="7921030" y="5034359"/>
            <a:ext cx="3650317" cy="173931"/>
          </a:xfrm>
          <a:prstGeom prst="rect">
            <a:avLst/>
          </a:prstGeom>
          <a:noFill/>
          <a:ln/>
        </p:spPr>
        <p:txBody>
          <a:bodyPr wrap="square" lIns="16933" tIns="16933" rIns="16933" bIns="16933" rtlCol="0" anchor="t">
            <a:noAutofit/>
          </a:bodyPr>
          <a:lstStyle/>
          <a:p>
            <a:pPr>
              <a:lnSpc>
                <a:spcPct val="97500"/>
              </a:lnSpc>
            </a:pPr>
            <a:r>
              <a:rPr lang="en-US" sz="1200" dirty="0">
                <a:solidFill>
                  <a:srgbClr val="666666"/>
                </a:solidFill>
                <a:ea typeface="Manrope" pitchFamily="34" charset="-122"/>
                <a:cs typeface="Manrope" pitchFamily="34" charset="-120"/>
              </a:rPr>
              <a:t>Researcher-defined benchmark</a:t>
            </a:r>
            <a:endParaRPr lang="en-US" sz="1200" dirty="0"/>
          </a:p>
        </p:txBody>
      </p:sp>
      <p:sp>
        <p:nvSpPr>
          <p:cNvPr id="53" name="Shape 51"/>
          <p:cNvSpPr/>
          <p:nvPr/>
        </p:nvSpPr>
        <p:spPr>
          <a:xfrm>
            <a:off x="698500" y="5477967"/>
            <a:ext cx="10795000" cy="732333"/>
          </a:xfrm>
          <a:prstGeom prst="rect">
            <a:avLst/>
          </a:prstGeom>
          <a:solidFill>
            <a:srgbClr val="FBEEF1"/>
          </a:solidFill>
          <a:ln/>
        </p:spPr>
        <p:txBody>
          <a:bodyPr/>
          <a:lstStyle/>
          <a:p>
            <a:endParaRPr lang="en-GB" sz="1200"/>
          </a:p>
        </p:txBody>
      </p:sp>
      <p:sp>
        <p:nvSpPr>
          <p:cNvPr id="54" name="Shape 52"/>
          <p:cNvSpPr/>
          <p:nvPr/>
        </p:nvSpPr>
        <p:spPr>
          <a:xfrm>
            <a:off x="698500" y="6203950"/>
            <a:ext cx="10795000" cy="6350"/>
          </a:xfrm>
          <a:prstGeom prst="rect">
            <a:avLst/>
          </a:prstGeom>
          <a:solidFill>
            <a:srgbClr val="FBEEF1"/>
          </a:solidFill>
          <a:ln/>
        </p:spPr>
        <p:txBody>
          <a:bodyPr/>
          <a:lstStyle/>
          <a:p>
            <a:endParaRPr lang="en-GB" sz="1200"/>
          </a:p>
        </p:txBody>
      </p:sp>
      <p:sp>
        <p:nvSpPr>
          <p:cNvPr id="55" name="Shape 53"/>
          <p:cNvSpPr/>
          <p:nvPr/>
        </p:nvSpPr>
        <p:spPr>
          <a:xfrm rot="2700000">
            <a:off x="952500" y="5802809"/>
            <a:ext cx="76200" cy="76200"/>
          </a:xfrm>
          <a:prstGeom prst="roundRect">
            <a:avLst>
              <a:gd name="adj" fmla="val 33333"/>
            </a:avLst>
          </a:prstGeom>
          <a:solidFill>
            <a:srgbClr val="C9748F"/>
          </a:solidFill>
          <a:ln/>
        </p:spPr>
        <p:txBody>
          <a:bodyPr/>
          <a:lstStyle/>
          <a:p>
            <a:endParaRPr lang="en-GB" sz="1200"/>
          </a:p>
        </p:txBody>
      </p:sp>
      <p:sp>
        <p:nvSpPr>
          <p:cNvPr id="56" name="Text 54"/>
          <p:cNvSpPr/>
          <p:nvPr/>
        </p:nvSpPr>
        <p:spPr>
          <a:xfrm>
            <a:off x="1104901" y="5752009"/>
            <a:ext cx="992524" cy="142782"/>
          </a:xfrm>
          <a:prstGeom prst="rect">
            <a:avLst/>
          </a:prstGeom>
          <a:noFill/>
          <a:ln/>
        </p:spPr>
        <p:txBody>
          <a:bodyPr wrap="square" lIns="16933" tIns="16933" rIns="16933" bIns="16933" rtlCol="0" anchor="t">
            <a:noAutofit/>
          </a:bodyPr>
          <a:lstStyle/>
          <a:p>
            <a:r>
              <a:rPr lang="en-US" sz="1600" b="1" dirty="0">
                <a:solidFill>
                  <a:srgbClr val="C9748F"/>
                </a:solidFill>
                <a:latin typeface="Manrope" pitchFamily="34" charset="0"/>
                <a:ea typeface="Manrope" pitchFamily="34" charset="-122"/>
                <a:cs typeface="Manrope" pitchFamily="34" charset="-120"/>
              </a:rPr>
              <a:t>Ethicality</a:t>
            </a:r>
            <a:endParaRPr lang="en-US" sz="1600" dirty="0"/>
          </a:p>
        </p:txBody>
      </p:sp>
      <p:sp>
        <p:nvSpPr>
          <p:cNvPr id="57" name="Text 55"/>
          <p:cNvSpPr/>
          <p:nvPr/>
        </p:nvSpPr>
        <p:spPr>
          <a:xfrm>
            <a:off x="3441204" y="5758359"/>
            <a:ext cx="3102759" cy="190500"/>
          </a:xfrm>
          <a:prstGeom prst="rect">
            <a:avLst/>
          </a:prstGeom>
          <a:noFill/>
          <a:ln/>
        </p:spPr>
        <p:txBody>
          <a:bodyPr wrap="square" lIns="16933" tIns="16933" rIns="16933" bIns="16933" rtlCol="0" anchor="t">
            <a:noAutofit/>
          </a:bodyPr>
          <a:lstStyle/>
          <a:p>
            <a:r>
              <a:rPr lang="en-US" sz="1200" dirty="0">
                <a:solidFill>
                  <a:srgbClr val="1A1A1A"/>
                </a:solidFill>
                <a:ea typeface="Manrope" pitchFamily="34" charset="-122"/>
                <a:cs typeface="Manrope" pitchFamily="34" charset="-120"/>
              </a:rPr>
              <a:t>Ethics &amp; legal checklist</a:t>
            </a:r>
            <a:endParaRPr lang="en-US" sz="1200" dirty="0"/>
          </a:p>
        </p:txBody>
      </p:sp>
      <p:sp>
        <p:nvSpPr>
          <p:cNvPr id="58" name="Shape 56"/>
          <p:cNvSpPr/>
          <p:nvPr/>
        </p:nvSpPr>
        <p:spPr>
          <a:xfrm>
            <a:off x="6261894" y="5723434"/>
            <a:ext cx="832445" cy="234950"/>
          </a:xfrm>
          <a:prstGeom prst="roundRect">
            <a:avLst>
              <a:gd name="adj" fmla="val 50000"/>
            </a:avLst>
          </a:prstGeom>
          <a:solidFill>
            <a:srgbClr val="FBEEF1"/>
          </a:solidFill>
          <a:ln/>
        </p:spPr>
        <p:txBody>
          <a:bodyPr/>
          <a:lstStyle/>
          <a:p>
            <a:endParaRPr lang="en-GB" sz="1200"/>
          </a:p>
        </p:txBody>
      </p:sp>
      <p:sp>
        <p:nvSpPr>
          <p:cNvPr id="59" name="Text 57"/>
          <p:cNvSpPr/>
          <p:nvPr/>
        </p:nvSpPr>
        <p:spPr>
          <a:xfrm>
            <a:off x="6307254" y="5826919"/>
            <a:ext cx="969864" cy="185440"/>
          </a:xfrm>
          <a:prstGeom prst="rect">
            <a:avLst/>
          </a:prstGeom>
          <a:noFill/>
          <a:ln/>
        </p:spPr>
        <p:txBody>
          <a:bodyPr wrap="square" lIns="16933" tIns="16933" rIns="16933" bIns="16933" rtlCol="0" anchor="t">
            <a:noAutofit/>
          </a:bodyPr>
          <a:lstStyle/>
          <a:p>
            <a:r>
              <a:rPr lang="en-US" sz="1200" b="1" dirty="0">
                <a:solidFill>
                  <a:srgbClr val="1A1A1A"/>
                </a:solidFill>
                <a:ea typeface="Manrope" pitchFamily="34" charset="-122"/>
                <a:cs typeface="Manrope" pitchFamily="34" charset="-120"/>
              </a:rPr>
              <a:t>≥ 80% met</a:t>
            </a:r>
            <a:endParaRPr lang="en-US" sz="1200" dirty="0"/>
          </a:p>
        </p:txBody>
      </p:sp>
      <p:sp>
        <p:nvSpPr>
          <p:cNvPr id="60" name="Text 58"/>
          <p:cNvSpPr/>
          <p:nvPr/>
        </p:nvSpPr>
        <p:spPr>
          <a:xfrm>
            <a:off x="7921030" y="5766693"/>
            <a:ext cx="3650317" cy="173931"/>
          </a:xfrm>
          <a:prstGeom prst="rect">
            <a:avLst/>
          </a:prstGeom>
          <a:noFill/>
          <a:ln/>
        </p:spPr>
        <p:txBody>
          <a:bodyPr wrap="square" lIns="16933" tIns="16933" rIns="16933" bIns="16933" rtlCol="0" anchor="t">
            <a:noAutofit/>
          </a:bodyPr>
          <a:lstStyle/>
          <a:p>
            <a:pPr>
              <a:lnSpc>
                <a:spcPct val="97500"/>
              </a:lnSpc>
            </a:pPr>
            <a:r>
              <a:rPr lang="en-US" sz="1200" dirty="0">
                <a:solidFill>
                  <a:srgbClr val="666666"/>
                </a:solidFill>
                <a:ea typeface="Manrope" pitchFamily="34" charset="-122"/>
                <a:cs typeface="Manrope" pitchFamily="34" charset="-120"/>
              </a:rPr>
              <a:t>Researcher-defined benchmark</a:t>
            </a:r>
            <a:endParaRPr lang="en-US" sz="1200" dirty="0"/>
          </a:p>
        </p:txBody>
      </p:sp>
      <p:sp>
        <p:nvSpPr>
          <p:cNvPr id="61" name="Text 59"/>
          <p:cNvSpPr/>
          <p:nvPr/>
        </p:nvSpPr>
        <p:spPr>
          <a:xfrm>
            <a:off x="698500" y="6337300"/>
            <a:ext cx="1514108" cy="165100"/>
          </a:xfrm>
          <a:prstGeom prst="rect">
            <a:avLst/>
          </a:prstGeom>
          <a:noFill/>
          <a:ln/>
        </p:spPr>
        <p:txBody>
          <a:bodyPr wrap="square" lIns="16933" tIns="16933" rIns="16933" bIns="16933" rtlCol="0" anchor="t">
            <a:normAutofit/>
          </a:bodyPr>
          <a:lstStyle/>
          <a:p>
            <a:r>
              <a:rPr lang="en-US" sz="800" b="1" dirty="0">
                <a:solidFill>
                  <a:srgbClr val="999999"/>
                </a:solidFill>
                <a:latin typeface="Manrope" pitchFamily="34" charset="0"/>
                <a:ea typeface="Manrope" pitchFamily="34" charset="-122"/>
                <a:cs typeface="Manrope" pitchFamily="34" charset="-120"/>
              </a:rPr>
              <a:t>Model Evaluation Framework</a:t>
            </a:r>
            <a:endParaRPr lang="en-US" sz="800" dirty="0"/>
          </a:p>
        </p:txBody>
      </p:sp>
      <p:sp>
        <p:nvSpPr>
          <p:cNvPr id="64" name="TextBox 63">
            <a:extLst>
              <a:ext uri="{FF2B5EF4-FFF2-40B4-BE49-F238E27FC236}">
                <a16:creationId xmlns:a16="http://schemas.microsoft.com/office/drawing/2014/main" id="{A3F54AAB-8FFA-051F-DE54-8F36CA9DC5F2}"/>
              </a:ext>
            </a:extLst>
          </p:cNvPr>
          <p:cNvSpPr txBox="1"/>
          <p:nvPr/>
        </p:nvSpPr>
        <p:spPr>
          <a:xfrm>
            <a:off x="685800" y="384048"/>
            <a:ext cx="9144000" cy="320040"/>
          </a:xfrm>
          <a:prstGeom prst="rect">
            <a:avLst/>
          </a:prstGeom>
          <a:noFill/>
        </p:spPr>
        <p:txBody>
          <a:bodyPr wrap="square" lIns="0" tIns="0" rIns="0" bIns="0" anchor="t">
            <a:spAutoFit/>
          </a:bodyPr>
          <a:lstStyle/>
          <a:p>
            <a:pPr algn="l">
              <a:lnSpc>
                <a:spcPct val="100000"/>
              </a:lnSpc>
            </a:pPr>
            <a:r>
              <a:rPr sz="1300" b="1" i="0" dirty="0">
                <a:solidFill>
                  <a:srgbClr val="C9748F"/>
                </a:solidFill>
                <a:latin typeface="Calibri"/>
              </a:rPr>
              <a:t>METHODOLOGY</a:t>
            </a:r>
          </a:p>
        </p:txBody>
      </p:sp>
      <p:sp>
        <p:nvSpPr>
          <p:cNvPr id="3" name="TextBox 2">
            <a:extLst>
              <a:ext uri="{FF2B5EF4-FFF2-40B4-BE49-F238E27FC236}">
                <a16:creationId xmlns:a16="http://schemas.microsoft.com/office/drawing/2014/main" id="{C37813BD-92FE-DC53-E8BD-ABE88C1DCE10}"/>
              </a:ext>
            </a:extLst>
          </p:cNvPr>
          <p:cNvSpPr txBox="1"/>
          <p:nvPr/>
        </p:nvSpPr>
        <p:spPr>
          <a:xfrm>
            <a:off x="11521440" y="6510528"/>
            <a:ext cx="457200" cy="146194"/>
          </a:xfrm>
          <a:prstGeom prst="rect">
            <a:avLst/>
          </a:prstGeom>
          <a:noFill/>
        </p:spPr>
        <p:txBody>
          <a:bodyPr wrap="square" lIns="0" tIns="0" rIns="0" bIns="0" anchor="t">
            <a:spAutoFit/>
          </a:bodyPr>
          <a:lstStyle/>
          <a:p>
            <a:pPr algn="r">
              <a:lnSpc>
                <a:spcPct val="100000"/>
              </a:lnSpc>
            </a:pPr>
            <a:r>
              <a:rPr lang="en-GB" sz="950" b="0" i="0" dirty="0">
                <a:solidFill>
                  <a:srgbClr val="999999"/>
                </a:solidFill>
                <a:latin typeface="Calibri"/>
              </a:rPr>
              <a:t>5</a:t>
            </a:r>
            <a:endParaRPr sz="950" b="0" i="0" dirty="0">
              <a:solidFill>
                <a:srgbClr val="999999"/>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2" name="TextBox 1"/>
          <p:cNvSpPr txBox="1"/>
          <p:nvPr/>
        </p:nvSpPr>
        <p:spPr>
          <a:xfrm>
            <a:off x="685800" y="384048"/>
            <a:ext cx="9144000" cy="320040"/>
          </a:xfrm>
          <a:prstGeom prst="rect">
            <a:avLst/>
          </a:prstGeom>
          <a:noFill/>
        </p:spPr>
        <p:txBody>
          <a:bodyPr wrap="square" lIns="0" tIns="0" rIns="0" bIns="0" anchor="t">
            <a:spAutoFit/>
          </a:bodyPr>
          <a:lstStyle/>
          <a:p>
            <a:pPr algn="l">
              <a:lnSpc>
                <a:spcPct val="100000"/>
              </a:lnSpc>
            </a:pPr>
            <a:r>
              <a:rPr sz="1300" b="1" i="0" dirty="0">
                <a:solidFill>
                  <a:srgbClr val="C9748F"/>
                </a:solidFill>
                <a:latin typeface="Calibri"/>
              </a:rPr>
              <a:t>METHODOLOGY</a:t>
            </a:r>
          </a:p>
        </p:txBody>
      </p:sp>
      <p:sp>
        <p:nvSpPr>
          <p:cNvPr id="3" name="TextBox 2"/>
          <p:cNvSpPr txBox="1"/>
          <p:nvPr/>
        </p:nvSpPr>
        <p:spPr>
          <a:xfrm>
            <a:off x="685800" y="658368"/>
            <a:ext cx="10789920" cy="914400"/>
          </a:xfrm>
          <a:prstGeom prst="rect">
            <a:avLst/>
          </a:prstGeom>
          <a:noFill/>
        </p:spPr>
        <p:txBody>
          <a:bodyPr wrap="square" lIns="0" tIns="0" rIns="0" bIns="0" anchor="t">
            <a:spAutoFit/>
          </a:bodyPr>
          <a:lstStyle/>
          <a:p>
            <a:pPr algn="l">
              <a:lnSpc>
                <a:spcPct val="102000"/>
              </a:lnSpc>
            </a:pPr>
            <a:r>
              <a:rPr sz="3000" b="1" i="0">
                <a:solidFill>
                  <a:srgbClr val="1A1A1A"/>
                </a:solidFill>
                <a:latin typeface="Georgia"/>
              </a:rPr>
              <a:t>The Model and the Pipeline</a:t>
            </a:r>
          </a:p>
        </p:txBody>
      </p:sp>
      <p:sp>
        <p:nvSpPr>
          <p:cNvPr id="4" name="Rounded Rectangle 3"/>
          <p:cNvSpPr/>
          <p:nvPr/>
        </p:nvSpPr>
        <p:spPr>
          <a:xfrm>
            <a:off x="685800" y="1691640"/>
            <a:ext cx="2587752" cy="1051560"/>
          </a:xfrm>
          <a:prstGeom prst="roundRect">
            <a:avLst>
              <a:gd name="adj" fmla="val 8000"/>
            </a:avLst>
          </a:prstGeom>
          <a:solidFill>
            <a:srgbClr val="F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1856232"/>
            <a:ext cx="2221992" cy="320040"/>
          </a:xfrm>
          <a:prstGeom prst="rect">
            <a:avLst/>
          </a:prstGeom>
          <a:noFill/>
        </p:spPr>
        <p:txBody>
          <a:bodyPr wrap="square" lIns="0" tIns="0" rIns="0" bIns="0" anchor="t">
            <a:spAutoFit/>
          </a:bodyPr>
          <a:lstStyle/>
          <a:p>
            <a:pPr algn="l">
              <a:lnSpc>
                <a:spcPct val="100000"/>
              </a:lnSpc>
            </a:pPr>
            <a:r>
              <a:rPr sz="1050" b="1" i="0">
                <a:solidFill>
                  <a:srgbClr val="C9748F"/>
                </a:solidFill>
                <a:latin typeface="Calibri"/>
              </a:rPr>
              <a:t>ALGORITHM</a:t>
            </a:r>
          </a:p>
        </p:txBody>
      </p:sp>
      <p:sp>
        <p:nvSpPr>
          <p:cNvPr id="6" name="TextBox 5"/>
          <p:cNvSpPr txBox="1"/>
          <p:nvPr/>
        </p:nvSpPr>
        <p:spPr>
          <a:xfrm>
            <a:off x="886968" y="2176272"/>
            <a:ext cx="2221992" cy="502920"/>
          </a:xfrm>
          <a:prstGeom prst="rect">
            <a:avLst/>
          </a:prstGeom>
          <a:noFill/>
        </p:spPr>
        <p:txBody>
          <a:bodyPr wrap="square" lIns="0" tIns="0" rIns="0" bIns="0" anchor="t">
            <a:spAutoFit/>
          </a:bodyPr>
          <a:lstStyle/>
          <a:p>
            <a:pPr algn="l">
              <a:lnSpc>
                <a:spcPct val="100000"/>
              </a:lnSpc>
            </a:pPr>
            <a:r>
              <a:rPr sz="1250" b="1" i="0">
                <a:solidFill>
                  <a:srgbClr val="1A1A1A"/>
                </a:solidFill>
                <a:latin typeface="Calibri"/>
              </a:rPr>
              <a:t>Logistic regression classifier</a:t>
            </a:r>
          </a:p>
        </p:txBody>
      </p:sp>
      <p:sp>
        <p:nvSpPr>
          <p:cNvPr id="7" name="Rounded Rectangle 6"/>
          <p:cNvSpPr/>
          <p:nvPr/>
        </p:nvSpPr>
        <p:spPr>
          <a:xfrm>
            <a:off x="3410712" y="1691640"/>
            <a:ext cx="2587752" cy="1051560"/>
          </a:xfrm>
          <a:prstGeom prst="roundRect">
            <a:avLst>
              <a:gd name="adj" fmla="val 8000"/>
            </a:avLst>
          </a:prstGeom>
          <a:solidFill>
            <a:srgbClr val="F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11880" y="1856232"/>
            <a:ext cx="2221992" cy="320040"/>
          </a:xfrm>
          <a:prstGeom prst="rect">
            <a:avLst/>
          </a:prstGeom>
          <a:noFill/>
        </p:spPr>
        <p:txBody>
          <a:bodyPr wrap="square" lIns="0" tIns="0" rIns="0" bIns="0" anchor="t">
            <a:spAutoFit/>
          </a:bodyPr>
          <a:lstStyle/>
          <a:p>
            <a:pPr algn="l">
              <a:lnSpc>
                <a:spcPct val="100000"/>
              </a:lnSpc>
            </a:pPr>
            <a:r>
              <a:rPr sz="1050" b="1" i="0">
                <a:solidFill>
                  <a:srgbClr val="C9748F"/>
                </a:solidFill>
                <a:latin typeface="Calibri"/>
              </a:rPr>
              <a:t>DATA</a:t>
            </a:r>
          </a:p>
        </p:txBody>
      </p:sp>
      <p:sp>
        <p:nvSpPr>
          <p:cNvPr id="9" name="TextBox 8"/>
          <p:cNvSpPr txBox="1"/>
          <p:nvPr/>
        </p:nvSpPr>
        <p:spPr>
          <a:xfrm>
            <a:off x="3611880" y="2176272"/>
            <a:ext cx="2221992" cy="502920"/>
          </a:xfrm>
          <a:prstGeom prst="rect">
            <a:avLst/>
          </a:prstGeom>
          <a:noFill/>
        </p:spPr>
        <p:txBody>
          <a:bodyPr wrap="square" lIns="0" tIns="0" rIns="0" bIns="0" anchor="t">
            <a:spAutoFit/>
          </a:bodyPr>
          <a:lstStyle/>
          <a:p>
            <a:pPr algn="l">
              <a:lnSpc>
                <a:spcPct val="100000"/>
              </a:lnSpc>
            </a:pPr>
            <a:r>
              <a:rPr sz="1250" b="1" i="0">
                <a:solidFill>
                  <a:srgbClr val="1A1A1A"/>
                </a:solidFill>
                <a:latin typeface="Calibri"/>
              </a:rPr>
              <a:t>UCI Heart Disease — 918 records</a:t>
            </a:r>
          </a:p>
        </p:txBody>
      </p:sp>
      <p:sp>
        <p:nvSpPr>
          <p:cNvPr id="10" name="Rounded Rectangle 9"/>
          <p:cNvSpPr/>
          <p:nvPr/>
        </p:nvSpPr>
        <p:spPr>
          <a:xfrm>
            <a:off x="6135624" y="1691640"/>
            <a:ext cx="2587752" cy="1051560"/>
          </a:xfrm>
          <a:prstGeom prst="roundRect">
            <a:avLst>
              <a:gd name="adj" fmla="val 8000"/>
            </a:avLst>
          </a:prstGeom>
          <a:solidFill>
            <a:srgbClr val="F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36792" y="1856232"/>
            <a:ext cx="2221992" cy="320040"/>
          </a:xfrm>
          <a:prstGeom prst="rect">
            <a:avLst/>
          </a:prstGeom>
          <a:noFill/>
        </p:spPr>
        <p:txBody>
          <a:bodyPr wrap="square" lIns="0" tIns="0" rIns="0" bIns="0" anchor="t">
            <a:spAutoFit/>
          </a:bodyPr>
          <a:lstStyle/>
          <a:p>
            <a:pPr algn="l">
              <a:lnSpc>
                <a:spcPct val="100000"/>
              </a:lnSpc>
            </a:pPr>
            <a:r>
              <a:rPr sz="1050" b="1" i="0">
                <a:solidFill>
                  <a:srgbClr val="C9748F"/>
                </a:solidFill>
                <a:latin typeface="Calibri"/>
              </a:rPr>
              <a:t>SPLIT</a:t>
            </a:r>
          </a:p>
        </p:txBody>
      </p:sp>
      <p:sp>
        <p:nvSpPr>
          <p:cNvPr id="12" name="TextBox 11"/>
          <p:cNvSpPr txBox="1"/>
          <p:nvPr/>
        </p:nvSpPr>
        <p:spPr>
          <a:xfrm>
            <a:off x="6336792" y="2176272"/>
            <a:ext cx="2221992" cy="502920"/>
          </a:xfrm>
          <a:prstGeom prst="rect">
            <a:avLst/>
          </a:prstGeom>
          <a:noFill/>
        </p:spPr>
        <p:txBody>
          <a:bodyPr wrap="square" lIns="0" tIns="0" rIns="0" bIns="0" anchor="t">
            <a:spAutoFit/>
          </a:bodyPr>
          <a:lstStyle/>
          <a:p>
            <a:pPr algn="l">
              <a:lnSpc>
                <a:spcPct val="100000"/>
              </a:lnSpc>
            </a:pPr>
            <a:r>
              <a:rPr sz="1250" b="1" i="0">
                <a:solidFill>
                  <a:srgbClr val="1A1A1A"/>
                </a:solidFill>
                <a:latin typeface="Calibri"/>
              </a:rPr>
              <a:t>734 / 184, stratified 80/20</a:t>
            </a:r>
          </a:p>
        </p:txBody>
      </p:sp>
      <p:sp>
        <p:nvSpPr>
          <p:cNvPr id="13" name="Rounded Rectangle 12"/>
          <p:cNvSpPr/>
          <p:nvPr/>
        </p:nvSpPr>
        <p:spPr>
          <a:xfrm>
            <a:off x="8860536" y="1691640"/>
            <a:ext cx="2587752" cy="1051560"/>
          </a:xfrm>
          <a:prstGeom prst="roundRect">
            <a:avLst>
              <a:gd name="adj" fmla="val 8000"/>
            </a:avLst>
          </a:prstGeom>
          <a:solidFill>
            <a:srgbClr val="F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61704" y="1856232"/>
            <a:ext cx="2221992" cy="320040"/>
          </a:xfrm>
          <a:prstGeom prst="rect">
            <a:avLst/>
          </a:prstGeom>
          <a:noFill/>
        </p:spPr>
        <p:txBody>
          <a:bodyPr wrap="square" lIns="0" tIns="0" rIns="0" bIns="0" anchor="t">
            <a:spAutoFit/>
          </a:bodyPr>
          <a:lstStyle/>
          <a:p>
            <a:pPr algn="l">
              <a:lnSpc>
                <a:spcPct val="100000"/>
              </a:lnSpc>
            </a:pPr>
            <a:r>
              <a:rPr sz="1050" b="1" i="0">
                <a:solidFill>
                  <a:srgbClr val="C9748F"/>
                </a:solidFill>
                <a:latin typeface="Calibri"/>
              </a:rPr>
              <a:t>PREDICTS</a:t>
            </a:r>
          </a:p>
        </p:txBody>
      </p:sp>
      <p:sp>
        <p:nvSpPr>
          <p:cNvPr id="15" name="TextBox 14"/>
          <p:cNvSpPr txBox="1"/>
          <p:nvPr/>
        </p:nvSpPr>
        <p:spPr>
          <a:xfrm>
            <a:off x="9061704" y="2176272"/>
            <a:ext cx="2221992" cy="502920"/>
          </a:xfrm>
          <a:prstGeom prst="rect">
            <a:avLst/>
          </a:prstGeom>
          <a:noFill/>
        </p:spPr>
        <p:txBody>
          <a:bodyPr wrap="square" lIns="0" tIns="0" rIns="0" bIns="0" anchor="t">
            <a:spAutoFit/>
          </a:bodyPr>
          <a:lstStyle/>
          <a:p>
            <a:pPr algn="l">
              <a:lnSpc>
                <a:spcPct val="100000"/>
              </a:lnSpc>
            </a:pPr>
            <a:r>
              <a:rPr sz="1250" b="1" i="0">
                <a:solidFill>
                  <a:srgbClr val="1A1A1A"/>
                </a:solidFill>
                <a:latin typeface="Calibri"/>
              </a:rPr>
              <a:t>Presence of heart disease</a:t>
            </a:r>
          </a:p>
        </p:txBody>
      </p:sp>
      <p:sp>
        <p:nvSpPr>
          <p:cNvPr id="16" name="TextBox 15"/>
          <p:cNvSpPr txBox="1"/>
          <p:nvPr/>
        </p:nvSpPr>
        <p:spPr>
          <a:xfrm>
            <a:off x="685800" y="2926080"/>
            <a:ext cx="5486400" cy="320040"/>
          </a:xfrm>
          <a:prstGeom prst="rect">
            <a:avLst/>
          </a:prstGeom>
          <a:noFill/>
        </p:spPr>
        <p:txBody>
          <a:bodyPr wrap="square" lIns="0" tIns="0" rIns="0" bIns="0" anchor="t">
            <a:spAutoFit/>
          </a:bodyPr>
          <a:lstStyle/>
          <a:p>
            <a:pPr algn="l">
              <a:lnSpc>
                <a:spcPct val="100000"/>
              </a:lnSpc>
            </a:pPr>
            <a:r>
              <a:rPr sz="1250" b="1" i="0">
                <a:solidFill>
                  <a:srgbClr val="C9748F"/>
                </a:solidFill>
                <a:latin typeface="Calibri"/>
              </a:rPr>
              <a:t>THE PIPELINE</a:t>
            </a:r>
          </a:p>
        </p:txBody>
      </p:sp>
      <p:sp>
        <p:nvSpPr>
          <p:cNvPr id="17" name="Rounded Rectangle 16"/>
          <p:cNvSpPr/>
          <p:nvPr/>
        </p:nvSpPr>
        <p:spPr>
          <a:xfrm>
            <a:off x="685800" y="3383280"/>
            <a:ext cx="1874519" cy="96012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3547872"/>
            <a:ext cx="1691639" cy="685800"/>
          </a:xfrm>
          <a:prstGeom prst="rect">
            <a:avLst/>
          </a:prstGeom>
          <a:noFill/>
        </p:spPr>
        <p:txBody>
          <a:bodyPr wrap="square" lIns="0" tIns="0" rIns="0" bIns="0" anchor="ctr">
            <a:spAutoFit/>
          </a:bodyPr>
          <a:lstStyle/>
          <a:p>
            <a:pPr algn="ctr">
              <a:lnSpc>
                <a:spcPct val="115000"/>
              </a:lnSpc>
            </a:pPr>
            <a:r>
              <a:rPr sz="1200" b="1" i="0">
                <a:solidFill>
                  <a:srgbClr val="1A1A1A"/>
                </a:solidFill>
                <a:latin typeface="Calibri"/>
              </a:rPr>
              <a:t>918 patient</a:t>
            </a:r>
          </a:p>
          <a:p>
            <a:pPr algn="ctr">
              <a:lnSpc>
                <a:spcPct val="115000"/>
              </a:lnSpc>
            </a:pPr>
            <a:r>
              <a:rPr sz="1200" b="1" i="0">
                <a:solidFill>
                  <a:srgbClr val="1A1A1A"/>
                </a:solidFill>
                <a:latin typeface="Calibri"/>
              </a:rPr>
              <a:t>records</a:t>
            </a:r>
          </a:p>
        </p:txBody>
      </p:sp>
      <p:sp>
        <p:nvSpPr>
          <p:cNvPr id="19" name="TextBox 18"/>
          <p:cNvSpPr txBox="1"/>
          <p:nvPr/>
        </p:nvSpPr>
        <p:spPr>
          <a:xfrm>
            <a:off x="2560320" y="3520440"/>
            <a:ext cx="292608" cy="731520"/>
          </a:xfrm>
          <a:prstGeom prst="rect">
            <a:avLst/>
          </a:prstGeom>
          <a:noFill/>
        </p:spPr>
        <p:txBody>
          <a:bodyPr wrap="square" lIns="0" tIns="0" rIns="0" bIns="0" anchor="ctr">
            <a:spAutoFit/>
          </a:bodyPr>
          <a:lstStyle/>
          <a:p>
            <a:pPr algn="ctr">
              <a:lnSpc>
                <a:spcPct val="100000"/>
              </a:lnSpc>
            </a:pPr>
            <a:r>
              <a:rPr sz="2000" b="0" i="0">
                <a:solidFill>
                  <a:srgbClr val="C9748F"/>
                </a:solidFill>
                <a:latin typeface="Calibri"/>
              </a:rPr>
              <a:t>→</a:t>
            </a:r>
          </a:p>
        </p:txBody>
      </p:sp>
      <p:sp>
        <p:nvSpPr>
          <p:cNvPr id="20" name="Rounded Rectangle 19"/>
          <p:cNvSpPr/>
          <p:nvPr/>
        </p:nvSpPr>
        <p:spPr>
          <a:xfrm>
            <a:off x="2852927" y="3383280"/>
            <a:ext cx="1874519" cy="96012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944368" y="3547872"/>
            <a:ext cx="1691639" cy="685800"/>
          </a:xfrm>
          <a:prstGeom prst="rect">
            <a:avLst/>
          </a:prstGeom>
          <a:noFill/>
        </p:spPr>
        <p:txBody>
          <a:bodyPr wrap="square" lIns="0" tIns="0" rIns="0" bIns="0" anchor="ctr">
            <a:spAutoFit/>
          </a:bodyPr>
          <a:lstStyle/>
          <a:p>
            <a:pPr algn="ctr">
              <a:lnSpc>
                <a:spcPct val="115000"/>
              </a:lnSpc>
            </a:pPr>
            <a:r>
              <a:rPr sz="1200" b="1" i="0">
                <a:solidFill>
                  <a:srgbClr val="1A1A1A"/>
                </a:solidFill>
                <a:latin typeface="Calibri"/>
              </a:rPr>
              <a:t>734 train /</a:t>
            </a:r>
          </a:p>
          <a:p>
            <a:pPr algn="ctr">
              <a:lnSpc>
                <a:spcPct val="115000"/>
              </a:lnSpc>
            </a:pPr>
            <a:r>
              <a:rPr sz="1200" b="1" i="0">
                <a:solidFill>
                  <a:srgbClr val="1A1A1A"/>
                </a:solidFill>
                <a:latin typeface="Calibri"/>
              </a:rPr>
              <a:t>184 test</a:t>
            </a:r>
          </a:p>
        </p:txBody>
      </p:sp>
      <p:sp>
        <p:nvSpPr>
          <p:cNvPr id="22" name="TextBox 21"/>
          <p:cNvSpPr txBox="1"/>
          <p:nvPr/>
        </p:nvSpPr>
        <p:spPr>
          <a:xfrm>
            <a:off x="4727448" y="3520440"/>
            <a:ext cx="292608" cy="731520"/>
          </a:xfrm>
          <a:prstGeom prst="rect">
            <a:avLst/>
          </a:prstGeom>
          <a:noFill/>
        </p:spPr>
        <p:txBody>
          <a:bodyPr wrap="square" lIns="0" tIns="0" rIns="0" bIns="0" anchor="ctr">
            <a:spAutoFit/>
          </a:bodyPr>
          <a:lstStyle/>
          <a:p>
            <a:pPr algn="ctr">
              <a:lnSpc>
                <a:spcPct val="100000"/>
              </a:lnSpc>
            </a:pPr>
            <a:r>
              <a:rPr sz="2000" b="0" i="0">
                <a:solidFill>
                  <a:srgbClr val="C9748F"/>
                </a:solidFill>
                <a:latin typeface="Calibri"/>
              </a:rPr>
              <a:t>→</a:t>
            </a:r>
          </a:p>
        </p:txBody>
      </p:sp>
      <p:sp>
        <p:nvSpPr>
          <p:cNvPr id="23" name="Rounded Rectangle 22"/>
          <p:cNvSpPr/>
          <p:nvPr/>
        </p:nvSpPr>
        <p:spPr>
          <a:xfrm>
            <a:off x="5020055" y="3383280"/>
            <a:ext cx="1874519" cy="96012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111495" y="3547872"/>
            <a:ext cx="1691639" cy="685800"/>
          </a:xfrm>
          <a:prstGeom prst="rect">
            <a:avLst/>
          </a:prstGeom>
          <a:noFill/>
        </p:spPr>
        <p:txBody>
          <a:bodyPr wrap="square" lIns="0" tIns="0" rIns="0" bIns="0" anchor="ctr">
            <a:spAutoFit/>
          </a:bodyPr>
          <a:lstStyle/>
          <a:p>
            <a:pPr algn="ctr">
              <a:lnSpc>
                <a:spcPct val="115000"/>
              </a:lnSpc>
            </a:pPr>
            <a:r>
              <a:rPr sz="1200" b="1" i="0">
                <a:solidFill>
                  <a:srgbClr val="1A1A1A"/>
                </a:solidFill>
                <a:latin typeface="Calibri"/>
              </a:rPr>
              <a:t>6 criteria</a:t>
            </a:r>
          </a:p>
          <a:p>
            <a:pPr algn="ctr">
              <a:lnSpc>
                <a:spcPct val="115000"/>
              </a:lnSpc>
            </a:pPr>
            <a:r>
              <a:rPr sz="1200" b="1" i="0">
                <a:solidFill>
                  <a:srgbClr val="1A1A1A"/>
                </a:solidFill>
                <a:latin typeface="Calibri"/>
              </a:rPr>
              <a:t>tested</a:t>
            </a:r>
          </a:p>
        </p:txBody>
      </p:sp>
      <p:sp>
        <p:nvSpPr>
          <p:cNvPr id="25" name="TextBox 24"/>
          <p:cNvSpPr txBox="1"/>
          <p:nvPr/>
        </p:nvSpPr>
        <p:spPr>
          <a:xfrm>
            <a:off x="6894575" y="3520440"/>
            <a:ext cx="292608" cy="731520"/>
          </a:xfrm>
          <a:prstGeom prst="rect">
            <a:avLst/>
          </a:prstGeom>
          <a:noFill/>
        </p:spPr>
        <p:txBody>
          <a:bodyPr wrap="square" lIns="0" tIns="0" rIns="0" bIns="0" anchor="ctr">
            <a:spAutoFit/>
          </a:bodyPr>
          <a:lstStyle/>
          <a:p>
            <a:pPr algn="ctr">
              <a:lnSpc>
                <a:spcPct val="100000"/>
              </a:lnSpc>
            </a:pPr>
            <a:r>
              <a:rPr sz="2000" b="0" i="0">
                <a:solidFill>
                  <a:srgbClr val="C9748F"/>
                </a:solidFill>
                <a:latin typeface="Calibri"/>
              </a:rPr>
              <a:t>→</a:t>
            </a:r>
          </a:p>
        </p:txBody>
      </p:sp>
      <p:sp>
        <p:nvSpPr>
          <p:cNvPr id="26" name="Rounded Rectangle 25"/>
          <p:cNvSpPr/>
          <p:nvPr/>
        </p:nvSpPr>
        <p:spPr>
          <a:xfrm>
            <a:off x="7187183" y="3383280"/>
            <a:ext cx="1874519" cy="96012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278623" y="3547872"/>
            <a:ext cx="1691639" cy="685800"/>
          </a:xfrm>
          <a:prstGeom prst="rect">
            <a:avLst/>
          </a:prstGeom>
          <a:noFill/>
        </p:spPr>
        <p:txBody>
          <a:bodyPr wrap="square" lIns="0" tIns="0" rIns="0" bIns="0" anchor="ctr">
            <a:spAutoFit/>
          </a:bodyPr>
          <a:lstStyle/>
          <a:p>
            <a:pPr algn="ctr">
              <a:lnSpc>
                <a:spcPct val="115000"/>
              </a:lnSpc>
            </a:pPr>
            <a:r>
              <a:rPr sz="1200" b="1" i="0">
                <a:solidFill>
                  <a:srgbClr val="1A1A1A"/>
                </a:solidFill>
                <a:latin typeface="Calibri"/>
              </a:rPr>
              <a:t>2 mitigations</a:t>
            </a:r>
          </a:p>
          <a:p>
            <a:pPr algn="ctr">
              <a:lnSpc>
                <a:spcPct val="115000"/>
              </a:lnSpc>
            </a:pPr>
            <a:r>
              <a:rPr sz="1200" b="1" i="0">
                <a:solidFill>
                  <a:srgbClr val="1A1A1A"/>
                </a:solidFill>
                <a:latin typeface="Calibri"/>
              </a:rPr>
              <a:t>applied</a:t>
            </a:r>
          </a:p>
        </p:txBody>
      </p:sp>
      <p:sp>
        <p:nvSpPr>
          <p:cNvPr id="28" name="TextBox 27"/>
          <p:cNvSpPr txBox="1"/>
          <p:nvPr/>
        </p:nvSpPr>
        <p:spPr>
          <a:xfrm>
            <a:off x="9061704" y="3520440"/>
            <a:ext cx="292608" cy="731520"/>
          </a:xfrm>
          <a:prstGeom prst="rect">
            <a:avLst/>
          </a:prstGeom>
          <a:noFill/>
        </p:spPr>
        <p:txBody>
          <a:bodyPr wrap="square" lIns="0" tIns="0" rIns="0" bIns="0" anchor="ctr">
            <a:spAutoFit/>
          </a:bodyPr>
          <a:lstStyle/>
          <a:p>
            <a:pPr algn="ctr">
              <a:lnSpc>
                <a:spcPct val="100000"/>
              </a:lnSpc>
            </a:pPr>
            <a:r>
              <a:rPr sz="2000" b="0" i="0">
                <a:solidFill>
                  <a:srgbClr val="C9748F"/>
                </a:solidFill>
                <a:latin typeface="Calibri"/>
              </a:rPr>
              <a:t>→</a:t>
            </a:r>
          </a:p>
        </p:txBody>
      </p:sp>
      <p:sp>
        <p:nvSpPr>
          <p:cNvPr id="29" name="Rounded Rectangle 28"/>
          <p:cNvSpPr/>
          <p:nvPr/>
        </p:nvSpPr>
        <p:spPr>
          <a:xfrm>
            <a:off x="9354311" y="3383280"/>
            <a:ext cx="1874519" cy="96012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445751" y="3547872"/>
            <a:ext cx="1691639" cy="685800"/>
          </a:xfrm>
          <a:prstGeom prst="rect">
            <a:avLst/>
          </a:prstGeom>
          <a:noFill/>
        </p:spPr>
        <p:txBody>
          <a:bodyPr wrap="square" lIns="0" tIns="0" rIns="0" bIns="0" anchor="ctr">
            <a:spAutoFit/>
          </a:bodyPr>
          <a:lstStyle/>
          <a:p>
            <a:pPr algn="ctr">
              <a:lnSpc>
                <a:spcPct val="115000"/>
              </a:lnSpc>
            </a:pPr>
            <a:r>
              <a:rPr sz="1200" b="1" i="0">
                <a:solidFill>
                  <a:srgbClr val="1A1A1A"/>
                </a:solidFill>
                <a:latin typeface="Calibri"/>
              </a:rPr>
              <a:t>Re-tested</a:t>
            </a:r>
          </a:p>
          <a:p>
            <a:pPr algn="ctr">
              <a:lnSpc>
                <a:spcPct val="115000"/>
              </a:lnSpc>
            </a:pPr>
            <a:r>
              <a:rPr sz="1200" b="1" i="0">
                <a:solidFill>
                  <a:srgbClr val="1A1A1A"/>
                </a:solidFill>
                <a:latin typeface="Calibri"/>
              </a:rPr>
              <a:t>on all 6</a:t>
            </a:r>
          </a:p>
        </p:txBody>
      </p:sp>
      <p:sp>
        <p:nvSpPr>
          <p:cNvPr id="35" name="TextBox 34"/>
          <p:cNvSpPr txBox="1"/>
          <p:nvPr/>
        </p:nvSpPr>
        <p:spPr>
          <a:xfrm>
            <a:off x="685800" y="6510528"/>
            <a:ext cx="6400800" cy="274320"/>
          </a:xfrm>
          <a:prstGeom prst="rect">
            <a:avLst/>
          </a:prstGeom>
          <a:noFill/>
        </p:spPr>
        <p:txBody>
          <a:bodyPr wrap="square" lIns="0" tIns="0" rIns="0" bIns="0" anchor="t">
            <a:spAutoFit/>
          </a:bodyPr>
          <a:lstStyle/>
          <a:p>
            <a:pPr algn="l">
              <a:lnSpc>
                <a:spcPct val="100000"/>
              </a:lnSpc>
            </a:pPr>
            <a:r>
              <a:rPr sz="950" b="0" i="0">
                <a:solidFill>
                  <a:srgbClr val="999999"/>
                </a:solidFill>
                <a:latin typeface="Calibri"/>
              </a:rPr>
              <a:t>Procedural Fairness in Healthcare AI</a:t>
            </a:r>
          </a:p>
        </p:txBody>
      </p:sp>
      <p:sp>
        <p:nvSpPr>
          <p:cNvPr id="36" name="TextBox 35"/>
          <p:cNvSpPr txBox="1"/>
          <p:nvPr/>
        </p:nvSpPr>
        <p:spPr>
          <a:xfrm>
            <a:off x="11521440" y="6510528"/>
            <a:ext cx="457200" cy="146194"/>
          </a:xfrm>
          <a:prstGeom prst="rect">
            <a:avLst/>
          </a:prstGeom>
          <a:noFill/>
        </p:spPr>
        <p:txBody>
          <a:bodyPr wrap="square" lIns="0" tIns="0" rIns="0" bIns="0" anchor="t">
            <a:spAutoFit/>
          </a:bodyPr>
          <a:lstStyle/>
          <a:p>
            <a:pPr algn="r">
              <a:lnSpc>
                <a:spcPct val="100000"/>
              </a:lnSpc>
            </a:pPr>
            <a:r>
              <a:rPr lang="en-GB" sz="950" dirty="0">
                <a:solidFill>
                  <a:srgbClr val="999999"/>
                </a:solidFill>
                <a:latin typeface="Calibri"/>
              </a:rPr>
              <a:t>6</a:t>
            </a:r>
            <a:endParaRPr sz="950" b="0" i="0" dirty="0">
              <a:solidFill>
                <a:srgbClr val="999999"/>
              </a:solidFill>
              <a:latin typeface="Calibri"/>
            </a:endParaRPr>
          </a:p>
        </p:txBody>
      </p:sp>
      <p:sp>
        <p:nvSpPr>
          <p:cNvPr id="38" name="Rounded Rectangle 30">
            <a:extLst>
              <a:ext uri="{FF2B5EF4-FFF2-40B4-BE49-F238E27FC236}">
                <a16:creationId xmlns:a16="http://schemas.microsoft.com/office/drawing/2014/main" id="{9298A441-5498-A30A-74CE-82DEAA880F73}"/>
              </a:ext>
            </a:extLst>
          </p:cNvPr>
          <p:cNvSpPr/>
          <p:nvPr/>
        </p:nvSpPr>
        <p:spPr>
          <a:xfrm>
            <a:off x="685800" y="4800600"/>
            <a:ext cx="10789920" cy="10058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a:extLst>
              <a:ext uri="{FF2B5EF4-FFF2-40B4-BE49-F238E27FC236}">
                <a16:creationId xmlns:a16="http://schemas.microsoft.com/office/drawing/2014/main" id="{BAB82A3F-7BE6-9C54-3CEC-0F52D901D1D3}"/>
              </a:ext>
            </a:extLst>
          </p:cNvPr>
          <p:cNvSpPr/>
          <p:nvPr/>
        </p:nvSpPr>
        <p:spPr>
          <a:xfrm>
            <a:off x="685800" y="4800600"/>
            <a:ext cx="64008" cy="1005840"/>
          </a:xfrm>
          <a:prstGeom prst="rect">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19242092-C994-F2DD-9C46-6BF023BF61F6}"/>
              </a:ext>
            </a:extLst>
          </p:cNvPr>
          <p:cNvSpPr txBox="1"/>
          <p:nvPr/>
        </p:nvSpPr>
        <p:spPr>
          <a:xfrm>
            <a:off x="960120" y="4956048"/>
            <a:ext cx="10241280" cy="200055"/>
          </a:xfrm>
          <a:prstGeom prst="rect">
            <a:avLst/>
          </a:prstGeom>
          <a:noFill/>
        </p:spPr>
        <p:txBody>
          <a:bodyPr wrap="square" lIns="0" tIns="0" rIns="0" bIns="0" anchor="t">
            <a:spAutoFit/>
          </a:bodyPr>
          <a:lstStyle/>
          <a:p>
            <a:pPr algn="l">
              <a:lnSpc>
                <a:spcPct val="100000"/>
              </a:lnSpc>
            </a:pPr>
            <a:r>
              <a:rPr lang="en-GB" sz="1300" b="1" i="0" dirty="0">
                <a:solidFill>
                  <a:srgbClr val="1A1A1A"/>
                </a:solidFill>
                <a:latin typeface="Calibri"/>
              </a:rPr>
              <a:t>Why a logistic model</a:t>
            </a:r>
            <a:r>
              <a:rPr sz="1300" b="1" i="0" dirty="0">
                <a:solidFill>
                  <a:srgbClr val="1A1A1A"/>
                </a:solidFill>
                <a:latin typeface="Calibri"/>
              </a:rPr>
              <a:t>?</a:t>
            </a:r>
          </a:p>
        </p:txBody>
      </p:sp>
      <p:sp>
        <p:nvSpPr>
          <p:cNvPr id="44" name="TextBox 43">
            <a:extLst>
              <a:ext uri="{FF2B5EF4-FFF2-40B4-BE49-F238E27FC236}">
                <a16:creationId xmlns:a16="http://schemas.microsoft.com/office/drawing/2014/main" id="{2381FAE8-7926-6B2E-08C1-BE6EC1CA1ED8}"/>
              </a:ext>
            </a:extLst>
          </p:cNvPr>
          <p:cNvSpPr txBox="1"/>
          <p:nvPr/>
        </p:nvSpPr>
        <p:spPr>
          <a:xfrm>
            <a:off x="960120" y="5257800"/>
            <a:ext cx="10241280" cy="444609"/>
          </a:xfrm>
          <a:prstGeom prst="rect">
            <a:avLst/>
          </a:prstGeom>
          <a:noFill/>
        </p:spPr>
        <p:txBody>
          <a:bodyPr wrap="square" lIns="0" tIns="0" rIns="0" bIns="0" anchor="t">
            <a:spAutoFit/>
          </a:bodyPr>
          <a:lstStyle/>
          <a:p>
            <a:pPr>
              <a:lnSpc>
                <a:spcPct val="125000"/>
              </a:lnSpc>
            </a:pPr>
            <a:r>
              <a:rPr lang="en-GB" sz="1200" dirty="0">
                <a:solidFill>
                  <a:schemeClr val="tx1">
                    <a:lumMod val="65000"/>
                    <a:lumOff val="35000"/>
                  </a:schemeClr>
                </a:solidFill>
              </a:rPr>
              <a:t>It was chosen deliberately for this fairness audit because its decisions are easier to interpret. This transparency makes it possible to better understand where bias may be coming from and how the model is treating different groups.</a:t>
            </a:r>
            <a:endParaRPr sz="1200" b="0" i="0" dirty="0">
              <a:solidFill>
                <a:schemeClr val="tx1">
                  <a:lumMod val="65000"/>
                  <a:lumOff val="35000"/>
                </a:schemeClr>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a:extLst>
            <a:ext uri="{FF2B5EF4-FFF2-40B4-BE49-F238E27FC236}">
              <a16:creationId xmlns:a16="http://schemas.microsoft.com/office/drawing/2014/main" id="{2F3FA5F2-3482-5AEA-AF85-D1E49946F5B4}"/>
            </a:ext>
          </a:extLst>
        </p:cNvPr>
        <p:cNvGrpSpPr/>
        <p:nvPr/>
      </p:nvGrpSpPr>
      <p:grpSpPr>
        <a:xfrm>
          <a:off x="0" y="0"/>
          <a:ext cx="0" cy="0"/>
          <a:chOff x="0" y="0"/>
          <a:chExt cx="0" cy="0"/>
        </a:xfrm>
      </p:grpSpPr>
      <p:sp>
        <p:nvSpPr>
          <p:cNvPr id="34" name="Rectangle: Rounded Corners 33">
            <a:extLst>
              <a:ext uri="{FF2B5EF4-FFF2-40B4-BE49-F238E27FC236}">
                <a16:creationId xmlns:a16="http://schemas.microsoft.com/office/drawing/2014/main" id="{DE5A8D5A-9770-D503-941B-19E22027D53D}"/>
              </a:ext>
            </a:extLst>
          </p:cNvPr>
          <p:cNvSpPr>
            <a:spLocks noGrp="1" noRot="1" noMove="1" noResize="1" noEditPoints="1" noAdjustHandles="1" noChangeArrowheads="1" noChangeShapeType="1"/>
          </p:cNvSpPr>
          <p:nvPr/>
        </p:nvSpPr>
        <p:spPr>
          <a:xfrm>
            <a:off x="434340" y="3449310"/>
            <a:ext cx="11157296" cy="1179946"/>
          </a:xfrm>
          <a:prstGeom prst="roundRect">
            <a:avLst/>
          </a:prstGeom>
          <a:solidFill>
            <a:schemeClr val="bg1"/>
          </a:solidFill>
          <a:ln>
            <a:solidFill>
              <a:srgbClr val="C974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81017542-FD03-81A6-8705-BF7F37E7614D}"/>
              </a:ext>
            </a:extLst>
          </p:cNvPr>
          <p:cNvSpPr/>
          <p:nvPr/>
        </p:nvSpPr>
        <p:spPr>
          <a:xfrm>
            <a:off x="434340" y="4844496"/>
            <a:ext cx="11157296" cy="1179946"/>
          </a:xfrm>
          <a:prstGeom prst="roundRect">
            <a:avLst/>
          </a:prstGeom>
          <a:solidFill>
            <a:schemeClr val="bg1"/>
          </a:solidFill>
          <a:ln>
            <a:solidFill>
              <a:srgbClr val="C974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sp>
        <p:nvSpPr>
          <p:cNvPr id="32" name="Rectangle: Rounded Corners 31">
            <a:extLst>
              <a:ext uri="{FF2B5EF4-FFF2-40B4-BE49-F238E27FC236}">
                <a16:creationId xmlns:a16="http://schemas.microsoft.com/office/drawing/2014/main" id="{7F4FB858-8B1B-A185-49AE-92DD2E39DF72}"/>
              </a:ext>
            </a:extLst>
          </p:cNvPr>
          <p:cNvSpPr/>
          <p:nvPr/>
        </p:nvSpPr>
        <p:spPr>
          <a:xfrm>
            <a:off x="463436" y="2054124"/>
            <a:ext cx="11157296" cy="1179946"/>
          </a:xfrm>
          <a:prstGeom prst="roundRect">
            <a:avLst/>
          </a:prstGeom>
          <a:solidFill>
            <a:schemeClr val="bg1"/>
          </a:solidFill>
          <a:ln>
            <a:solidFill>
              <a:srgbClr val="C974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EE63CE42-DF5C-E8DF-D0FB-EBD180CE4597}"/>
              </a:ext>
            </a:extLst>
          </p:cNvPr>
          <p:cNvSpPr txBox="1"/>
          <p:nvPr/>
        </p:nvSpPr>
        <p:spPr>
          <a:xfrm>
            <a:off x="685800" y="384048"/>
            <a:ext cx="9144000" cy="320040"/>
          </a:xfrm>
          <a:prstGeom prst="rect">
            <a:avLst/>
          </a:prstGeom>
          <a:noFill/>
        </p:spPr>
        <p:txBody>
          <a:bodyPr wrap="square" lIns="0" tIns="0" rIns="0" bIns="0" anchor="t">
            <a:spAutoFit/>
          </a:bodyPr>
          <a:lstStyle/>
          <a:p>
            <a:pPr algn="l">
              <a:lnSpc>
                <a:spcPct val="100000"/>
              </a:lnSpc>
            </a:pPr>
            <a:r>
              <a:rPr sz="1300" b="1" i="0">
                <a:solidFill>
                  <a:srgbClr val="C9748F"/>
                </a:solidFill>
                <a:latin typeface="Calibri"/>
              </a:rPr>
              <a:t>METHODOLOGY</a:t>
            </a:r>
          </a:p>
        </p:txBody>
      </p:sp>
      <p:sp>
        <p:nvSpPr>
          <p:cNvPr id="3" name="TextBox 2">
            <a:extLst>
              <a:ext uri="{FF2B5EF4-FFF2-40B4-BE49-F238E27FC236}">
                <a16:creationId xmlns:a16="http://schemas.microsoft.com/office/drawing/2014/main" id="{93830912-702C-BFC9-A76F-4188EB9FE1F2}"/>
              </a:ext>
            </a:extLst>
          </p:cNvPr>
          <p:cNvSpPr txBox="1"/>
          <p:nvPr/>
        </p:nvSpPr>
        <p:spPr>
          <a:xfrm>
            <a:off x="685800" y="658368"/>
            <a:ext cx="10789920" cy="442237"/>
          </a:xfrm>
          <a:prstGeom prst="rect">
            <a:avLst/>
          </a:prstGeom>
          <a:noFill/>
        </p:spPr>
        <p:txBody>
          <a:bodyPr wrap="square" lIns="0" tIns="0" rIns="0" bIns="0" anchor="t">
            <a:spAutoFit/>
          </a:bodyPr>
          <a:lstStyle/>
          <a:p>
            <a:pPr algn="l">
              <a:lnSpc>
                <a:spcPct val="102000"/>
              </a:lnSpc>
            </a:pPr>
            <a:r>
              <a:rPr lang="en-GB" sz="3000" b="1" i="0" dirty="0">
                <a:solidFill>
                  <a:srgbClr val="1A1A1A"/>
                </a:solidFill>
                <a:latin typeface="Georgia"/>
              </a:rPr>
              <a:t>Design Decisions </a:t>
            </a:r>
            <a:endParaRPr sz="3000" b="1" i="0" dirty="0">
              <a:solidFill>
                <a:srgbClr val="1A1A1A"/>
              </a:solidFill>
              <a:latin typeface="Georgia"/>
            </a:endParaRPr>
          </a:p>
        </p:txBody>
      </p:sp>
      <p:sp>
        <p:nvSpPr>
          <p:cNvPr id="35" name="TextBox 34">
            <a:extLst>
              <a:ext uri="{FF2B5EF4-FFF2-40B4-BE49-F238E27FC236}">
                <a16:creationId xmlns:a16="http://schemas.microsoft.com/office/drawing/2014/main" id="{FE618041-C0D7-5843-E2D7-5B758CC1F536}"/>
              </a:ext>
            </a:extLst>
          </p:cNvPr>
          <p:cNvSpPr txBox="1"/>
          <p:nvPr/>
        </p:nvSpPr>
        <p:spPr>
          <a:xfrm>
            <a:off x="685800" y="6510528"/>
            <a:ext cx="6400800" cy="274320"/>
          </a:xfrm>
          <a:prstGeom prst="rect">
            <a:avLst/>
          </a:prstGeom>
          <a:noFill/>
        </p:spPr>
        <p:txBody>
          <a:bodyPr wrap="square" lIns="0" tIns="0" rIns="0" bIns="0" anchor="t">
            <a:spAutoFit/>
          </a:bodyPr>
          <a:lstStyle/>
          <a:p>
            <a:pPr algn="l">
              <a:lnSpc>
                <a:spcPct val="100000"/>
              </a:lnSpc>
            </a:pPr>
            <a:r>
              <a:rPr sz="950" b="0" i="0">
                <a:solidFill>
                  <a:srgbClr val="999999"/>
                </a:solidFill>
                <a:latin typeface="Calibri"/>
              </a:rPr>
              <a:t>Procedural Fairness in Healthcare AI</a:t>
            </a:r>
          </a:p>
        </p:txBody>
      </p:sp>
      <p:sp>
        <p:nvSpPr>
          <p:cNvPr id="36" name="TextBox 35">
            <a:extLst>
              <a:ext uri="{FF2B5EF4-FFF2-40B4-BE49-F238E27FC236}">
                <a16:creationId xmlns:a16="http://schemas.microsoft.com/office/drawing/2014/main" id="{17B871D9-C431-76D3-C3F8-E54553FEDF76}"/>
              </a:ext>
            </a:extLst>
          </p:cNvPr>
          <p:cNvSpPr txBox="1"/>
          <p:nvPr/>
        </p:nvSpPr>
        <p:spPr>
          <a:xfrm>
            <a:off x="11521440" y="6510528"/>
            <a:ext cx="457200" cy="146194"/>
          </a:xfrm>
          <a:prstGeom prst="rect">
            <a:avLst/>
          </a:prstGeom>
          <a:noFill/>
        </p:spPr>
        <p:txBody>
          <a:bodyPr wrap="square" lIns="0" tIns="0" rIns="0" bIns="0" anchor="t">
            <a:spAutoFit/>
          </a:bodyPr>
          <a:lstStyle/>
          <a:p>
            <a:pPr algn="r">
              <a:lnSpc>
                <a:spcPct val="100000"/>
              </a:lnSpc>
            </a:pPr>
            <a:r>
              <a:rPr lang="en-GB" sz="950" dirty="0">
                <a:solidFill>
                  <a:srgbClr val="999999"/>
                </a:solidFill>
                <a:latin typeface="Calibri"/>
              </a:rPr>
              <a:t>7</a:t>
            </a:r>
            <a:endParaRPr sz="950" b="0" i="0" dirty="0">
              <a:solidFill>
                <a:srgbClr val="999999"/>
              </a:solidFill>
              <a:latin typeface="Calibri"/>
            </a:endParaRPr>
          </a:p>
        </p:txBody>
      </p:sp>
      <p:sp>
        <p:nvSpPr>
          <p:cNvPr id="31" name="TextBox 30">
            <a:extLst>
              <a:ext uri="{FF2B5EF4-FFF2-40B4-BE49-F238E27FC236}">
                <a16:creationId xmlns:a16="http://schemas.microsoft.com/office/drawing/2014/main" id="{A407134F-5D04-70D0-9C96-30EF70E76BD8}"/>
              </a:ext>
            </a:extLst>
          </p:cNvPr>
          <p:cNvSpPr txBox="1"/>
          <p:nvPr/>
        </p:nvSpPr>
        <p:spPr>
          <a:xfrm>
            <a:off x="487218" y="2074930"/>
            <a:ext cx="11292840" cy="3970318"/>
          </a:xfrm>
          <a:prstGeom prst="rect">
            <a:avLst/>
          </a:prstGeom>
          <a:noFill/>
          <a:ln>
            <a:noFill/>
          </a:ln>
        </p:spPr>
        <p:txBody>
          <a:bodyPr wrap="square" rtlCol="0">
            <a:spAutoFit/>
          </a:bodyPr>
          <a:lstStyle/>
          <a:p>
            <a:pPr marL="342900" indent="-342900">
              <a:buAutoNum type="arabicPeriod"/>
            </a:pPr>
            <a:r>
              <a:rPr lang="en-GB" b="1" dirty="0">
                <a:solidFill>
                  <a:srgbClr val="C9748F"/>
                </a:solidFill>
              </a:rPr>
              <a:t>No data leakage</a:t>
            </a:r>
          </a:p>
          <a:p>
            <a:endParaRPr lang="en-GB" b="1" dirty="0"/>
          </a:p>
          <a:p>
            <a:r>
              <a:rPr lang="en-GB" dirty="0"/>
              <a:t>Missing values were filled in, and the data was scaled using only the training set, so the model never saw anything about the test patients before it was evaluated.</a:t>
            </a:r>
          </a:p>
          <a:p>
            <a:endParaRPr lang="en-GB" dirty="0"/>
          </a:p>
          <a:p>
            <a:r>
              <a:rPr lang="en-GB" b="1" dirty="0">
                <a:solidFill>
                  <a:srgbClr val="C9748F"/>
                </a:solidFill>
              </a:rPr>
              <a:t>2. A split that protects the smallest group</a:t>
            </a:r>
          </a:p>
          <a:p>
            <a:br>
              <a:rPr lang="en-GB" dirty="0"/>
            </a:br>
            <a:r>
              <a:rPr lang="en-GB" dirty="0"/>
              <a:t>The train/test split was balanced on both outcome and sex, so the test set was guaranteed a fair share of female patients instead of leaving it to chance.</a:t>
            </a:r>
          </a:p>
          <a:p>
            <a:endParaRPr lang="en-GB" dirty="0">
              <a:solidFill>
                <a:srgbClr val="C9748F"/>
              </a:solidFill>
            </a:endParaRPr>
          </a:p>
          <a:p>
            <a:r>
              <a:rPr lang="en-GB" b="1" dirty="0">
                <a:solidFill>
                  <a:srgbClr val="C9748F"/>
                </a:solidFill>
              </a:rPr>
              <a:t>3. Sex and age kept in on purpose</a:t>
            </a:r>
          </a:p>
          <a:p>
            <a:br>
              <a:rPr lang="en-GB" dirty="0"/>
            </a:br>
            <a:r>
              <a:rPr lang="en-GB" dirty="0"/>
              <a:t>Removing them would not stop the model picking up those patterns through related measurements, so keeping them in lets the effect be measured openly rather than hidden.</a:t>
            </a:r>
          </a:p>
        </p:txBody>
      </p:sp>
    </p:spTree>
    <p:extLst>
      <p:ext uri="{BB962C8B-B14F-4D97-AF65-F5344CB8AC3E}">
        <p14:creationId xmlns:p14="http://schemas.microsoft.com/office/powerpoint/2010/main" val="42564285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2" name="TextBox 1"/>
          <p:cNvSpPr txBox="1"/>
          <p:nvPr/>
        </p:nvSpPr>
        <p:spPr>
          <a:xfrm>
            <a:off x="685800" y="384048"/>
            <a:ext cx="9144000" cy="320040"/>
          </a:xfrm>
          <a:prstGeom prst="rect">
            <a:avLst/>
          </a:prstGeom>
          <a:noFill/>
        </p:spPr>
        <p:txBody>
          <a:bodyPr wrap="square" lIns="0" tIns="0" rIns="0" bIns="0" anchor="t">
            <a:spAutoFit/>
          </a:bodyPr>
          <a:lstStyle/>
          <a:p>
            <a:pPr algn="l">
              <a:lnSpc>
                <a:spcPct val="100000"/>
              </a:lnSpc>
            </a:pPr>
            <a:r>
              <a:rPr sz="1300" b="1" i="0">
                <a:solidFill>
                  <a:srgbClr val="C9748F"/>
                </a:solidFill>
                <a:latin typeface="Calibri"/>
              </a:rPr>
              <a:t>BASELINE RESULTS</a:t>
            </a:r>
          </a:p>
        </p:txBody>
      </p:sp>
      <p:sp>
        <p:nvSpPr>
          <p:cNvPr id="3" name="TextBox 2"/>
          <p:cNvSpPr txBox="1"/>
          <p:nvPr/>
        </p:nvSpPr>
        <p:spPr>
          <a:xfrm>
            <a:off x="685800" y="658368"/>
            <a:ext cx="10789920" cy="442237"/>
          </a:xfrm>
          <a:prstGeom prst="rect">
            <a:avLst/>
          </a:prstGeom>
          <a:noFill/>
        </p:spPr>
        <p:txBody>
          <a:bodyPr wrap="square" lIns="0" tIns="0" rIns="0" bIns="0" anchor="t">
            <a:spAutoFit/>
          </a:bodyPr>
          <a:lstStyle/>
          <a:p>
            <a:pPr algn="l">
              <a:lnSpc>
                <a:spcPct val="102000"/>
              </a:lnSpc>
            </a:pPr>
            <a:r>
              <a:rPr sz="3000" b="1" i="0" dirty="0">
                <a:solidFill>
                  <a:srgbClr val="1A1A1A"/>
                </a:solidFill>
                <a:latin typeface="Georgia"/>
              </a:rPr>
              <a:t>A Strong Model</a:t>
            </a:r>
            <a:r>
              <a:rPr lang="en-GB" sz="3000" b="1" i="0" dirty="0">
                <a:solidFill>
                  <a:srgbClr val="1A1A1A"/>
                </a:solidFill>
                <a:latin typeface="Georgia"/>
              </a:rPr>
              <a:t>…</a:t>
            </a:r>
            <a:r>
              <a:rPr sz="3000" b="1" i="0" dirty="0">
                <a:solidFill>
                  <a:srgbClr val="1A1A1A"/>
                </a:solidFill>
                <a:latin typeface="Georgia"/>
              </a:rPr>
              <a:t>On the Surface</a:t>
            </a:r>
          </a:p>
        </p:txBody>
      </p:sp>
      <p:sp>
        <p:nvSpPr>
          <p:cNvPr id="4" name="Rounded Rectangle 3"/>
          <p:cNvSpPr/>
          <p:nvPr/>
        </p:nvSpPr>
        <p:spPr>
          <a:xfrm>
            <a:off x="3535680" y="1641980"/>
            <a:ext cx="5120640" cy="1874519"/>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810000" y="2057649"/>
            <a:ext cx="4572000" cy="830997"/>
          </a:xfrm>
          <a:prstGeom prst="rect">
            <a:avLst/>
          </a:prstGeom>
          <a:noFill/>
        </p:spPr>
        <p:txBody>
          <a:bodyPr wrap="square" lIns="0" tIns="0" rIns="0" bIns="0" anchor="t">
            <a:spAutoFit/>
          </a:bodyPr>
          <a:lstStyle/>
          <a:p>
            <a:r>
              <a:rPr sz="5200" b="1" i="0" dirty="0">
                <a:solidFill>
                  <a:srgbClr val="C9748F"/>
                </a:solidFill>
                <a:latin typeface="Georgia"/>
              </a:rPr>
              <a:t>0.957</a:t>
            </a:r>
            <a:r>
              <a:rPr lang="en-GB" sz="5200" b="1" i="0" dirty="0">
                <a:solidFill>
                  <a:srgbClr val="C9748F"/>
                </a:solidFill>
                <a:latin typeface="Georgia"/>
              </a:rPr>
              <a:t> </a:t>
            </a:r>
            <a:r>
              <a:rPr lang="en-GB" sz="5400" b="1" dirty="0">
                <a:solidFill>
                  <a:srgbClr val="C9748F"/>
                </a:solidFill>
                <a:latin typeface="Georgia" panose="02040502050405020303" pitchFamily="18" charset="0"/>
              </a:rPr>
              <a:t>≥ 0.80</a:t>
            </a:r>
            <a:endParaRPr sz="5200" b="1" i="0" dirty="0">
              <a:solidFill>
                <a:srgbClr val="C9748F"/>
              </a:solidFill>
              <a:latin typeface="Georgia"/>
            </a:endParaRPr>
          </a:p>
        </p:txBody>
      </p:sp>
      <p:sp>
        <p:nvSpPr>
          <p:cNvPr id="6" name="TextBox 5"/>
          <p:cNvSpPr txBox="1"/>
          <p:nvPr/>
        </p:nvSpPr>
        <p:spPr>
          <a:xfrm>
            <a:off x="5255267" y="3230922"/>
            <a:ext cx="1864346" cy="200055"/>
          </a:xfrm>
          <a:prstGeom prst="rect">
            <a:avLst/>
          </a:prstGeom>
          <a:noFill/>
        </p:spPr>
        <p:txBody>
          <a:bodyPr wrap="square" lIns="0" tIns="0" rIns="0" bIns="0" anchor="t">
            <a:spAutoFit/>
          </a:bodyPr>
          <a:lstStyle/>
          <a:p>
            <a:r>
              <a:rPr sz="1300" b="0" i="0" dirty="0">
                <a:solidFill>
                  <a:srgbClr val="666666"/>
                </a:solidFill>
                <a:latin typeface="Calibri"/>
              </a:rPr>
              <a:t>AUC-ROC </a:t>
            </a:r>
            <a:r>
              <a:rPr lang="en-GB" sz="1300" dirty="0">
                <a:solidFill>
                  <a:srgbClr val="666666"/>
                </a:solidFill>
              </a:rPr>
              <a:t>threshold</a:t>
            </a:r>
            <a:endParaRPr sz="1300" b="0" i="0" dirty="0">
              <a:solidFill>
                <a:srgbClr val="666666"/>
              </a:solidFill>
              <a:latin typeface="Calibri"/>
            </a:endParaRPr>
          </a:p>
        </p:txBody>
      </p:sp>
      <p:sp>
        <p:nvSpPr>
          <p:cNvPr id="10" name="TextBox 9"/>
          <p:cNvSpPr txBox="1"/>
          <p:nvPr/>
        </p:nvSpPr>
        <p:spPr>
          <a:xfrm>
            <a:off x="685800" y="4160520"/>
            <a:ext cx="10058400" cy="365760"/>
          </a:xfrm>
          <a:prstGeom prst="rect">
            <a:avLst/>
          </a:prstGeom>
          <a:noFill/>
        </p:spPr>
        <p:txBody>
          <a:bodyPr wrap="square" lIns="0" tIns="0" rIns="0" bIns="0" anchor="t">
            <a:spAutoFit/>
          </a:bodyPr>
          <a:lstStyle/>
          <a:p>
            <a:pPr algn="l">
              <a:lnSpc>
                <a:spcPct val="100000"/>
              </a:lnSpc>
            </a:pPr>
            <a:r>
              <a:rPr sz="1300" b="1" i="0">
                <a:solidFill>
                  <a:srgbClr val="1A1A1A"/>
                </a:solidFill>
                <a:latin typeface="Calibri"/>
              </a:rPr>
              <a:t>3 OF 6 PROCEDURAL FAIRNESS CRITERIA PASSED AT BASELINE</a:t>
            </a:r>
          </a:p>
        </p:txBody>
      </p:sp>
      <p:sp>
        <p:nvSpPr>
          <p:cNvPr id="11" name="Oval 10"/>
          <p:cNvSpPr/>
          <p:nvPr/>
        </p:nvSpPr>
        <p:spPr>
          <a:xfrm>
            <a:off x="1097280" y="4937759"/>
            <a:ext cx="274320" cy="274320"/>
          </a:xfrm>
          <a:prstGeom prst="ellipse">
            <a:avLst/>
          </a:prstGeom>
          <a:solidFill>
            <a:srgbClr val="2D6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4340" y="5276088"/>
            <a:ext cx="1600200" cy="457200"/>
          </a:xfrm>
          <a:prstGeom prst="rect">
            <a:avLst/>
          </a:prstGeom>
          <a:noFill/>
        </p:spPr>
        <p:txBody>
          <a:bodyPr wrap="square" lIns="0" tIns="0" rIns="0" bIns="0" anchor="t">
            <a:spAutoFit/>
          </a:bodyPr>
          <a:lstStyle/>
          <a:p>
            <a:pPr algn="ctr">
              <a:lnSpc>
                <a:spcPct val="100000"/>
              </a:lnSpc>
            </a:pPr>
            <a:r>
              <a:rPr sz="1200" b="0" i="0">
                <a:solidFill>
                  <a:srgbClr val="666666"/>
                </a:solidFill>
                <a:latin typeface="Calibri"/>
              </a:rPr>
              <a:t>Accuracy</a:t>
            </a:r>
          </a:p>
        </p:txBody>
      </p:sp>
      <p:sp>
        <p:nvSpPr>
          <p:cNvPr id="13" name="Oval 12"/>
          <p:cNvSpPr/>
          <p:nvPr/>
        </p:nvSpPr>
        <p:spPr>
          <a:xfrm>
            <a:off x="2788920" y="4937759"/>
            <a:ext cx="274320" cy="274320"/>
          </a:xfrm>
          <a:prstGeom prst="ellipse">
            <a:avLst/>
          </a:prstGeom>
          <a:noFill/>
          <a:ln w="30480">
            <a:solidFill>
              <a:srgbClr val="9D020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125980" y="5276088"/>
            <a:ext cx="1600200" cy="457200"/>
          </a:xfrm>
          <a:prstGeom prst="rect">
            <a:avLst/>
          </a:prstGeom>
          <a:noFill/>
        </p:spPr>
        <p:txBody>
          <a:bodyPr wrap="square" lIns="0" tIns="0" rIns="0" bIns="0" anchor="t">
            <a:spAutoFit/>
          </a:bodyPr>
          <a:lstStyle/>
          <a:p>
            <a:pPr algn="ctr">
              <a:lnSpc>
                <a:spcPct val="100000"/>
              </a:lnSpc>
            </a:pPr>
            <a:r>
              <a:rPr sz="1200" b="0" i="0">
                <a:solidFill>
                  <a:srgbClr val="666666"/>
                </a:solidFill>
                <a:latin typeface="Calibri"/>
              </a:rPr>
              <a:t>Bias</a:t>
            </a:r>
          </a:p>
          <a:p>
            <a:pPr algn="ctr">
              <a:lnSpc>
                <a:spcPct val="100000"/>
              </a:lnSpc>
            </a:pPr>
            <a:r>
              <a:rPr sz="1200" b="0" i="0">
                <a:solidFill>
                  <a:srgbClr val="666666"/>
                </a:solidFill>
                <a:latin typeface="Calibri"/>
              </a:rPr>
              <a:t>Suppression</a:t>
            </a:r>
          </a:p>
        </p:txBody>
      </p:sp>
      <p:sp>
        <p:nvSpPr>
          <p:cNvPr id="15" name="Oval 14"/>
          <p:cNvSpPr/>
          <p:nvPr/>
        </p:nvSpPr>
        <p:spPr>
          <a:xfrm>
            <a:off x="4480560" y="4937759"/>
            <a:ext cx="274320" cy="274320"/>
          </a:xfrm>
          <a:prstGeom prst="ellipse">
            <a:avLst/>
          </a:prstGeom>
          <a:noFill/>
          <a:ln w="30480">
            <a:solidFill>
              <a:srgbClr val="9D020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17620" y="5276088"/>
            <a:ext cx="1600200" cy="457200"/>
          </a:xfrm>
          <a:prstGeom prst="rect">
            <a:avLst/>
          </a:prstGeom>
          <a:noFill/>
        </p:spPr>
        <p:txBody>
          <a:bodyPr wrap="square" lIns="0" tIns="0" rIns="0" bIns="0" anchor="t">
            <a:spAutoFit/>
          </a:bodyPr>
          <a:lstStyle/>
          <a:p>
            <a:pPr algn="ctr">
              <a:lnSpc>
                <a:spcPct val="100000"/>
              </a:lnSpc>
            </a:pPr>
            <a:r>
              <a:rPr sz="1200" b="0" i="0">
                <a:solidFill>
                  <a:srgbClr val="666666"/>
                </a:solidFill>
                <a:latin typeface="Calibri"/>
              </a:rPr>
              <a:t>Representativeness</a:t>
            </a:r>
          </a:p>
        </p:txBody>
      </p:sp>
      <p:sp>
        <p:nvSpPr>
          <p:cNvPr id="17" name="Oval 16"/>
          <p:cNvSpPr/>
          <p:nvPr/>
        </p:nvSpPr>
        <p:spPr>
          <a:xfrm>
            <a:off x="6172200" y="4937759"/>
            <a:ext cx="274320" cy="274320"/>
          </a:xfrm>
          <a:prstGeom prst="ellipse">
            <a:avLst/>
          </a:prstGeom>
          <a:solidFill>
            <a:srgbClr val="2D6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509260" y="5276088"/>
            <a:ext cx="1600200" cy="457200"/>
          </a:xfrm>
          <a:prstGeom prst="rect">
            <a:avLst/>
          </a:prstGeom>
          <a:noFill/>
        </p:spPr>
        <p:txBody>
          <a:bodyPr wrap="square" lIns="0" tIns="0" rIns="0" bIns="0" anchor="t">
            <a:spAutoFit/>
          </a:bodyPr>
          <a:lstStyle/>
          <a:p>
            <a:pPr algn="ctr">
              <a:lnSpc>
                <a:spcPct val="100000"/>
              </a:lnSpc>
            </a:pPr>
            <a:r>
              <a:rPr sz="1200" b="0" i="0">
                <a:solidFill>
                  <a:srgbClr val="666666"/>
                </a:solidFill>
                <a:latin typeface="Calibri"/>
              </a:rPr>
              <a:t>Consistency</a:t>
            </a:r>
          </a:p>
        </p:txBody>
      </p:sp>
      <p:sp>
        <p:nvSpPr>
          <p:cNvPr id="19" name="Oval 18"/>
          <p:cNvSpPr/>
          <p:nvPr/>
        </p:nvSpPr>
        <p:spPr>
          <a:xfrm>
            <a:off x="7863840" y="4937759"/>
            <a:ext cx="274320" cy="274320"/>
          </a:xfrm>
          <a:prstGeom prst="ellipse">
            <a:avLst/>
          </a:prstGeom>
          <a:noFill/>
          <a:ln w="30480">
            <a:solidFill>
              <a:srgbClr val="9D020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200900" y="5276088"/>
            <a:ext cx="1600200" cy="457200"/>
          </a:xfrm>
          <a:prstGeom prst="rect">
            <a:avLst/>
          </a:prstGeom>
          <a:noFill/>
        </p:spPr>
        <p:txBody>
          <a:bodyPr wrap="square" lIns="0" tIns="0" rIns="0" bIns="0" anchor="t">
            <a:spAutoFit/>
          </a:bodyPr>
          <a:lstStyle/>
          <a:p>
            <a:pPr algn="ctr">
              <a:lnSpc>
                <a:spcPct val="100000"/>
              </a:lnSpc>
            </a:pPr>
            <a:r>
              <a:rPr sz="1200" b="0" i="0">
                <a:solidFill>
                  <a:srgbClr val="666666"/>
                </a:solidFill>
                <a:latin typeface="Calibri"/>
              </a:rPr>
              <a:t>Correctability</a:t>
            </a:r>
          </a:p>
        </p:txBody>
      </p:sp>
      <p:sp>
        <p:nvSpPr>
          <p:cNvPr id="21" name="Oval 20"/>
          <p:cNvSpPr/>
          <p:nvPr/>
        </p:nvSpPr>
        <p:spPr>
          <a:xfrm>
            <a:off x="9555480" y="4937759"/>
            <a:ext cx="274320" cy="274320"/>
          </a:xfrm>
          <a:prstGeom prst="ellipse">
            <a:avLst/>
          </a:prstGeom>
          <a:solidFill>
            <a:srgbClr val="2D6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892540" y="5276088"/>
            <a:ext cx="1600200" cy="457200"/>
          </a:xfrm>
          <a:prstGeom prst="rect">
            <a:avLst/>
          </a:prstGeom>
          <a:noFill/>
        </p:spPr>
        <p:txBody>
          <a:bodyPr wrap="square" lIns="0" tIns="0" rIns="0" bIns="0" anchor="t">
            <a:spAutoFit/>
          </a:bodyPr>
          <a:lstStyle/>
          <a:p>
            <a:pPr algn="ctr">
              <a:lnSpc>
                <a:spcPct val="100000"/>
              </a:lnSpc>
            </a:pPr>
            <a:r>
              <a:rPr sz="1200" b="0" i="0">
                <a:solidFill>
                  <a:srgbClr val="666666"/>
                </a:solidFill>
                <a:latin typeface="Calibri"/>
              </a:rPr>
              <a:t>Ethicality</a:t>
            </a:r>
          </a:p>
        </p:txBody>
      </p:sp>
      <p:sp>
        <p:nvSpPr>
          <p:cNvPr id="23" name="TextBox 22"/>
          <p:cNvSpPr txBox="1"/>
          <p:nvPr/>
        </p:nvSpPr>
        <p:spPr>
          <a:xfrm>
            <a:off x="685800" y="6510528"/>
            <a:ext cx="6400800" cy="274320"/>
          </a:xfrm>
          <a:prstGeom prst="rect">
            <a:avLst/>
          </a:prstGeom>
          <a:noFill/>
        </p:spPr>
        <p:txBody>
          <a:bodyPr wrap="square" lIns="0" tIns="0" rIns="0" bIns="0" anchor="t">
            <a:spAutoFit/>
          </a:bodyPr>
          <a:lstStyle/>
          <a:p>
            <a:pPr algn="l">
              <a:lnSpc>
                <a:spcPct val="100000"/>
              </a:lnSpc>
            </a:pPr>
            <a:r>
              <a:rPr sz="950" b="0" i="0">
                <a:solidFill>
                  <a:srgbClr val="999999"/>
                </a:solidFill>
                <a:latin typeface="Calibri"/>
              </a:rPr>
              <a:t>Procedural Fairness in Healthcare AI</a:t>
            </a:r>
          </a:p>
        </p:txBody>
      </p:sp>
      <p:sp>
        <p:nvSpPr>
          <p:cNvPr id="24" name="TextBox 23"/>
          <p:cNvSpPr txBox="1"/>
          <p:nvPr/>
        </p:nvSpPr>
        <p:spPr>
          <a:xfrm>
            <a:off x="11521440" y="6510528"/>
            <a:ext cx="457200" cy="146194"/>
          </a:xfrm>
          <a:prstGeom prst="rect">
            <a:avLst/>
          </a:prstGeom>
          <a:noFill/>
        </p:spPr>
        <p:txBody>
          <a:bodyPr wrap="square" lIns="0" tIns="0" rIns="0" bIns="0" anchor="t">
            <a:spAutoFit/>
          </a:bodyPr>
          <a:lstStyle/>
          <a:p>
            <a:pPr algn="r">
              <a:lnSpc>
                <a:spcPct val="100000"/>
              </a:lnSpc>
            </a:pPr>
            <a:r>
              <a:rPr lang="en-GB" sz="950" dirty="0">
                <a:solidFill>
                  <a:srgbClr val="999999"/>
                </a:solidFill>
                <a:latin typeface="Calibri"/>
              </a:rPr>
              <a:t>8</a:t>
            </a:r>
            <a:endParaRPr sz="950" b="0" i="0" dirty="0">
              <a:solidFill>
                <a:srgbClr val="999999"/>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2" name="TextBox 1"/>
          <p:cNvSpPr txBox="1"/>
          <p:nvPr/>
        </p:nvSpPr>
        <p:spPr>
          <a:xfrm>
            <a:off x="685800" y="384048"/>
            <a:ext cx="9144000" cy="320040"/>
          </a:xfrm>
          <a:prstGeom prst="rect">
            <a:avLst/>
          </a:prstGeom>
          <a:noFill/>
        </p:spPr>
        <p:txBody>
          <a:bodyPr wrap="square" lIns="0" tIns="0" rIns="0" bIns="0" anchor="t">
            <a:spAutoFit/>
          </a:bodyPr>
          <a:lstStyle/>
          <a:p>
            <a:pPr algn="l">
              <a:lnSpc>
                <a:spcPct val="100000"/>
              </a:lnSpc>
            </a:pPr>
            <a:r>
              <a:rPr sz="1300" b="1" i="0">
                <a:solidFill>
                  <a:srgbClr val="C9748F"/>
                </a:solidFill>
                <a:latin typeface="Calibri"/>
              </a:rPr>
              <a:t>FAIRNESS PROBLEMS · 1 OF 2</a:t>
            </a:r>
          </a:p>
        </p:txBody>
      </p:sp>
      <p:sp>
        <p:nvSpPr>
          <p:cNvPr id="3" name="TextBox 2"/>
          <p:cNvSpPr txBox="1"/>
          <p:nvPr/>
        </p:nvSpPr>
        <p:spPr>
          <a:xfrm>
            <a:off x="685800" y="658368"/>
            <a:ext cx="10789920" cy="914400"/>
          </a:xfrm>
          <a:prstGeom prst="rect">
            <a:avLst/>
          </a:prstGeom>
          <a:noFill/>
        </p:spPr>
        <p:txBody>
          <a:bodyPr wrap="square" lIns="0" tIns="0" rIns="0" bIns="0" anchor="t">
            <a:spAutoFit/>
          </a:bodyPr>
          <a:lstStyle/>
          <a:p>
            <a:pPr algn="l">
              <a:lnSpc>
                <a:spcPct val="102000"/>
              </a:lnSpc>
            </a:pPr>
            <a:r>
              <a:rPr sz="3000" b="1" i="0">
                <a:solidFill>
                  <a:srgbClr val="1A1A1A"/>
                </a:solidFill>
                <a:latin typeface="Georgia"/>
              </a:rPr>
              <a:t>Female Patients Were Missed More Often</a:t>
            </a:r>
          </a:p>
        </p:txBody>
      </p:sp>
      <p:sp>
        <p:nvSpPr>
          <p:cNvPr id="5" name="TextBox 4"/>
          <p:cNvSpPr txBox="1"/>
          <p:nvPr/>
        </p:nvSpPr>
        <p:spPr>
          <a:xfrm>
            <a:off x="685800" y="5074920"/>
            <a:ext cx="10789920" cy="192360"/>
          </a:xfrm>
          <a:prstGeom prst="rect">
            <a:avLst/>
          </a:prstGeom>
          <a:noFill/>
        </p:spPr>
        <p:txBody>
          <a:bodyPr wrap="square" lIns="0" tIns="0" rIns="0" bIns="0" anchor="t">
            <a:spAutoFit/>
          </a:bodyPr>
          <a:lstStyle/>
          <a:p>
            <a:pPr algn="ctr">
              <a:lnSpc>
                <a:spcPct val="100000"/>
              </a:lnSpc>
            </a:pPr>
            <a:r>
              <a:rPr sz="1250" b="0" i="1" dirty="0">
                <a:solidFill>
                  <a:srgbClr val="666666"/>
                </a:solidFill>
                <a:latin typeface="Calibri"/>
              </a:rPr>
              <a:t>Recall by sex, heart-disease-present class</a:t>
            </a:r>
            <a:r>
              <a:rPr lang="en-GB" sz="1250" b="0" i="1" dirty="0">
                <a:solidFill>
                  <a:srgbClr val="666666"/>
                </a:solidFill>
                <a:latin typeface="Calibri"/>
              </a:rPr>
              <a:t>:</a:t>
            </a:r>
            <a:r>
              <a:rPr sz="1250" b="0" i="1" dirty="0">
                <a:solidFill>
                  <a:srgbClr val="666666"/>
                </a:solidFill>
                <a:latin typeface="Calibri"/>
              </a:rPr>
              <a:t> percentage of actual cases the model correctly identified.</a:t>
            </a:r>
          </a:p>
        </p:txBody>
      </p:sp>
      <p:sp>
        <p:nvSpPr>
          <p:cNvPr id="6" name="Rounded Rectangle 5"/>
          <p:cNvSpPr/>
          <p:nvPr/>
        </p:nvSpPr>
        <p:spPr>
          <a:xfrm>
            <a:off x="2194560" y="5532120"/>
            <a:ext cx="7772400" cy="594360"/>
          </a:xfrm>
          <a:prstGeom prst="roundRect">
            <a:avLst>
              <a:gd name="adj" fmla="val 50000"/>
            </a:avLst>
          </a:prstGeom>
          <a:solidFill>
            <a:srgbClr val="FF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194560" y="5669280"/>
            <a:ext cx="7772400" cy="365760"/>
          </a:xfrm>
          <a:prstGeom prst="rect">
            <a:avLst/>
          </a:prstGeom>
          <a:noFill/>
        </p:spPr>
        <p:txBody>
          <a:bodyPr wrap="square" lIns="0" tIns="0" rIns="0" bIns="0" anchor="t">
            <a:spAutoFit/>
          </a:bodyPr>
          <a:lstStyle/>
          <a:p>
            <a:pPr algn="ctr">
              <a:lnSpc>
                <a:spcPct val="100000"/>
              </a:lnSpc>
            </a:pPr>
            <a:r>
              <a:rPr sz="1250" b="1" i="0">
                <a:solidFill>
                  <a:srgbClr val="9D0208"/>
                </a:solidFill>
                <a:latin typeface="Calibri"/>
              </a:rPr>
              <a:t>Equalised odds diff: 0.235   ·   Demographic parity diff: 0.457   —   both exceed the ±0.10 threshold</a:t>
            </a:r>
          </a:p>
        </p:txBody>
      </p:sp>
      <p:sp>
        <p:nvSpPr>
          <p:cNvPr id="8" name="TextBox 7"/>
          <p:cNvSpPr txBox="1"/>
          <p:nvPr/>
        </p:nvSpPr>
        <p:spPr>
          <a:xfrm>
            <a:off x="685800" y="6510528"/>
            <a:ext cx="6400800" cy="274320"/>
          </a:xfrm>
          <a:prstGeom prst="rect">
            <a:avLst/>
          </a:prstGeom>
          <a:noFill/>
        </p:spPr>
        <p:txBody>
          <a:bodyPr wrap="square" lIns="0" tIns="0" rIns="0" bIns="0" anchor="t">
            <a:spAutoFit/>
          </a:bodyPr>
          <a:lstStyle/>
          <a:p>
            <a:pPr algn="l">
              <a:lnSpc>
                <a:spcPct val="100000"/>
              </a:lnSpc>
            </a:pPr>
            <a:r>
              <a:rPr sz="950" b="0" i="0">
                <a:solidFill>
                  <a:srgbClr val="999999"/>
                </a:solidFill>
                <a:latin typeface="Calibri"/>
              </a:rPr>
              <a:t>Procedural Fairness in Healthcare AI</a:t>
            </a:r>
          </a:p>
        </p:txBody>
      </p:sp>
      <p:sp>
        <p:nvSpPr>
          <p:cNvPr id="9" name="TextBox 8"/>
          <p:cNvSpPr txBox="1"/>
          <p:nvPr/>
        </p:nvSpPr>
        <p:spPr>
          <a:xfrm>
            <a:off x="11521440" y="6510528"/>
            <a:ext cx="457200" cy="146194"/>
          </a:xfrm>
          <a:prstGeom prst="rect">
            <a:avLst/>
          </a:prstGeom>
          <a:noFill/>
        </p:spPr>
        <p:txBody>
          <a:bodyPr wrap="square" lIns="0" tIns="0" rIns="0" bIns="0" anchor="t">
            <a:spAutoFit/>
          </a:bodyPr>
          <a:lstStyle/>
          <a:p>
            <a:pPr algn="r">
              <a:lnSpc>
                <a:spcPct val="100000"/>
              </a:lnSpc>
            </a:pPr>
            <a:r>
              <a:rPr lang="en-GB" sz="950" dirty="0">
                <a:solidFill>
                  <a:srgbClr val="999999"/>
                </a:solidFill>
                <a:latin typeface="Calibri"/>
              </a:rPr>
              <a:t>9</a:t>
            </a:r>
            <a:endParaRPr sz="950" b="0" i="0" dirty="0">
              <a:solidFill>
                <a:srgbClr val="999999"/>
              </a:solidFill>
              <a:latin typeface="Calibri"/>
            </a:endParaRPr>
          </a:p>
        </p:txBody>
      </p:sp>
      <p:sp>
        <p:nvSpPr>
          <p:cNvPr id="13" name="TextBox 12">
            <a:extLst>
              <a:ext uri="{FF2B5EF4-FFF2-40B4-BE49-F238E27FC236}">
                <a16:creationId xmlns:a16="http://schemas.microsoft.com/office/drawing/2014/main" id="{090CDDD8-AB98-702F-0217-56DFB5C94D1B}"/>
              </a:ext>
            </a:extLst>
          </p:cNvPr>
          <p:cNvSpPr txBox="1"/>
          <p:nvPr/>
        </p:nvSpPr>
        <p:spPr>
          <a:xfrm>
            <a:off x="3047163" y="3246846"/>
            <a:ext cx="6094324" cy="369332"/>
          </a:xfrm>
          <a:prstGeom prst="rect">
            <a:avLst/>
          </a:prstGeom>
          <a:noFill/>
        </p:spPr>
        <p:txBody>
          <a:bodyPr wrap="square">
            <a:spAutoFit/>
          </a:bodyPr>
          <a:lstStyle/>
          <a:p>
            <a:endParaRPr lang="en-GB" dirty="0"/>
          </a:p>
        </p:txBody>
      </p:sp>
      <p:pic>
        <p:nvPicPr>
          <p:cNvPr id="12" name="Picture 11">
            <a:extLst>
              <a:ext uri="{FF2B5EF4-FFF2-40B4-BE49-F238E27FC236}">
                <a16:creationId xmlns:a16="http://schemas.microsoft.com/office/drawing/2014/main" id="{7CC99BDF-9AFD-1841-C645-B08AA3B2D496}"/>
              </a:ext>
            </a:extLst>
          </p:cNvPr>
          <p:cNvPicPr>
            <a:picLocks noChangeAspect="1"/>
          </p:cNvPicPr>
          <p:nvPr/>
        </p:nvPicPr>
        <p:blipFill>
          <a:blip r:embed="rId3"/>
          <a:stretch>
            <a:fillRect/>
          </a:stretch>
        </p:blipFill>
        <p:spPr>
          <a:xfrm>
            <a:off x="3132087" y="1328275"/>
            <a:ext cx="5897345" cy="340647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2" name="TextBox 1"/>
          <p:cNvSpPr txBox="1"/>
          <p:nvPr/>
        </p:nvSpPr>
        <p:spPr>
          <a:xfrm>
            <a:off x="685800" y="384048"/>
            <a:ext cx="9144000" cy="320040"/>
          </a:xfrm>
          <a:prstGeom prst="rect">
            <a:avLst/>
          </a:prstGeom>
          <a:noFill/>
        </p:spPr>
        <p:txBody>
          <a:bodyPr wrap="square" lIns="0" tIns="0" rIns="0" bIns="0" anchor="t">
            <a:spAutoFit/>
          </a:bodyPr>
          <a:lstStyle/>
          <a:p>
            <a:pPr algn="l">
              <a:lnSpc>
                <a:spcPct val="100000"/>
              </a:lnSpc>
            </a:pPr>
            <a:r>
              <a:rPr sz="1300" b="1" i="0">
                <a:solidFill>
                  <a:srgbClr val="C9748F"/>
                </a:solidFill>
                <a:latin typeface="Calibri"/>
              </a:rPr>
              <a:t>FAIRNESS PROBLEMS · 2 OF 2</a:t>
            </a:r>
          </a:p>
        </p:txBody>
      </p:sp>
      <p:sp>
        <p:nvSpPr>
          <p:cNvPr id="3" name="TextBox 2"/>
          <p:cNvSpPr txBox="1"/>
          <p:nvPr/>
        </p:nvSpPr>
        <p:spPr>
          <a:xfrm>
            <a:off x="685800" y="658368"/>
            <a:ext cx="10789920" cy="914400"/>
          </a:xfrm>
          <a:prstGeom prst="rect">
            <a:avLst/>
          </a:prstGeom>
          <a:noFill/>
        </p:spPr>
        <p:txBody>
          <a:bodyPr wrap="square" lIns="0" tIns="0" rIns="0" bIns="0" anchor="t">
            <a:spAutoFit/>
          </a:bodyPr>
          <a:lstStyle/>
          <a:p>
            <a:pPr algn="l">
              <a:lnSpc>
                <a:spcPct val="102000"/>
              </a:lnSpc>
            </a:pPr>
            <a:r>
              <a:rPr sz="3000" b="1" i="0">
                <a:solidFill>
                  <a:srgbClr val="1A1A1A"/>
                </a:solidFill>
                <a:latin typeface="Georgia"/>
              </a:rPr>
              <a:t>Two More Gaps: Data and Oversight</a:t>
            </a:r>
          </a:p>
        </p:txBody>
      </p:sp>
      <p:pic>
        <p:nvPicPr>
          <p:cNvPr id="4" name="Picture 3" descr="representativeness.png"/>
          <p:cNvPicPr>
            <a:picLocks noChangeAspect="1"/>
          </p:cNvPicPr>
          <p:nvPr/>
        </p:nvPicPr>
        <p:blipFill>
          <a:blip r:embed="rId3"/>
          <a:stretch>
            <a:fillRect/>
          </a:stretch>
        </p:blipFill>
        <p:spPr>
          <a:xfrm>
            <a:off x="685800" y="2057400"/>
            <a:ext cx="5486400" cy="3000374"/>
          </a:xfrm>
          <a:prstGeom prst="rect">
            <a:avLst/>
          </a:prstGeom>
        </p:spPr>
      </p:pic>
      <p:sp>
        <p:nvSpPr>
          <p:cNvPr id="11" name="TextBox 10"/>
          <p:cNvSpPr txBox="1"/>
          <p:nvPr/>
        </p:nvSpPr>
        <p:spPr>
          <a:xfrm>
            <a:off x="685800" y="6510528"/>
            <a:ext cx="6400800" cy="274320"/>
          </a:xfrm>
          <a:prstGeom prst="rect">
            <a:avLst/>
          </a:prstGeom>
          <a:noFill/>
        </p:spPr>
        <p:txBody>
          <a:bodyPr wrap="square" lIns="0" tIns="0" rIns="0" bIns="0" anchor="t">
            <a:spAutoFit/>
          </a:bodyPr>
          <a:lstStyle/>
          <a:p>
            <a:pPr algn="l">
              <a:lnSpc>
                <a:spcPct val="100000"/>
              </a:lnSpc>
            </a:pPr>
            <a:r>
              <a:rPr sz="950" b="0" i="0">
                <a:solidFill>
                  <a:srgbClr val="999999"/>
                </a:solidFill>
                <a:latin typeface="Calibri"/>
              </a:rPr>
              <a:t>Procedural Fairness in Healthcare AI</a:t>
            </a:r>
          </a:p>
        </p:txBody>
      </p:sp>
      <p:sp>
        <p:nvSpPr>
          <p:cNvPr id="12" name="TextBox 11"/>
          <p:cNvSpPr txBox="1"/>
          <p:nvPr/>
        </p:nvSpPr>
        <p:spPr>
          <a:xfrm>
            <a:off x="11521440" y="6510528"/>
            <a:ext cx="457200" cy="146194"/>
          </a:xfrm>
          <a:prstGeom prst="rect">
            <a:avLst/>
          </a:prstGeom>
          <a:noFill/>
        </p:spPr>
        <p:txBody>
          <a:bodyPr wrap="square" lIns="0" tIns="0" rIns="0" bIns="0" anchor="t">
            <a:spAutoFit/>
          </a:bodyPr>
          <a:lstStyle/>
          <a:p>
            <a:pPr algn="r">
              <a:lnSpc>
                <a:spcPct val="100000"/>
              </a:lnSpc>
            </a:pPr>
            <a:r>
              <a:rPr lang="en-GB" sz="950" dirty="0">
                <a:solidFill>
                  <a:srgbClr val="999999"/>
                </a:solidFill>
                <a:latin typeface="Calibri"/>
              </a:rPr>
              <a:t>10</a:t>
            </a:r>
            <a:endParaRPr sz="950" b="0" i="0" dirty="0">
              <a:solidFill>
                <a:srgbClr val="999999"/>
              </a:solidFill>
              <a:latin typeface="Calibri"/>
            </a:endParaRPr>
          </a:p>
        </p:txBody>
      </p:sp>
      <p:grpSp>
        <p:nvGrpSpPr>
          <p:cNvPr id="16" name="Group 15">
            <a:extLst>
              <a:ext uri="{FF2B5EF4-FFF2-40B4-BE49-F238E27FC236}">
                <a16:creationId xmlns:a16="http://schemas.microsoft.com/office/drawing/2014/main" id="{2F2C8000-5FC1-3176-CD57-629DAC115E2C}"/>
              </a:ext>
            </a:extLst>
          </p:cNvPr>
          <p:cNvGrpSpPr/>
          <p:nvPr/>
        </p:nvGrpSpPr>
        <p:grpSpPr>
          <a:xfrm>
            <a:off x="6537960" y="1508760"/>
            <a:ext cx="4983480" cy="4690872"/>
            <a:chOff x="6537960" y="1508760"/>
            <a:chExt cx="4983480" cy="4690872"/>
          </a:xfrm>
        </p:grpSpPr>
        <p:sp>
          <p:nvSpPr>
            <p:cNvPr id="5" name="Rounded Rectangle 4"/>
            <p:cNvSpPr/>
            <p:nvPr/>
          </p:nvSpPr>
          <p:spPr>
            <a:xfrm>
              <a:off x="6537960" y="1508760"/>
              <a:ext cx="4983480" cy="469087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6" name="Rectangle 5"/>
            <p:cNvSpPr/>
            <p:nvPr/>
          </p:nvSpPr>
          <p:spPr>
            <a:xfrm>
              <a:off x="6537960" y="1508760"/>
              <a:ext cx="4983480" cy="82296"/>
            </a:xfrm>
            <a:prstGeom prst="rect">
              <a:avLst/>
            </a:prstGeom>
            <a:solidFill>
              <a:srgbClr val="9D02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0" y="1828800"/>
              <a:ext cx="4389120" cy="320040"/>
            </a:xfrm>
            <a:prstGeom prst="rect">
              <a:avLst/>
            </a:prstGeom>
            <a:noFill/>
          </p:spPr>
          <p:txBody>
            <a:bodyPr wrap="square" lIns="0" tIns="0" rIns="0" bIns="0" anchor="t">
              <a:spAutoFit/>
            </a:bodyPr>
            <a:lstStyle/>
            <a:p>
              <a:pPr algn="l">
                <a:lnSpc>
                  <a:spcPct val="100000"/>
                </a:lnSpc>
              </a:pPr>
              <a:r>
                <a:rPr sz="1300" b="1" i="0">
                  <a:solidFill>
                    <a:srgbClr val="C9748F"/>
                  </a:solidFill>
                  <a:latin typeface="Calibri"/>
                </a:rPr>
                <a:t>CORRECTABILITY</a:t>
              </a:r>
            </a:p>
          </p:txBody>
        </p:sp>
        <p:sp>
          <p:nvSpPr>
            <p:cNvPr id="8" name="TextBox 7"/>
            <p:cNvSpPr txBox="1"/>
            <p:nvPr/>
          </p:nvSpPr>
          <p:spPr>
            <a:xfrm>
              <a:off x="6858000" y="1938528"/>
              <a:ext cx="4389120" cy="914400"/>
            </a:xfrm>
            <a:prstGeom prst="rect">
              <a:avLst/>
            </a:prstGeom>
            <a:noFill/>
          </p:spPr>
          <p:txBody>
            <a:bodyPr wrap="square" lIns="0" tIns="0" rIns="0" bIns="0" anchor="t">
              <a:spAutoFit/>
            </a:bodyPr>
            <a:lstStyle/>
            <a:p>
              <a:pPr algn="l">
                <a:lnSpc>
                  <a:spcPct val="100000"/>
                </a:lnSpc>
              </a:pPr>
              <a:r>
                <a:rPr sz="4400" b="1" i="0" dirty="0">
                  <a:solidFill>
                    <a:srgbClr val="9D0208"/>
                  </a:solidFill>
                  <a:latin typeface="Georgia"/>
                </a:rPr>
                <a:t>3 of 7</a:t>
              </a:r>
            </a:p>
          </p:txBody>
        </p:sp>
        <p:sp>
          <p:nvSpPr>
            <p:cNvPr id="9" name="TextBox 8"/>
            <p:cNvSpPr txBox="1"/>
            <p:nvPr/>
          </p:nvSpPr>
          <p:spPr>
            <a:xfrm>
              <a:off x="6858000" y="2715768"/>
              <a:ext cx="4389120" cy="365760"/>
            </a:xfrm>
            <a:prstGeom prst="rect">
              <a:avLst/>
            </a:prstGeom>
            <a:noFill/>
          </p:spPr>
          <p:txBody>
            <a:bodyPr wrap="square" lIns="0" tIns="0" rIns="0" bIns="0" anchor="t">
              <a:spAutoFit/>
            </a:bodyPr>
            <a:lstStyle/>
            <a:p>
              <a:pPr algn="l">
                <a:lnSpc>
                  <a:spcPct val="100000"/>
                </a:lnSpc>
              </a:pPr>
              <a:r>
                <a:rPr sz="1250" b="0" i="0">
                  <a:solidFill>
                    <a:srgbClr val="666666"/>
                  </a:solidFill>
                  <a:latin typeface="Calibri"/>
                </a:rPr>
                <a:t>checklist criteria met  (threshold: ≥ 80%)</a:t>
              </a:r>
            </a:p>
          </p:txBody>
        </p:sp>
        <p:sp>
          <p:nvSpPr>
            <p:cNvPr id="15" name="TextBox 14">
              <a:extLst>
                <a:ext uri="{FF2B5EF4-FFF2-40B4-BE49-F238E27FC236}">
                  <a16:creationId xmlns:a16="http://schemas.microsoft.com/office/drawing/2014/main" id="{E7F52278-6AEA-B59E-3416-9EAA0F146E8B}"/>
                </a:ext>
              </a:extLst>
            </p:cNvPr>
            <p:cNvSpPr txBox="1"/>
            <p:nvPr/>
          </p:nvSpPr>
          <p:spPr>
            <a:xfrm>
              <a:off x="6700241" y="2916852"/>
              <a:ext cx="4479052" cy="3231654"/>
            </a:xfrm>
            <a:prstGeom prst="rect">
              <a:avLst/>
            </a:prstGeom>
            <a:noFill/>
          </p:spPr>
          <p:txBody>
            <a:bodyPr wrap="square">
              <a:spAutoFit/>
            </a:bodyPr>
            <a:lstStyle/>
            <a:p>
              <a:pPr indent="0" algn="l">
                <a:spcAft>
                  <a:spcPts val="1200"/>
                </a:spcAft>
                <a:buNone/>
              </a:pPr>
              <a:r>
                <a:rPr lang="en-GB" sz="1600" b="0" i="0" dirty="0">
                  <a:solidFill>
                    <a:schemeClr val="tx1">
                      <a:lumMod val="65000"/>
                      <a:lumOff val="35000"/>
                    </a:schemeClr>
                  </a:solidFill>
                  <a:effectLst/>
                  <a:latin typeface="Source Sans"/>
                </a:rPr>
                <a:t>✅ Prediction outputs are visible and interpretable</a:t>
              </a:r>
            </a:p>
            <a:p>
              <a:pPr indent="0" algn="l">
                <a:spcAft>
                  <a:spcPts val="1200"/>
                </a:spcAft>
                <a:buNone/>
              </a:pPr>
              <a:r>
                <a:rPr lang="en-GB" sz="1600" b="0" i="0" dirty="0">
                  <a:solidFill>
                    <a:schemeClr val="tx1">
                      <a:lumMod val="65000"/>
                      <a:lumOff val="35000"/>
                    </a:schemeClr>
                  </a:solidFill>
                  <a:effectLst/>
                  <a:latin typeface="Source Sans"/>
                </a:rPr>
                <a:t>✅ Confidence scores are provided with predictions</a:t>
              </a:r>
            </a:p>
            <a:p>
              <a:pPr indent="0" algn="l">
                <a:spcAft>
                  <a:spcPts val="1200"/>
                </a:spcAft>
                <a:buNone/>
              </a:pPr>
              <a:r>
                <a:rPr lang="en-GB" sz="1600" b="0" i="0" dirty="0">
                  <a:solidFill>
                    <a:schemeClr val="tx1">
                      <a:lumMod val="65000"/>
                      <a:lumOff val="35000"/>
                    </a:schemeClr>
                  </a:solidFill>
                  <a:effectLst/>
                  <a:latin typeface="Source Sans"/>
                </a:rPr>
                <a:t>❌ Clinician override</a:t>
              </a:r>
            </a:p>
            <a:p>
              <a:pPr indent="0" algn="l">
                <a:spcAft>
                  <a:spcPts val="1200"/>
                </a:spcAft>
                <a:buNone/>
              </a:pPr>
              <a:r>
                <a:rPr lang="en-GB" sz="1600" b="0" i="0" dirty="0">
                  <a:solidFill>
                    <a:schemeClr val="tx1">
                      <a:lumMod val="65000"/>
                      <a:lumOff val="35000"/>
                    </a:schemeClr>
                  </a:solidFill>
                  <a:effectLst/>
                  <a:latin typeface="Source Sans"/>
                </a:rPr>
                <a:t>❌ Patient challenge mechanism</a:t>
              </a:r>
            </a:p>
            <a:p>
              <a:pPr indent="0" algn="l">
                <a:spcAft>
                  <a:spcPts val="1200"/>
                </a:spcAft>
                <a:buNone/>
              </a:pPr>
              <a:r>
                <a:rPr lang="en-GB" sz="1600" b="0" i="0" dirty="0">
                  <a:solidFill>
                    <a:schemeClr val="tx1">
                      <a:lumMod val="65000"/>
                      <a:lumOff val="35000"/>
                    </a:schemeClr>
                  </a:solidFill>
                  <a:effectLst/>
                  <a:latin typeface="Source Sans"/>
                </a:rPr>
                <a:t>❌ Audit trail of predictions</a:t>
              </a:r>
            </a:p>
            <a:p>
              <a:pPr indent="0" algn="l">
                <a:spcAft>
                  <a:spcPts val="1200"/>
                </a:spcAft>
                <a:buNone/>
              </a:pPr>
              <a:r>
                <a:rPr lang="en-GB" sz="1600" b="0" i="0" dirty="0">
                  <a:solidFill>
                    <a:schemeClr val="tx1">
                      <a:lumMod val="65000"/>
                      <a:lumOff val="35000"/>
                    </a:schemeClr>
                  </a:solidFill>
                  <a:effectLst/>
                  <a:latin typeface="Source Sans"/>
                </a:rPr>
                <a:t>❌ Model version history is recorded</a:t>
              </a:r>
            </a:p>
            <a:p>
              <a:pPr indent="0" algn="l">
                <a:spcAft>
                  <a:spcPts val="1200"/>
                </a:spcAft>
                <a:buNone/>
              </a:pPr>
              <a:r>
                <a:rPr lang="en-GB" sz="1600" b="0" i="0" dirty="0">
                  <a:solidFill>
                    <a:schemeClr val="tx1">
                      <a:lumMod val="65000"/>
                      <a:lumOff val="35000"/>
                    </a:schemeClr>
                  </a:solidFill>
                  <a:effectLst/>
                  <a:latin typeface="Source Sans"/>
                </a:rPr>
                <a:t>✅ Dashboard communicates uncertainty to stakeholders</a:t>
              </a:r>
            </a:p>
          </p:txBody>
        </p:sp>
      </p:grpSp>
      <p:sp>
        <p:nvSpPr>
          <p:cNvPr id="17" name="TextBox 16">
            <a:extLst>
              <a:ext uri="{FF2B5EF4-FFF2-40B4-BE49-F238E27FC236}">
                <a16:creationId xmlns:a16="http://schemas.microsoft.com/office/drawing/2014/main" id="{E1501399-01CD-10BB-27BB-ED1C9B32151B}"/>
              </a:ext>
            </a:extLst>
          </p:cNvPr>
          <p:cNvSpPr txBox="1"/>
          <p:nvPr/>
        </p:nvSpPr>
        <p:spPr>
          <a:xfrm>
            <a:off x="863655" y="4698068"/>
            <a:ext cx="1095773" cy="261610"/>
          </a:xfrm>
          <a:prstGeom prst="rect">
            <a:avLst/>
          </a:prstGeom>
          <a:noFill/>
        </p:spPr>
        <p:txBody>
          <a:bodyPr wrap="square" rtlCol="0">
            <a:spAutoFit/>
          </a:bodyPr>
          <a:lstStyle/>
          <a:p>
            <a:r>
              <a:rPr lang="en-GB" sz="1100" dirty="0">
                <a:solidFill>
                  <a:schemeClr val="tx1">
                    <a:lumMod val="75000"/>
                    <a:lumOff val="25000"/>
                  </a:schemeClr>
                </a:solidFill>
              </a:rPr>
              <a:t>(female 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6"/>
                                        </p:tgtEl>
                                        <p:attrNameLst>
                                          <p:attrName>style.visibility</p:attrName>
                                        </p:attrNameLst>
                                      </p:cBhvr>
                                      <p:to>
                                        <p:strVal val="visible"/>
                                      </p:to>
                                    </p:set>
                                    <p:anim calcmode="lin" valueType="num">
                                      <p:cBhvr additive="base">
                                        <p:cTn id="13" dur="500" fill="hold"/>
                                        <p:tgtEl>
                                          <p:spTgt spid="16"/>
                                        </p:tgtEl>
                                        <p:attrNameLst>
                                          <p:attrName>ppt_x</p:attrName>
                                        </p:attrNameLst>
                                      </p:cBhvr>
                                      <p:tavLst>
                                        <p:tav tm="0">
                                          <p:val>
                                            <p:strVal val="#ppt_x"/>
                                          </p:val>
                                        </p:tav>
                                        <p:tav tm="100000">
                                          <p:val>
                                            <p:strVal val="#ppt_x"/>
                                          </p:val>
                                        </p:tav>
                                      </p:tavLst>
                                    </p:anim>
                                    <p:anim calcmode="lin" valueType="num">
                                      <p:cBhvr additive="base">
                                        <p:cTn id="14"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2" name="TextBox 1"/>
          <p:cNvSpPr txBox="1"/>
          <p:nvPr/>
        </p:nvSpPr>
        <p:spPr>
          <a:xfrm>
            <a:off x="685800" y="384048"/>
            <a:ext cx="9144000" cy="320040"/>
          </a:xfrm>
          <a:prstGeom prst="rect">
            <a:avLst/>
          </a:prstGeom>
          <a:noFill/>
        </p:spPr>
        <p:txBody>
          <a:bodyPr wrap="square" lIns="0" tIns="0" rIns="0" bIns="0" anchor="t">
            <a:spAutoFit/>
          </a:bodyPr>
          <a:lstStyle/>
          <a:p>
            <a:pPr algn="l">
              <a:lnSpc>
                <a:spcPct val="100000"/>
              </a:lnSpc>
            </a:pPr>
            <a:r>
              <a:rPr sz="1300" b="1" i="0">
                <a:solidFill>
                  <a:srgbClr val="C9748F"/>
                </a:solidFill>
                <a:latin typeface="Calibri"/>
              </a:rPr>
              <a:t>MITIGATION APPROACH</a:t>
            </a:r>
          </a:p>
        </p:txBody>
      </p:sp>
      <p:sp>
        <p:nvSpPr>
          <p:cNvPr id="3" name="TextBox 2"/>
          <p:cNvSpPr txBox="1"/>
          <p:nvPr/>
        </p:nvSpPr>
        <p:spPr>
          <a:xfrm>
            <a:off x="685800" y="658368"/>
            <a:ext cx="10789920" cy="914400"/>
          </a:xfrm>
          <a:prstGeom prst="rect">
            <a:avLst/>
          </a:prstGeom>
          <a:noFill/>
        </p:spPr>
        <p:txBody>
          <a:bodyPr wrap="square" lIns="0" tIns="0" rIns="0" bIns="0" anchor="t">
            <a:spAutoFit/>
          </a:bodyPr>
          <a:lstStyle/>
          <a:p>
            <a:pPr algn="l">
              <a:lnSpc>
                <a:spcPct val="102000"/>
              </a:lnSpc>
            </a:pPr>
            <a:r>
              <a:rPr sz="3000" b="1" i="0">
                <a:solidFill>
                  <a:srgbClr val="1A1A1A"/>
                </a:solidFill>
                <a:latin typeface="Georgia"/>
              </a:rPr>
              <a:t>Two Targeted Interventions</a:t>
            </a:r>
          </a:p>
        </p:txBody>
      </p:sp>
      <p:sp>
        <p:nvSpPr>
          <p:cNvPr id="4" name="Rounded Rectangle 3"/>
          <p:cNvSpPr/>
          <p:nvPr/>
        </p:nvSpPr>
        <p:spPr>
          <a:xfrm>
            <a:off x="685800" y="1783080"/>
            <a:ext cx="5166360" cy="374903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85800" y="1783080"/>
            <a:ext cx="5166360" cy="82296"/>
          </a:xfrm>
          <a:prstGeom prst="rect">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005840" y="2148840"/>
            <a:ext cx="502920" cy="502920"/>
          </a:xfrm>
          <a:prstGeom prst="ellipse">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2212848"/>
            <a:ext cx="502920" cy="411480"/>
          </a:xfrm>
          <a:prstGeom prst="rect">
            <a:avLst/>
          </a:prstGeom>
          <a:noFill/>
        </p:spPr>
        <p:txBody>
          <a:bodyPr wrap="square" lIns="0" tIns="0" rIns="0" bIns="0" anchor="ctr">
            <a:spAutoFit/>
          </a:bodyPr>
          <a:lstStyle/>
          <a:p>
            <a:pPr algn="ctr">
              <a:lnSpc>
                <a:spcPct val="100000"/>
              </a:lnSpc>
            </a:pPr>
            <a:r>
              <a:rPr sz="1800" b="1" i="0">
                <a:solidFill>
                  <a:srgbClr val="FFFFFF"/>
                </a:solidFill>
                <a:latin typeface="Calibri"/>
              </a:rPr>
              <a:t>1</a:t>
            </a:r>
          </a:p>
        </p:txBody>
      </p:sp>
      <p:sp>
        <p:nvSpPr>
          <p:cNvPr id="8" name="TextBox 7"/>
          <p:cNvSpPr txBox="1"/>
          <p:nvPr/>
        </p:nvSpPr>
        <p:spPr>
          <a:xfrm>
            <a:off x="1691640" y="2167128"/>
            <a:ext cx="3886200" cy="548640"/>
          </a:xfrm>
          <a:prstGeom prst="rect">
            <a:avLst/>
          </a:prstGeom>
          <a:noFill/>
        </p:spPr>
        <p:txBody>
          <a:bodyPr wrap="square" lIns="0" tIns="0" rIns="0" bIns="0" anchor="t">
            <a:spAutoFit/>
          </a:bodyPr>
          <a:lstStyle/>
          <a:p>
            <a:pPr algn="l">
              <a:lnSpc>
                <a:spcPct val="100000"/>
              </a:lnSpc>
            </a:pPr>
            <a:r>
              <a:rPr sz="1900" b="1" i="0">
                <a:solidFill>
                  <a:srgbClr val="1A1A1A"/>
                </a:solidFill>
                <a:latin typeface="Georgia"/>
              </a:rPr>
              <a:t>Fairness-Aware Training</a:t>
            </a:r>
          </a:p>
        </p:txBody>
      </p:sp>
      <p:sp>
        <p:nvSpPr>
          <p:cNvPr id="9" name="Rounded Rectangle 8"/>
          <p:cNvSpPr/>
          <p:nvPr/>
        </p:nvSpPr>
        <p:spPr>
          <a:xfrm>
            <a:off x="1005840" y="2880360"/>
            <a:ext cx="2743200" cy="384048"/>
          </a:xfrm>
          <a:prstGeom prst="roundRect">
            <a:avLst>
              <a:gd name="adj" fmla="val 50000"/>
            </a:avLst>
          </a:prstGeom>
          <a:solidFill>
            <a:srgbClr val="F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05840" y="2962656"/>
            <a:ext cx="2743200" cy="274320"/>
          </a:xfrm>
          <a:prstGeom prst="rect">
            <a:avLst/>
          </a:prstGeom>
          <a:noFill/>
        </p:spPr>
        <p:txBody>
          <a:bodyPr wrap="square" lIns="0" tIns="0" rIns="0" bIns="0" anchor="t">
            <a:spAutoFit/>
          </a:bodyPr>
          <a:lstStyle/>
          <a:p>
            <a:pPr algn="ctr">
              <a:lnSpc>
                <a:spcPct val="100000"/>
              </a:lnSpc>
            </a:pPr>
            <a:r>
              <a:rPr sz="1000" b="1" i="0">
                <a:solidFill>
                  <a:srgbClr val="C9748F"/>
                </a:solidFill>
                <a:latin typeface="Calibri"/>
              </a:rPr>
              <a:t>ADDRESSES BIAS SUPPRESSION</a:t>
            </a:r>
          </a:p>
        </p:txBody>
      </p:sp>
      <p:sp>
        <p:nvSpPr>
          <p:cNvPr id="11" name="TextBox 10"/>
          <p:cNvSpPr txBox="1"/>
          <p:nvPr/>
        </p:nvSpPr>
        <p:spPr>
          <a:xfrm>
            <a:off x="1005840" y="3520439"/>
            <a:ext cx="4526280" cy="1178464"/>
          </a:xfrm>
          <a:prstGeom prst="rect">
            <a:avLst/>
          </a:prstGeom>
          <a:noFill/>
        </p:spPr>
        <p:txBody>
          <a:bodyPr wrap="square" lIns="0" tIns="0" rIns="0" bIns="0" anchor="t">
            <a:spAutoFit/>
          </a:bodyPr>
          <a:lstStyle/>
          <a:p>
            <a:pPr algn="l">
              <a:lnSpc>
                <a:spcPct val="140000"/>
              </a:lnSpc>
            </a:pPr>
            <a:r>
              <a:rPr sz="1400" b="0" i="0" dirty="0">
                <a:solidFill>
                  <a:schemeClr val="tx1">
                    <a:lumMod val="65000"/>
                    <a:lumOff val="35000"/>
                  </a:schemeClr>
                </a:solidFill>
                <a:latin typeface="Calibri"/>
              </a:rPr>
              <a:t>An </a:t>
            </a:r>
            <a:r>
              <a:rPr sz="1400" b="0" i="0" dirty="0" err="1">
                <a:solidFill>
                  <a:schemeClr val="tx1">
                    <a:lumMod val="65000"/>
                    <a:lumOff val="35000"/>
                  </a:schemeClr>
                </a:solidFill>
                <a:latin typeface="Calibri"/>
              </a:rPr>
              <a:t>ExponentiatedGradient</a:t>
            </a:r>
            <a:r>
              <a:rPr sz="1400" b="0" i="0" dirty="0">
                <a:solidFill>
                  <a:schemeClr val="tx1">
                    <a:lumMod val="65000"/>
                    <a:lumOff val="35000"/>
                  </a:schemeClr>
                </a:solidFill>
                <a:latin typeface="Calibri"/>
              </a:rPr>
              <a:t> algorithm, constrained by </a:t>
            </a:r>
            <a:r>
              <a:rPr sz="1400" b="0" i="0" dirty="0" err="1">
                <a:solidFill>
                  <a:schemeClr val="tx1">
                    <a:lumMod val="65000"/>
                    <a:lumOff val="35000"/>
                  </a:schemeClr>
                </a:solidFill>
                <a:latin typeface="Calibri"/>
              </a:rPr>
              <a:t>Fairlearn's</a:t>
            </a:r>
            <a:r>
              <a:rPr sz="1400" b="0" i="0" dirty="0">
                <a:solidFill>
                  <a:schemeClr val="tx1">
                    <a:lumMod val="65000"/>
                    <a:lumOff val="35000"/>
                  </a:schemeClr>
                </a:solidFill>
                <a:latin typeface="Calibri"/>
              </a:rPr>
              <a:t> </a:t>
            </a:r>
            <a:r>
              <a:rPr sz="1400" b="0" i="0" dirty="0" err="1">
                <a:solidFill>
                  <a:schemeClr val="tx1">
                    <a:lumMod val="65000"/>
                    <a:lumOff val="35000"/>
                  </a:schemeClr>
                </a:solidFill>
                <a:latin typeface="Calibri"/>
              </a:rPr>
              <a:t>EqualizedOdds</a:t>
            </a:r>
            <a:r>
              <a:rPr sz="1400" b="0" i="0" dirty="0">
                <a:solidFill>
                  <a:schemeClr val="tx1">
                    <a:lumMod val="65000"/>
                    <a:lumOff val="35000"/>
                  </a:schemeClr>
                </a:solidFill>
                <a:latin typeface="Calibri"/>
              </a:rPr>
              <a:t> criterion (tolerance 0.01), re-weighted the training data so error rates moved closer together across male and female patients.</a:t>
            </a:r>
          </a:p>
        </p:txBody>
      </p:sp>
      <p:sp>
        <p:nvSpPr>
          <p:cNvPr id="12" name="Rounded Rectangle 11"/>
          <p:cNvSpPr/>
          <p:nvPr/>
        </p:nvSpPr>
        <p:spPr>
          <a:xfrm>
            <a:off x="6309360" y="1783080"/>
            <a:ext cx="5166360" cy="374903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309360" y="1783080"/>
            <a:ext cx="5166360" cy="82296"/>
          </a:xfrm>
          <a:prstGeom prst="rect">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629400" y="2148840"/>
            <a:ext cx="502920" cy="502920"/>
          </a:xfrm>
          <a:prstGeom prst="ellipse">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29400" y="2212848"/>
            <a:ext cx="502920" cy="411480"/>
          </a:xfrm>
          <a:prstGeom prst="rect">
            <a:avLst/>
          </a:prstGeom>
          <a:noFill/>
        </p:spPr>
        <p:txBody>
          <a:bodyPr wrap="square" lIns="0" tIns="0" rIns="0" bIns="0" anchor="ctr">
            <a:spAutoFit/>
          </a:bodyPr>
          <a:lstStyle/>
          <a:p>
            <a:pPr algn="ctr">
              <a:lnSpc>
                <a:spcPct val="100000"/>
              </a:lnSpc>
            </a:pPr>
            <a:r>
              <a:rPr sz="1800" b="1" i="0">
                <a:solidFill>
                  <a:srgbClr val="FFFFFF"/>
                </a:solidFill>
                <a:latin typeface="Calibri"/>
              </a:rPr>
              <a:t>2</a:t>
            </a:r>
          </a:p>
        </p:txBody>
      </p:sp>
      <p:sp>
        <p:nvSpPr>
          <p:cNvPr id="16" name="TextBox 15"/>
          <p:cNvSpPr txBox="1"/>
          <p:nvPr/>
        </p:nvSpPr>
        <p:spPr>
          <a:xfrm>
            <a:off x="7315200" y="2167128"/>
            <a:ext cx="3886200" cy="548640"/>
          </a:xfrm>
          <a:prstGeom prst="rect">
            <a:avLst/>
          </a:prstGeom>
          <a:noFill/>
        </p:spPr>
        <p:txBody>
          <a:bodyPr wrap="square" lIns="0" tIns="0" rIns="0" bIns="0" anchor="t">
            <a:spAutoFit/>
          </a:bodyPr>
          <a:lstStyle/>
          <a:p>
            <a:pPr algn="l">
              <a:lnSpc>
                <a:spcPct val="100000"/>
              </a:lnSpc>
            </a:pPr>
            <a:r>
              <a:rPr sz="1900" b="1" i="0">
                <a:solidFill>
                  <a:srgbClr val="1A1A1A"/>
                </a:solidFill>
                <a:latin typeface="Georgia"/>
              </a:rPr>
              <a:t>Confidence-Based Flagging</a:t>
            </a:r>
          </a:p>
        </p:txBody>
      </p:sp>
      <p:sp>
        <p:nvSpPr>
          <p:cNvPr id="17" name="Rounded Rectangle 16"/>
          <p:cNvSpPr/>
          <p:nvPr/>
        </p:nvSpPr>
        <p:spPr>
          <a:xfrm>
            <a:off x="6629400" y="2880360"/>
            <a:ext cx="2743200" cy="384048"/>
          </a:xfrm>
          <a:prstGeom prst="roundRect">
            <a:avLst>
              <a:gd name="adj" fmla="val 50000"/>
            </a:avLst>
          </a:prstGeom>
          <a:solidFill>
            <a:srgbClr val="F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629400" y="2962656"/>
            <a:ext cx="2743200" cy="153888"/>
          </a:xfrm>
          <a:prstGeom prst="rect">
            <a:avLst/>
          </a:prstGeom>
          <a:noFill/>
        </p:spPr>
        <p:txBody>
          <a:bodyPr wrap="square" lIns="0" tIns="0" rIns="0" bIns="0" anchor="t">
            <a:spAutoFit/>
          </a:bodyPr>
          <a:lstStyle/>
          <a:p>
            <a:pPr algn="ctr">
              <a:lnSpc>
                <a:spcPct val="100000"/>
              </a:lnSpc>
            </a:pPr>
            <a:r>
              <a:rPr lang="en-GB" sz="1000" b="1" i="0" dirty="0">
                <a:solidFill>
                  <a:srgbClr val="C9748F"/>
                </a:solidFill>
                <a:latin typeface="Calibri"/>
              </a:rPr>
              <a:t>PARTIALLY A</a:t>
            </a:r>
            <a:r>
              <a:rPr sz="1000" b="1" i="0" dirty="0">
                <a:solidFill>
                  <a:srgbClr val="C9748F"/>
                </a:solidFill>
                <a:latin typeface="Calibri"/>
              </a:rPr>
              <a:t>DDRESSES CORRECTABILITY</a:t>
            </a:r>
          </a:p>
        </p:txBody>
      </p:sp>
      <p:sp>
        <p:nvSpPr>
          <p:cNvPr id="19" name="TextBox 18"/>
          <p:cNvSpPr txBox="1"/>
          <p:nvPr/>
        </p:nvSpPr>
        <p:spPr>
          <a:xfrm>
            <a:off x="6629400" y="3520439"/>
            <a:ext cx="4526280" cy="1480085"/>
          </a:xfrm>
          <a:prstGeom prst="rect">
            <a:avLst/>
          </a:prstGeom>
          <a:noFill/>
        </p:spPr>
        <p:txBody>
          <a:bodyPr wrap="square" lIns="0" tIns="0" rIns="0" bIns="0" anchor="t">
            <a:spAutoFit/>
          </a:bodyPr>
          <a:lstStyle/>
          <a:p>
            <a:pPr>
              <a:lnSpc>
                <a:spcPct val="140000"/>
              </a:lnSpc>
            </a:pPr>
            <a:r>
              <a:rPr lang="en-GB" sz="1400" dirty="0">
                <a:solidFill>
                  <a:schemeClr val="tx1">
                    <a:lumMod val="65000"/>
                    <a:lumOff val="35000"/>
                  </a:schemeClr>
                </a:solidFill>
              </a:rPr>
              <a:t>Predictions with model confidence between 30% and 70% are automatically flagged for clinician review. This allows for human oversight on the cases the model is least certain about. A first step toward correctability, though not a full override mechanism.</a:t>
            </a:r>
            <a:endParaRPr sz="1350" b="0" i="0" dirty="0">
              <a:solidFill>
                <a:schemeClr val="tx1">
                  <a:lumMod val="65000"/>
                  <a:lumOff val="35000"/>
                </a:schemeClr>
              </a:solidFill>
              <a:latin typeface="Calibri"/>
            </a:endParaRPr>
          </a:p>
        </p:txBody>
      </p:sp>
      <p:sp>
        <p:nvSpPr>
          <p:cNvPr id="20" name="TextBox 19"/>
          <p:cNvSpPr txBox="1"/>
          <p:nvPr/>
        </p:nvSpPr>
        <p:spPr>
          <a:xfrm>
            <a:off x="685800" y="6510528"/>
            <a:ext cx="6400800" cy="274320"/>
          </a:xfrm>
          <a:prstGeom prst="rect">
            <a:avLst/>
          </a:prstGeom>
          <a:noFill/>
        </p:spPr>
        <p:txBody>
          <a:bodyPr wrap="square" lIns="0" tIns="0" rIns="0" bIns="0" anchor="t">
            <a:spAutoFit/>
          </a:bodyPr>
          <a:lstStyle/>
          <a:p>
            <a:pPr algn="l">
              <a:lnSpc>
                <a:spcPct val="100000"/>
              </a:lnSpc>
            </a:pPr>
            <a:r>
              <a:rPr sz="950" b="0" i="0">
                <a:solidFill>
                  <a:srgbClr val="999999"/>
                </a:solidFill>
                <a:latin typeface="Calibri"/>
              </a:rPr>
              <a:t>Procedural Fairness in Healthcare AI</a:t>
            </a:r>
          </a:p>
        </p:txBody>
      </p:sp>
      <p:sp>
        <p:nvSpPr>
          <p:cNvPr id="21" name="TextBox 20"/>
          <p:cNvSpPr txBox="1"/>
          <p:nvPr/>
        </p:nvSpPr>
        <p:spPr>
          <a:xfrm>
            <a:off x="11521440" y="6510528"/>
            <a:ext cx="457200" cy="146194"/>
          </a:xfrm>
          <a:prstGeom prst="rect">
            <a:avLst/>
          </a:prstGeom>
          <a:noFill/>
        </p:spPr>
        <p:txBody>
          <a:bodyPr wrap="square" lIns="0" tIns="0" rIns="0" bIns="0" anchor="t">
            <a:spAutoFit/>
          </a:bodyPr>
          <a:lstStyle/>
          <a:p>
            <a:pPr algn="r">
              <a:lnSpc>
                <a:spcPct val="100000"/>
              </a:lnSpc>
            </a:pPr>
            <a:r>
              <a:rPr lang="en-GB" sz="950" dirty="0">
                <a:solidFill>
                  <a:srgbClr val="999999"/>
                </a:solidFill>
                <a:latin typeface="Calibri"/>
              </a:rPr>
              <a:t>11</a:t>
            </a:r>
            <a:endParaRPr sz="950" b="0" i="0" dirty="0">
              <a:solidFill>
                <a:srgbClr val="999999"/>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2" name="TextBox 1"/>
          <p:cNvSpPr txBox="1"/>
          <p:nvPr/>
        </p:nvSpPr>
        <p:spPr>
          <a:xfrm>
            <a:off x="685800" y="384048"/>
            <a:ext cx="9144000" cy="320040"/>
          </a:xfrm>
          <a:prstGeom prst="rect">
            <a:avLst/>
          </a:prstGeom>
          <a:noFill/>
        </p:spPr>
        <p:txBody>
          <a:bodyPr wrap="square" lIns="0" tIns="0" rIns="0" bIns="0" anchor="t">
            <a:spAutoFit/>
          </a:bodyPr>
          <a:lstStyle/>
          <a:p>
            <a:pPr algn="l">
              <a:lnSpc>
                <a:spcPct val="100000"/>
              </a:lnSpc>
            </a:pPr>
            <a:r>
              <a:rPr sz="1300" b="1" i="0">
                <a:solidFill>
                  <a:srgbClr val="C9748F"/>
                </a:solidFill>
                <a:latin typeface="Calibri"/>
              </a:rPr>
              <a:t>RESULTS · 1 OF 2</a:t>
            </a:r>
          </a:p>
        </p:txBody>
      </p:sp>
      <p:sp>
        <p:nvSpPr>
          <p:cNvPr id="3" name="TextBox 2"/>
          <p:cNvSpPr txBox="1"/>
          <p:nvPr/>
        </p:nvSpPr>
        <p:spPr>
          <a:xfrm>
            <a:off x="685800" y="658368"/>
            <a:ext cx="10789920" cy="442237"/>
          </a:xfrm>
          <a:prstGeom prst="rect">
            <a:avLst/>
          </a:prstGeom>
          <a:noFill/>
        </p:spPr>
        <p:txBody>
          <a:bodyPr wrap="square" lIns="0" tIns="0" rIns="0" bIns="0" anchor="t">
            <a:spAutoFit/>
          </a:bodyPr>
          <a:lstStyle/>
          <a:p>
            <a:pPr algn="l">
              <a:lnSpc>
                <a:spcPct val="102000"/>
              </a:lnSpc>
            </a:pPr>
            <a:r>
              <a:rPr sz="3000" b="1" i="0" dirty="0">
                <a:solidFill>
                  <a:srgbClr val="1A1A1A"/>
                </a:solidFill>
                <a:latin typeface="Georgia"/>
              </a:rPr>
              <a:t>The Gap Narrowed</a:t>
            </a:r>
            <a:r>
              <a:rPr lang="en-GB" sz="3000" b="1" i="0" dirty="0">
                <a:solidFill>
                  <a:srgbClr val="1A1A1A"/>
                </a:solidFill>
                <a:latin typeface="Georgia"/>
              </a:rPr>
              <a:t>,</a:t>
            </a:r>
            <a:r>
              <a:rPr sz="3000" b="1" i="0" dirty="0">
                <a:solidFill>
                  <a:srgbClr val="1A1A1A"/>
                </a:solidFill>
                <a:latin typeface="Georgia"/>
              </a:rPr>
              <a:t> But Didn't Close</a:t>
            </a:r>
          </a:p>
        </p:txBody>
      </p:sp>
      <p:sp>
        <p:nvSpPr>
          <p:cNvPr id="5" name="Rounded Rectangle 4"/>
          <p:cNvSpPr/>
          <p:nvPr/>
        </p:nvSpPr>
        <p:spPr>
          <a:xfrm>
            <a:off x="2011680" y="5577840"/>
            <a:ext cx="9021410" cy="777240"/>
          </a:xfrm>
          <a:prstGeom prst="roundRect">
            <a:avLst>
              <a:gd name="adj" fmla="val 50000"/>
            </a:avLst>
          </a:prstGeom>
          <a:solidFill>
            <a:srgbClr val="FBF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011680" y="5596731"/>
            <a:ext cx="8747090" cy="758349"/>
          </a:xfrm>
          <a:prstGeom prst="rect">
            <a:avLst/>
          </a:prstGeom>
          <a:noFill/>
        </p:spPr>
        <p:txBody>
          <a:bodyPr wrap="square" lIns="0" tIns="0" rIns="0" bIns="0" anchor="t">
            <a:spAutoFit/>
          </a:bodyPr>
          <a:lstStyle/>
          <a:p>
            <a:pPr algn="ctr">
              <a:lnSpc>
                <a:spcPct val="120000"/>
              </a:lnSpc>
            </a:pPr>
            <a:r>
              <a:rPr lang="en-GB" sz="1400" dirty="0"/>
              <a:t>The visible gap almost closed: female recall rose from 70% to 80%, with no loss for men. But both formal fairness measures improved without clearing the 0.10 limit, so bias suppression reached partial, not a full pass. Overall accuracy barely moved: 0.957 to 0.895</a:t>
            </a:r>
            <a:endParaRPr sz="1250" b="0" i="0" dirty="0">
              <a:solidFill>
                <a:srgbClr val="382B00"/>
              </a:solidFill>
              <a:latin typeface="Calibri"/>
            </a:endParaRPr>
          </a:p>
        </p:txBody>
      </p:sp>
      <p:sp>
        <p:nvSpPr>
          <p:cNvPr id="7" name="TextBox 6"/>
          <p:cNvSpPr txBox="1"/>
          <p:nvPr/>
        </p:nvSpPr>
        <p:spPr>
          <a:xfrm>
            <a:off x="685800" y="6510528"/>
            <a:ext cx="6400800" cy="274320"/>
          </a:xfrm>
          <a:prstGeom prst="rect">
            <a:avLst/>
          </a:prstGeom>
          <a:noFill/>
        </p:spPr>
        <p:txBody>
          <a:bodyPr wrap="square" lIns="0" tIns="0" rIns="0" bIns="0" anchor="t">
            <a:spAutoFit/>
          </a:bodyPr>
          <a:lstStyle/>
          <a:p>
            <a:pPr algn="l">
              <a:lnSpc>
                <a:spcPct val="100000"/>
              </a:lnSpc>
            </a:pPr>
            <a:r>
              <a:rPr sz="950" b="0" i="0">
                <a:solidFill>
                  <a:srgbClr val="999999"/>
                </a:solidFill>
                <a:latin typeface="Calibri"/>
              </a:rPr>
              <a:t>Procedural Fairness in Healthcare AI</a:t>
            </a:r>
          </a:p>
        </p:txBody>
      </p:sp>
      <p:sp>
        <p:nvSpPr>
          <p:cNvPr id="8" name="TextBox 7"/>
          <p:cNvSpPr txBox="1"/>
          <p:nvPr/>
        </p:nvSpPr>
        <p:spPr>
          <a:xfrm>
            <a:off x="11521440" y="6510528"/>
            <a:ext cx="457200" cy="146194"/>
          </a:xfrm>
          <a:prstGeom prst="rect">
            <a:avLst/>
          </a:prstGeom>
          <a:noFill/>
        </p:spPr>
        <p:txBody>
          <a:bodyPr wrap="square" lIns="0" tIns="0" rIns="0" bIns="0" anchor="t">
            <a:spAutoFit/>
          </a:bodyPr>
          <a:lstStyle/>
          <a:p>
            <a:pPr algn="r">
              <a:lnSpc>
                <a:spcPct val="100000"/>
              </a:lnSpc>
            </a:pPr>
            <a:r>
              <a:rPr lang="en-GB" sz="950" dirty="0">
                <a:solidFill>
                  <a:srgbClr val="999999"/>
                </a:solidFill>
                <a:latin typeface="Calibri"/>
              </a:rPr>
              <a:t>12</a:t>
            </a:r>
            <a:endParaRPr sz="950" b="0" i="0" dirty="0">
              <a:solidFill>
                <a:srgbClr val="999999"/>
              </a:solidFill>
              <a:latin typeface="Calibri"/>
            </a:endParaRPr>
          </a:p>
        </p:txBody>
      </p:sp>
      <p:pic>
        <p:nvPicPr>
          <p:cNvPr id="9" name="Picture 8">
            <a:extLst>
              <a:ext uri="{FF2B5EF4-FFF2-40B4-BE49-F238E27FC236}">
                <a16:creationId xmlns:a16="http://schemas.microsoft.com/office/drawing/2014/main" id="{AD7C0AE7-1758-1127-122E-6ECBAA4CC0C9}"/>
              </a:ext>
            </a:extLst>
          </p:cNvPr>
          <p:cNvPicPr>
            <a:picLocks noChangeAspect="1"/>
          </p:cNvPicPr>
          <p:nvPr/>
        </p:nvPicPr>
        <p:blipFill>
          <a:blip r:embed="rId3"/>
          <a:stretch>
            <a:fillRect/>
          </a:stretch>
        </p:blipFill>
        <p:spPr>
          <a:xfrm>
            <a:off x="2961906" y="1481237"/>
            <a:ext cx="6268187" cy="396004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25" name="Rounded Rectangle 3">
            <a:extLst>
              <a:ext uri="{FF2B5EF4-FFF2-40B4-BE49-F238E27FC236}">
                <a16:creationId xmlns:a16="http://schemas.microsoft.com/office/drawing/2014/main" id="{3329DA10-A58E-B03C-8D4B-C325AD752D3F}"/>
              </a:ext>
            </a:extLst>
          </p:cNvPr>
          <p:cNvSpPr/>
          <p:nvPr/>
        </p:nvSpPr>
        <p:spPr>
          <a:xfrm>
            <a:off x="7133107" y="1261324"/>
            <a:ext cx="4863034" cy="2849604"/>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3" name="Rounded Rectangle 3">
            <a:extLst>
              <a:ext uri="{FF2B5EF4-FFF2-40B4-BE49-F238E27FC236}">
                <a16:creationId xmlns:a16="http://schemas.microsoft.com/office/drawing/2014/main" id="{11BF127A-81A3-0247-B914-A49B00A6D734}"/>
              </a:ext>
            </a:extLst>
          </p:cNvPr>
          <p:cNvSpPr/>
          <p:nvPr/>
        </p:nvSpPr>
        <p:spPr>
          <a:xfrm>
            <a:off x="303025" y="1261324"/>
            <a:ext cx="5792975" cy="2849604"/>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 name="TextBox 1"/>
          <p:cNvSpPr txBox="1"/>
          <p:nvPr/>
        </p:nvSpPr>
        <p:spPr>
          <a:xfrm>
            <a:off x="685800" y="384048"/>
            <a:ext cx="9144000" cy="320040"/>
          </a:xfrm>
          <a:prstGeom prst="rect">
            <a:avLst/>
          </a:prstGeom>
          <a:noFill/>
        </p:spPr>
        <p:txBody>
          <a:bodyPr wrap="square" lIns="0" tIns="0" rIns="0" bIns="0" anchor="t">
            <a:spAutoFit/>
          </a:bodyPr>
          <a:lstStyle/>
          <a:p>
            <a:pPr algn="l">
              <a:lnSpc>
                <a:spcPct val="100000"/>
              </a:lnSpc>
            </a:pPr>
            <a:r>
              <a:rPr sz="1300" b="1" i="0">
                <a:solidFill>
                  <a:srgbClr val="C9748F"/>
                </a:solidFill>
                <a:latin typeface="Calibri"/>
              </a:rPr>
              <a:t>RESULTS · 2 OF 2</a:t>
            </a:r>
          </a:p>
        </p:txBody>
      </p:sp>
      <p:sp>
        <p:nvSpPr>
          <p:cNvPr id="3" name="TextBox 2"/>
          <p:cNvSpPr txBox="1"/>
          <p:nvPr/>
        </p:nvSpPr>
        <p:spPr>
          <a:xfrm>
            <a:off x="685800" y="658368"/>
            <a:ext cx="10789920" cy="442237"/>
          </a:xfrm>
          <a:prstGeom prst="rect">
            <a:avLst/>
          </a:prstGeom>
          <a:noFill/>
        </p:spPr>
        <p:txBody>
          <a:bodyPr wrap="square" lIns="0" tIns="0" rIns="0" bIns="0" anchor="t">
            <a:spAutoFit/>
          </a:bodyPr>
          <a:lstStyle/>
          <a:p>
            <a:pPr algn="l">
              <a:lnSpc>
                <a:spcPct val="102000"/>
              </a:lnSpc>
            </a:pPr>
            <a:r>
              <a:rPr sz="3000" b="1" i="0" dirty="0">
                <a:solidFill>
                  <a:srgbClr val="1A1A1A"/>
                </a:solidFill>
                <a:latin typeface="Georgia"/>
              </a:rPr>
              <a:t>Two Criteria Moved</a:t>
            </a:r>
            <a:r>
              <a:rPr lang="en-GB" sz="3000" b="1" dirty="0">
                <a:solidFill>
                  <a:srgbClr val="1A1A1A"/>
                </a:solidFill>
                <a:latin typeface="Georgia"/>
              </a:rPr>
              <a:t> From Fail to Partial </a:t>
            </a:r>
            <a:endParaRPr sz="3000" b="1" i="0" dirty="0">
              <a:solidFill>
                <a:srgbClr val="1A1A1A"/>
              </a:solidFill>
              <a:latin typeface="Georgia"/>
            </a:endParaRPr>
          </a:p>
        </p:txBody>
      </p:sp>
      <p:pic>
        <p:nvPicPr>
          <p:cNvPr id="4" name="Picture 3" descr="fairness_measures_before_after.png"/>
          <p:cNvPicPr>
            <a:picLocks noChangeAspect="1"/>
          </p:cNvPicPr>
          <p:nvPr/>
        </p:nvPicPr>
        <p:blipFill>
          <a:blip r:embed="rId3"/>
          <a:stretch>
            <a:fillRect/>
          </a:stretch>
        </p:blipFill>
        <p:spPr>
          <a:xfrm>
            <a:off x="434340" y="1771451"/>
            <a:ext cx="5631599" cy="2308993"/>
          </a:xfrm>
          <a:prstGeom prst="rect">
            <a:avLst/>
          </a:prstGeom>
        </p:spPr>
      </p:pic>
      <p:pic>
        <p:nvPicPr>
          <p:cNvPr id="5" name="Picture 4" descr="correctability_before_after.png"/>
          <p:cNvPicPr>
            <a:picLocks noChangeAspect="1"/>
          </p:cNvPicPr>
          <p:nvPr/>
        </p:nvPicPr>
        <p:blipFill>
          <a:blip r:embed="rId4"/>
          <a:stretch>
            <a:fillRect/>
          </a:stretch>
        </p:blipFill>
        <p:spPr>
          <a:xfrm>
            <a:off x="7266417" y="1842516"/>
            <a:ext cx="4596414" cy="1965960"/>
          </a:xfrm>
          <a:prstGeom prst="rect">
            <a:avLst/>
          </a:prstGeom>
        </p:spPr>
      </p:pic>
      <p:sp>
        <p:nvSpPr>
          <p:cNvPr id="6" name="TextBox 5"/>
          <p:cNvSpPr txBox="1"/>
          <p:nvPr/>
        </p:nvSpPr>
        <p:spPr>
          <a:xfrm>
            <a:off x="3356650" y="4401050"/>
            <a:ext cx="6767164" cy="184666"/>
          </a:xfrm>
          <a:prstGeom prst="rect">
            <a:avLst/>
          </a:prstGeom>
          <a:noFill/>
        </p:spPr>
        <p:txBody>
          <a:bodyPr wrap="square" lIns="0" tIns="0" rIns="0" bIns="0" anchor="t">
            <a:spAutoFit/>
          </a:bodyPr>
          <a:lstStyle/>
          <a:p>
            <a:pPr algn="l">
              <a:lnSpc>
                <a:spcPct val="100000"/>
              </a:lnSpc>
            </a:pPr>
            <a:r>
              <a:rPr sz="1200" b="0" i="1" dirty="0">
                <a:solidFill>
                  <a:srgbClr val="666666"/>
                </a:solidFill>
                <a:latin typeface="Calibri"/>
              </a:rPr>
              <a:t>Representativeness stayed at 0.64</a:t>
            </a:r>
            <a:r>
              <a:rPr lang="en-GB" sz="1200" b="0" i="1" dirty="0">
                <a:solidFill>
                  <a:srgbClr val="666666"/>
                </a:solidFill>
                <a:latin typeface="Calibri"/>
              </a:rPr>
              <a:t>: </a:t>
            </a:r>
            <a:r>
              <a:rPr sz="1200" b="0" i="1" dirty="0">
                <a:solidFill>
                  <a:srgbClr val="666666"/>
                </a:solidFill>
                <a:latin typeface="Calibri"/>
              </a:rPr>
              <a:t>unchanged, because mitigation cannot fix a data problem.</a:t>
            </a:r>
          </a:p>
        </p:txBody>
      </p:sp>
      <p:sp>
        <p:nvSpPr>
          <p:cNvPr id="7" name="TextBox 6"/>
          <p:cNvSpPr txBox="1"/>
          <p:nvPr/>
        </p:nvSpPr>
        <p:spPr>
          <a:xfrm>
            <a:off x="685800" y="4892040"/>
            <a:ext cx="7315200" cy="320040"/>
          </a:xfrm>
          <a:prstGeom prst="rect">
            <a:avLst/>
          </a:prstGeom>
          <a:noFill/>
        </p:spPr>
        <p:txBody>
          <a:bodyPr wrap="square" lIns="0" tIns="0" rIns="0" bIns="0" anchor="t">
            <a:spAutoFit/>
          </a:bodyPr>
          <a:lstStyle/>
          <a:p>
            <a:pPr algn="l">
              <a:lnSpc>
                <a:spcPct val="100000"/>
              </a:lnSpc>
            </a:pPr>
            <a:r>
              <a:rPr sz="1250" b="1" i="0">
                <a:solidFill>
                  <a:srgbClr val="1A1A1A"/>
                </a:solidFill>
                <a:latin typeface="Calibri"/>
              </a:rPr>
              <a:t>AFTER MITIGATION: 3 PASS · 2 PARTIAL · 1 FAIL</a:t>
            </a:r>
          </a:p>
        </p:txBody>
      </p:sp>
      <p:sp>
        <p:nvSpPr>
          <p:cNvPr id="8" name="Oval 7"/>
          <p:cNvSpPr/>
          <p:nvPr/>
        </p:nvSpPr>
        <p:spPr>
          <a:xfrm>
            <a:off x="1106424" y="5495544"/>
            <a:ext cx="256032" cy="256032"/>
          </a:xfrm>
          <a:prstGeom prst="ellipse">
            <a:avLst/>
          </a:prstGeom>
          <a:solidFill>
            <a:srgbClr val="2D6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4340" y="5824728"/>
            <a:ext cx="1600200" cy="457200"/>
          </a:xfrm>
          <a:prstGeom prst="rect">
            <a:avLst/>
          </a:prstGeom>
          <a:noFill/>
        </p:spPr>
        <p:txBody>
          <a:bodyPr wrap="square" lIns="0" tIns="0" rIns="0" bIns="0" anchor="t">
            <a:spAutoFit/>
          </a:bodyPr>
          <a:lstStyle/>
          <a:p>
            <a:pPr algn="ctr">
              <a:lnSpc>
                <a:spcPct val="100000"/>
              </a:lnSpc>
            </a:pPr>
            <a:r>
              <a:rPr sz="1100" b="0" i="0">
                <a:solidFill>
                  <a:srgbClr val="666666"/>
                </a:solidFill>
                <a:latin typeface="Calibri"/>
              </a:rPr>
              <a:t>Accuracy</a:t>
            </a:r>
          </a:p>
        </p:txBody>
      </p:sp>
      <p:sp>
        <p:nvSpPr>
          <p:cNvPr id="10" name="Oval 9"/>
          <p:cNvSpPr/>
          <p:nvPr/>
        </p:nvSpPr>
        <p:spPr>
          <a:xfrm>
            <a:off x="2798064" y="5495544"/>
            <a:ext cx="256032" cy="256032"/>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125980" y="5824728"/>
            <a:ext cx="1600200" cy="457200"/>
          </a:xfrm>
          <a:prstGeom prst="rect">
            <a:avLst/>
          </a:prstGeom>
          <a:noFill/>
        </p:spPr>
        <p:txBody>
          <a:bodyPr wrap="square" lIns="0" tIns="0" rIns="0" bIns="0" anchor="t">
            <a:spAutoFit/>
          </a:bodyPr>
          <a:lstStyle/>
          <a:p>
            <a:pPr algn="ctr">
              <a:lnSpc>
                <a:spcPct val="100000"/>
              </a:lnSpc>
            </a:pPr>
            <a:r>
              <a:rPr sz="1100" b="0" i="0">
                <a:solidFill>
                  <a:srgbClr val="666666"/>
                </a:solidFill>
                <a:latin typeface="Calibri"/>
              </a:rPr>
              <a:t>Bias</a:t>
            </a:r>
          </a:p>
          <a:p>
            <a:pPr algn="ctr">
              <a:lnSpc>
                <a:spcPct val="100000"/>
              </a:lnSpc>
            </a:pPr>
            <a:r>
              <a:rPr sz="1100" b="0" i="0">
                <a:solidFill>
                  <a:srgbClr val="666666"/>
                </a:solidFill>
                <a:latin typeface="Calibri"/>
              </a:rPr>
              <a:t>Suppression</a:t>
            </a:r>
          </a:p>
        </p:txBody>
      </p:sp>
      <p:sp>
        <p:nvSpPr>
          <p:cNvPr id="12" name="Oval 11"/>
          <p:cNvSpPr/>
          <p:nvPr/>
        </p:nvSpPr>
        <p:spPr>
          <a:xfrm>
            <a:off x="4489704" y="5495544"/>
            <a:ext cx="256032" cy="256032"/>
          </a:xfrm>
          <a:prstGeom prst="ellipse">
            <a:avLst/>
          </a:prstGeom>
          <a:noFill/>
          <a:ln w="30480">
            <a:solidFill>
              <a:srgbClr val="9D020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817620" y="5824728"/>
            <a:ext cx="1600200" cy="457200"/>
          </a:xfrm>
          <a:prstGeom prst="rect">
            <a:avLst/>
          </a:prstGeom>
          <a:noFill/>
        </p:spPr>
        <p:txBody>
          <a:bodyPr wrap="square" lIns="0" tIns="0" rIns="0" bIns="0" anchor="t">
            <a:spAutoFit/>
          </a:bodyPr>
          <a:lstStyle/>
          <a:p>
            <a:pPr algn="ctr">
              <a:lnSpc>
                <a:spcPct val="100000"/>
              </a:lnSpc>
            </a:pPr>
            <a:r>
              <a:rPr sz="1100" b="0" i="0">
                <a:solidFill>
                  <a:srgbClr val="666666"/>
                </a:solidFill>
                <a:latin typeface="Calibri"/>
              </a:rPr>
              <a:t>Representativeness</a:t>
            </a:r>
          </a:p>
        </p:txBody>
      </p:sp>
      <p:sp>
        <p:nvSpPr>
          <p:cNvPr id="14" name="Oval 13"/>
          <p:cNvSpPr/>
          <p:nvPr/>
        </p:nvSpPr>
        <p:spPr>
          <a:xfrm>
            <a:off x="6181344" y="5495544"/>
            <a:ext cx="256032" cy="256032"/>
          </a:xfrm>
          <a:prstGeom prst="ellipse">
            <a:avLst/>
          </a:prstGeom>
          <a:solidFill>
            <a:srgbClr val="2D6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509260" y="5824728"/>
            <a:ext cx="1600200" cy="457200"/>
          </a:xfrm>
          <a:prstGeom prst="rect">
            <a:avLst/>
          </a:prstGeom>
          <a:noFill/>
        </p:spPr>
        <p:txBody>
          <a:bodyPr wrap="square" lIns="0" tIns="0" rIns="0" bIns="0" anchor="t">
            <a:spAutoFit/>
          </a:bodyPr>
          <a:lstStyle/>
          <a:p>
            <a:pPr algn="ctr">
              <a:lnSpc>
                <a:spcPct val="100000"/>
              </a:lnSpc>
            </a:pPr>
            <a:r>
              <a:rPr sz="1100" b="0" i="0">
                <a:solidFill>
                  <a:srgbClr val="666666"/>
                </a:solidFill>
                <a:latin typeface="Calibri"/>
              </a:rPr>
              <a:t>Consistency</a:t>
            </a:r>
          </a:p>
        </p:txBody>
      </p:sp>
      <p:sp>
        <p:nvSpPr>
          <p:cNvPr id="16" name="Oval 15"/>
          <p:cNvSpPr/>
          <p:nvPr/>
        </p:nvSpPr>
        <p:spPr>
          <a:xfrm>
            <a:off x="7872983" y="5495544"/>
            <a:ext cx="256032" cy="256032"/>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200900" y="5824728"/>
            <a:ext cx="1600200" cy="457200"/>
          </a:xfrm>
          <a:prstGeom prst="rect">
            <a:avLst/>
          </a:prstGeom>
          <a:noFill/>
        </p:spPr>
        <p:txBody>
          <a:bodyPr wrap="square" lIns="0" tIns="0" rIns="0" bIns="0" anchor="t">
            <a:spAutoFit/>
          </a:bodyPr>
          <a:lstStyle/>
          <a:p>
            <a:pPr algn="ctr">
              <a:lnSpc>
                <a:spcPct val="100000"/>
              </a:lnSpc>
            </a:pPr>
            <a:r>
              <a:rPr sz="1100" b="0" i="0">
                <a:solidFill>
                  <a:srgbClr val="666666"/>
                </a:solidFill>
                <a:latin typeface="Calibri"/>
              </a:rPr>
              <a:t>Correctability</a:t>
            </a:r>
          </a:p>
        </p:txBody>
      </p:sp>
      <p:sp>
        <p:nvSpPr>
          <p:cNvPr id="18" name="Oval 17"/>
          <p:cNvSpPr/>
          <p:nvPr/>
        </p:nvSpPr>
        <p:spPr>
          <a:xfrm>
            <a:off x="9564624" y="5495544"/>
            <a:ext cx="256032" cy="256032"/>
          </a:xfrm>
          <a:prstGeom prst="ellipse">
            <a:avLst/>
          </a:prstGeom>
          <a:solidFill>
            <a:srgbClr val="2D6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92540" y="5824728"/>
            <a:ext cx="1600200" cy="457200"/>
          </a:xfrm>
          <a:prstGeom prst="rect">
            <a:avLst/>
          </a:prstGeom>
          <a:noFill/>
        </p:spPr>
        <p:txBody>
          <a:bodyPr wrap="square" lIns="0" tIns="0" rIns="0" bIns="0" anchor="t">
            <a:spAutoFit/>
          </a:bodyPr>
          <a:lstStyle/>
          <a:p>
            <a:pPr algn="ctr">
              <a:lnSpc>
                <a:spcPct val="100000"/>
              </a:lnSpc>
            </a:pPr>
            <a:r>
              <a:rPr sz="1100" b="0" i="0">
                <a:solidFill>
                  <a:srgbClr val="666666"/>
                </a:solidFill>
                <a:latin typeface="Calibri"/>
              </a:rPr>
              <a:t>Ethicality</a:t>
            </a:r>
          </a:p>
        </p:txBody>
      </p:sp>
      <p:sp>
        <p:nvSpPr>
          <p:cNvPr id="20" name="TextBox 19"/>
          <p:cNvSpPr txBox="1"/>
          <p:nvPr/>
        </p:nvSpPr>
        <p:spPr>
          <a:xfrm>
            <a:off x="685800" y="6510528"/>
            <a:ext cx="6400800" cy="274320"/>
          </a:xfrm>
          <a:prstGeom prst="rect">
            <a:avLst/>
          </a:prstGeom>
          <a:noFill/>
        </p:spPr>
        <p:txBody>
          <a:bodyPr wrap="square" lIns="0" tIns="0" rIns="0" bIns="0" anchor="t">
            <a:spAutoFit/>
          </a:bodyPr>
          <a:lstStyle/>
          <a:p>
            <a:pPr algn="l">
              <a:lnSpc>
                <a:spcPct val="100000"/>
              </a:lnSpc>
            </a:pPr>
            <a:r>
              <a:rPr sz="950" b="0" i="0">
                <a:solidFill>
                  <a:srgbClr val="999999"/>
                </a:solidFill>
                <a:latin typeface="Calibri"/>
              </a:rPr>
              <a:t>Procedural Fairness in Healthcare AI</a:t>
            </a:r>
          </a:p>
        </p:txBody>
      </p:sp>
      <p:sp>
        <p:nvSpPr>
          <p:cNvPr id="21" name="TextBox 20"/>
          <p:cNvSpPr txBox="1"/>
          <p:nvPr/>
        </p:nvSpPr>
        <p:spPr>
          <a:xfrm>
            <a:off x="11521440" y="6510528"/>
            <a:ext cx="457200" cy="146194"/>
          </a:xfrm>
          <a:prstGeom prst="rect">
            <a:avLst/>
          </a:prstGeom>
          <a:noFill/>
        </p:spPr>
        <p:txBody>
          <a:bodyPr wrap="square" lIns="0" tIns="0" rIns="0" bIns="0" anchor="t">
            <a:spAutoFit/>
          </a:bodyPr>
          <a:lstStyle/>
          <a:p>
            <a:pPr algn="r">
              <a:lnSpc>
                <a:spcPct val="100000"/>
              </a:lnSpc>
            </a:pPr>
            <a:r>
              <a:rPr sz="950" b="0" i="0" dirty="0">
                <a:solidFill>
                  <a:srgbClr val="999999"/>
                </a:solidFill>
                <a:latin typeface="Calibri"/>
              </a:rPr>
              <a:t>1</a:t>
            </a:r>
            <a:r>
              <a:rPr lang="en-GB" sz="950" b="0" i="0" dirty="0">
                <a:solidFill>
                  <a:srgbClr val="999999"/>
                </a:solidFill>
                <a:latin typeface="Calibri"/>
              </a:rPr>
              <a:t>3</a:t>
            </a:r>
            <a:endParaRPr sz="950" b="0" i="0" dirty="0">
              <a:solidFill>
                <a:srgbClr val="999999"/>
              </a:solidFill>
              <a:latin typeface="Calibri"/>
            </a:endParaRPr>
          </a:p>
        </p:txBody>
      </p:sp>
      <p:sp>
        <p:nvSpPr>
          <p:cNvPr id="30" name="Rectangle: Rounded Corners 29">
            <a:extLst>
              <a:ext uri="{FF2B5EF4-FFF2-40B4-BE49-F238E27FC236}">
                <a16:creationId xmlns:a16="http://schemas.microsoft.com/office/drawing/2014/main" id="{0BDF14E9-CE4D-5D13-3AC3-B3808C40964A}"/>
              </a:ext>
            </a:extLst>
          </p:cNvPr>
          <p:cNvSpPr/>
          <p:nvPr/>
        </p:nvSpPr>
        <p:spPr>
          <a:xfrm>
            <a:off x="295656" y="1273651"/>
            <a:ext cx="5800344" cy="435020"/>
          </a:xfrm>
          <a:prstGeom prst="roundRect">
            <a:avLst/>
          </a:prstGeom>
          <a:solidFill>
            <a:srgbClr val="F2C4CE"/>
          </a:solidFill>
          <a:ln>
            <a:noFill/>
          </a:ln>
          <a:effectLst>
            <a:outerShdw sx="1000" sy="1000" rotWithShape="0">
              <a:srgbClr val="000000"/>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GB" sz="2400" b="1" dirty="0">
                <a:solidFill>
                  <a:srgbClr val="C9748F"/>
                </a:solidFill>
              </a:rPr>
              <a:t>Bias Suppression</a:t>
            </a:r>
          </a:p>
        </p:txBody>
      </p:sp>
      <p:sp>
        <p:nvSpPr>
          <p:cNvPr id="32" name="Rectangle: Rounded Corners 31">
            <a:extLst>
              <a:ext uri="{FF2B5EF4-FFF2-40B4-BE49-F238E27FC236}">
                <a16:creationId xmlns:a16="http://schemas.microsoft.com/office/drawing/2014/main" id="{D2EC07A6-CC30-A208-2ED4-3CA9F502CA36}"/>
              </a:ext>
            </a:extLst>
          </p:cNvPr>
          <p:cNvSpPr/>
          <p:nvPr/>
        </p:nvSpPr>
        <p:spPr>
          <a:xfrm>
            <a:off x="7138231" y="1261324"/>
            <a:ext cx="4857910" cy="435020"/>
          </a:xfrm>
          <a:prstGeom prst="roundRect">
            <a:avLst/>
          </a:prstGeom>
          <a:solidFill>
            <a:srgbClr val="F2C4CE"/>
          </a:solidFill>
          <a:ln>
            <a:noFill/>
          </a:ln>
          <a:effectLst>
            <a:outerShdw sx="1000" sy="1000" rotWithShape="0">
              <a:srgbClr val="000000"/>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GB" sz="2400" b="1" dirty="0">
                <a:solidFill>
                  <a:srgbClr val="C9748F"/>
                </a:solidFill>
              </a:rPr>
              <a:t>Correctability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500" fill="hold"/>
                                        <p:tgtEl>
                                          <p:spTgt spid="30"/>
                                        </p:tgtEl>
                                        <p:attrNameLst>
                                          <p:attrName>ppt_x</p:attrName>
                                        </p:attrNameLst>
                                      </p:cBhvr>
                                      <p:tavLst>
                                        <p:tav tm="0">
                                          <p:val>
                                            <p:strVal val="#ppt_x"/>
                                          </p:val>
                                        </p:tav>
                                        <p:tav tm="100000">
                                          <p:val>
                                            <p:strVal val="#ppt_x"/>
                                          </p:val>
                                        </p:tav>
                                      </p:tavLst>
                                    </p:anim>
                                    <p:anim calcmode="lin" valueType="num">
                                      <p:cBhvr additive="base">
                                        <p:cTn id="12" dur="500" fill="hold"/>
                                        <p:tgtEl>
                                          <p:spTgt spid="30"/>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anim calcmode="lin" valueType="num">
                                      <p:cBhvr additive="base">
                                        <p:cTn id="15" dur="500" fill="hold"/>
                                        <p:tgtEl>
                                          <p:spTgt spid="23"/>
                                        </p:tgtEl>
                                        <p:attrNameLst>
                                          <p:attrName>ppt_x</p:attrName>
                                        </p:attrNameLst>
                                      </p:cBhvr>
                                      <p:tavLst>
                                        <p:tav tm="0">
                                          <p:val>
                                            <p:strVal val="#ppt_x"/>
                                          </p:val>
                                        </p:tav>
                                        <p:tav tm="100000">
                                          <p:val>
                                            <p:strVal val="#ppt_x"/>
                                          </p:val>
                                        </p:tav>
                                      </p:tavLst>
                                    </p:anim>
                                    <p:anim calcmode="lin" valueType="num">
                                      <p:cBhvr additive="base">
                                        <p:cTn id="16"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anim calcmode="lin" valueType="num">
                                      <p:cBhvr additive="base">
                                        <p:cTn id="21" dur="500" fill="hold"/>
                                        <p:tgtEl>
                                          <p:spTgt spid="5"/>
                                        </p:tgtEl>
                                        <p:attrNameLst>
                                          <p:attrName>ppt_x</p:attrName>
                                        </p:attrNameLst>
                                      </p:cBhvr>
                                      <p:tavLst>
                                        <p:tav tm="0">
                                          <p:val>
                                            <p:strVal val="#ppt_x"/>
                                          </p:val>
                                        </p:tav>
                                        <p:tav tm="100000">
                                          <p:val>
                                            <p:strVal val="#ppt_x"/>
                                          </p:val>
                                        </p:tav>
                                      </p:tavLst>
                                    </p:anim>
                                    <p:anim calcmode="lin" valueType="num">
                                      <p:cBhvr additive="base">
                                        <p:cTn id="22" dur="500" fill="hold"/>
                                        <p:tgtEl>
                                          <p:spTgt spid="5"/>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2"/>
                                        </p:tgtEl>
                                        <p:attrNameLst>
                                          <p:attrName>style.visibility</p:attrName>
                                        </p:attrNameLst>
                                      </p:cBhvr>
                                      <p:to>
                                        <p:strVal val="visible"/>
                                      </p:to>
                                    </p:set>
                                    <p:anim calcmode="lin" valueType="num">
                                      <p:cBhvr additive="base">
                                        <p:cTn id="25" dur="500" fill="hold"/>
                                        <p:tgtEl>
                                          <p:spTgt spid="32"/>
                                        </p:tgtEl>
                                        <p:attrNameLst>
                                          <p:attrName>ppt_x</p:attrName>
                                        </p:attrNameLst>
                                      </p:cBhvr>
                                      <p:tavLst>
                                        <p:tav tm="0">
                                          <p:val>
                                            <p:strVal val="#ppt_x"/>
                                          </p:val>
                                        </p:tav>
                                        <p:tav tm="100000">
                                          <p:val>
                                            <p:strVal val="#ppt_x"/>
                                          </p:val>
                                        </p:tav>
                                      </p:tavLst>
                                    </p:anim>
                                    <p:anim calcmode="lin" valueType="num">
                                      <p:cBhvr additive="base">
                                        <p:cTn id="26" dur="500" fill="hold"/>
                                        <p:tgtEl>
                                          <p:spTgt spid="32"/>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25"/>
                                        </p:tgtEl>
                                        <p:attrNameLst>
                                          <p:attrName>style.visibility</p:attrName>
                                        </p:attrNameLst>
                                      </p:cBhvr>
                                      <p:to>
                                        <p:strVal val="visible"/>
                                      </p:to>
                                    </p:set>
                                    <p:anim calcmode="lin" valueType="num">
                                      <p:cBhvr additive="base">
                                        <p:cTn id="29" dur="500" fill="hold"/>
                                        <p:tgtEl>
                                          <p:spTgt spid="25"/>
                                        </p:tgtEl>
                                        <p:attrNameLst>
                                          <p:attrName>ppt_x</p:attrName>
                                        </p:attrNameLst>
                                      </p:cBhvr>
                                      <p:tavLst>
                                        <p:tav tm="0">
                                          <p:val>
                                            <p:strVal val="#ppt_x"/>
                                          </p:val>
                                        </p:tav>
                                        <p:tav tm="100000">
                                          <p:val>
                                            <p:strVal val="#ppt_x"/>
                                          </p:val>
                                        </p:tav>
                                      </p:tavLst>
                                    </p:anim>
                                    <p:anim calcmode="lin" valueType="num">
                                      <p:cBhvr additive="base">
                                        <p:cTn id="30" dur="500" fill="hold"/>
                                        <p:tgtEl>
                                          <p:spTgt spid="25"/>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6"/>
                                        </p:tgtEl>
                                        <p:attrNameLst>
                                          <p:attrName>style.visibility</p:attrName>
                                        </p:attrNameLst>
                                      </p:cBhvr>
                                      <p:to>
                                        <p:strVal val="visible"/>
                                      </p:to>
                                    </p:set>
                                    <p:anim calcmode="lin" valueType="num">
                                      <p:cBhvr additive="base">
                                        <p:cTn id="35" dur="500" fill="hold"/>
                                        <p:tgtEl>
                                          <p:spTgt spid="6"/>
                                        </p:tgtEl>
                                        <p:attrNameLst>
                                          <p:attrName>ppt_x</p:attrName>
                                        </p:attrNameLst>
                                      </p:cBhvr>
                                      <p:tavLst>
                                        <p:tav tm="0">
                                          <p:val>
                                            <p:strVal val="#ppt_x"/>
                                          </p:val>
                                        </p:tav>
                                        <p:tav tm="100000">
                                          <p:val>
                                            <p:strVal val="#ppt_x"/>
                                          </p:val>
                                        </p:tav>
                                      </p:tavLst>
                                    </p:anim>
                                    <p:anim calcmode="lin" valueType="num">
                                      <p:cBhvr additive="base">
                                        <p:cTn id="36"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3" grpId="0" animBg="1"/>
      <p:bldP spid="6" grpId="0"/>
      <p:bldP spid="30" grpId="0" animBg="1"/>
      <p:bldP spid="3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2" name="TextBox 1"/>
          <p:cNvSpPr txBox="1"/>
          <p:nvPr/>
        </p:nvSpPr>
        <p:spPr>
          <a:xfrm>
            <a:off x="685800" y="384048"/>
            <a:ext cx="9144000" cy="200055"/>
          </a:xfrm>
          <a:prstGeom prst="rect">
            <a:avLst/>
          </a:prstGeom>
          <a:noFill/>
        </p:spPr>
        <p:txBody>
          <a:bodyPr wrap="square" lIns="0" tIns="0" rIns="0" bIns="0" anchor="t">
            <a:spAutoFit/>
          </a:bodyPr>
          <a:lstStyle/>
          <a:p>
            <a:pPr algn="l">
              <a:lnSpc>
                <a:spcPct val="100000"/>
              </a:lnSpc>
            </a:pPr>
            <a:r>
              <a:rPr sz="1300" b="1" i="0" dirty="0">
                <a:solidFill>
                  <a:srgbClr val="C9748F"/>
                </a:solidFill>
                <a:latin typeface="Calibri"/>
              </a:rPr>
              <a:t>PUBLIC SURVEY </a:t>
            </a:r>
          </a:p>
        </p:txBody>
      </p:sp>
      <p:sp>
        <p:nvSpPr>
          <p:cNvPr id="3" name="TextBox 2"/>
          <p:cNvSpPr txBox="1"/>
          <p:nvPr/>
        </p:nvSpPr>
        <p:spPr>
          <a:xfrm>
            <a:off x="685800" y="658368"/>
            <a:ext cx="10789920" cy="914400"/>
          </a:xfrm>
          <a:prstGeom prst="rect">
            <a:avLst/>
          </a:prstGeom>
          <a:noFill/>
        </p:spPr>
        <p:txBody>
          <a:bodyPr wrap="square" lIns="0" tIns="0" rIns="0" bIns="0" anchor="t">
            <a:spAutoFit/>
          </a:bodyPr>
          <a:lstStyle/>
          <a:p>
            <a:pPr algn="l">
              <a:lnSpc>
                <a:spcPct val="102000"/>
              </a:lnSpc>
            </a:pPr>
            <a:r>
              <a:rPr sz="3000" b="1" i="0" dirty="0">
                <a:solidFill>
                  <a:srgbClr val="1A1A1A"/>
                </a:solidFill>
                <a:latin typeface="Georgia"/>
              </a:rPr>
              <a:t>What Do People Actually Expect?</a:t>
            </a:r>
          </a:p>
        </p:txBody>
      </p:sp>
      <p:sp>
        <p:nvSpPr>
          <p:cNvPr id="5" name="TextBox 4"/>
          <p:cNvSpPr txBox="1"/>
          <p:nvPr/>
        </p:nvSpPr>
        <p:spPr>
          <a:xfrm>
            <a:off x="685800" y="5989320"/>
            <a:ext cx="10789920" cy="184666"/>
          </a:xfrm>
          <a:prstGeom prst="rect">
            <a:avLst/>
          </a:prstGeom>
          <a:noFill/>
        </p:spPr>
        <p:txBody>
          <a:bodyPr wrap="square" lIns="0" tIns="0" rIns="0" bIns="0" anchor="t">
            <a:spAutoFit/>
          </a:bodyPr>
          <a:lstStyle/>
          <a:p>
            <a:pPr algn="ctr">
              <a:lnSpc>
                <a:spcPct val="100000"/>
              </a:lnSpc>
            </a:pPr>
            <a:r>
              <a:rPr lang="en-GB" sz="1200" dirty="0">
                <a:solidFill>
                  <a:schemeClr val="tx1">
                    <a:lumMod val="65000"/>
                    <a:lumOff val="35000"/>
                  </a:schemeClr>
                </a:solidFill>
              </a:rPr>
              <a:t>An online survey of 325 members of the public on what they expect from AI in healthcare decisions</a:t>
            </a:r>
            <a:endParaRPr sz="1200" b="0" i="1" dirty="0">
              <a:solidFill>
                <a:srgbClr val="666666"/>
              </a:solidFill>
              <a:latin typeface="Calibri"/>
            </a:endParaRPr>
          </a:p>
        </p:txBody>
      </p:sp>
      <p:sp>
        <p:nvSpPr>
          <p:cNvPr id="6" name="TextBox 5"/>
          <p:cNvSpPr txBox="1"/>
          <p:nvPr/>
        </p:nvSpPr>
        <p:spPr>
          <a:xfrm>
            <a:off x="685800" y="6510528"/>
            <a:ext cx="6400800" cy="274320"/>
          </a:xfrm>
          <a:prstGeom prst="rect">
            <a:avLst/>
          </a:prstGeom>
          <a:noFill/>
        </p:spPr>
        <p:txBody>
          <a:bodyPr wrap="square" lIns="0" tIns="0" rIns="0" bIns="0" anchor="t">
            <a:spAutoFit/>
          </a:bodyPr>
          <a:lstStyle/>
          <a:p>
            <a:pPr algn="l">
              <a:lnSpc>
                <a:spcPct val="100000"/>
              </a:lnSpc>
            </a:pPr>
            <a:r>
              <a:rPr sz="950" b="0" i="0">
                <a:solidFill>
                  <a:srgbClr val="999999"/>
                </a:solidFill>
                <a:latin typeface="Calibri"/>
              </a:rPr>
              <a:t>Procedural Fairness in Healthcare AI</a:t>
            </a:r>
          </a:p>
        </p:txBody>
      </p:sp>
      <p:sp>
        <p:nvSpPr>
          <p:cNvPr id="7" name="TextBox 6"/>
          <p:cNvSpPr txBox="1"/>
          <p:nvPr/>
        </p:nvSpPr>
        <p:spPr>
          <a:xfrm>
            <a:off x="11521440" y="6510528"/>
            <a:ext cx="457200" cy="146194"/>
          </a:xfrm>
          <a:prstGeom prst="rect">
            <a:avLst/>
          </a:prstGeom>
          <a:noFill/>
        </p:spPr>
        <p:txBody>
          <a:bodyPr wrap="square" lIns="0" tIns="0" rIns="0" bIns="0" anchor="t">
            <a:spAutoFit/>
          </a:bodyPr>
          <a:lstStyle/>
          <a:p>
            <a:pPr algn="r">
              <a:lnSpc>
                <a:spcPct val="100000"/>
              </a:lnSpc>
            </a:pPr>
            <a:r>
              <a:rPr sz="950" b="0" i="0" dirty="0">
                <a:solidFill>
                  <a:srgbClr val="999999"/>
                </a:solidFill>
                <a:latin typeface="Calibri"/>
              </a:rPr>
              <a:t>1</a:t>
            </a:r>
            <a:r>
              <a:rPr lang="en-GB" sz="950" b="0" i="0" dirty="0">
                <a:solidFill>
                  <a:srgbClr val="999999"/>
                </a:solidFill>
                <a:latin typeface="Calibri"/>
              </a:rPr>
              <a:t>4</a:t>
            </a:r>
            <a:endParaRPr sz="950" b="0" i="0" dirty="0">
              <a:solidFill>
                <a:srgbClr val="999999"/>
              </a:solidFill>
              <a:latin typeface="Calibri"/>
            </a:endParaRPr>
          </a:p>
        </p:txBody>
      </p:sp>
      <p:sp>
        <p:nvSpPr>
          <p:cNvPr id="11" name="TextBox 10">
            <a:extLst>
              <a:ext uri="{FF2B5EF4-FFF2-40B4-BE49-F238E27FC236}">
                <a16:creationId xmlns:a16="http://schemas.microsoft.com/office/drawing/2014/main" id="{D57AEDB5-F34C-B3F8-9B9F-E765DEA789B5}"/>
              </a:ext>
            </a:extLst>
          </p:cNvPr>
          <p:cNvSpPr txBox="1"/>
          <p:nvPr/>
        </p:nvSpPr>
        <p:spPr>
          <a:xfrm>
            <a:off x="716280" y="1108501"/>
            <a:ext cx="10607040" cy="294183"/>
          </a:xfrm>
          <a:prstGeom prst="rect">
            <a:avLst/>
          </a:prstGeom>
          <a:noFill/>
        </p:spPr>
        <p:txBody>
          <a:bodyPr wrap="square" lIns="0" tIns="0" rIns="0" bIns="0" anchor="t">
            <a:spAutoFit/>
          </a:bodyPr>
          <a:lstStyle/>
          <a:p>
            <a:pPr>
              <a:lnSpc>
                <a:spcPct val="130000"/>
              </a:lnSpc>
            </a:pPr>
            <a:r>
              <a:rPr lang="en-GB" sz="1600" dirty="0">
                <a:solidFill>
                  <a:schemeClr val="tx1">
                    <a:lumMod val="65000"/>
                    <a:lumOff val="35000"/>
                  </a:schemeClr>
                </a:solidFill>
              </a:rPr>
              <a:t>Human oversight and transparency dominate. The public wants a say in AI decisions about their care</a:t>
            </a:r>
            <a:r>
              <a:rPr lang="en-GB" sz="1600" dirty="0"/>
              <a:t>.</a:t>
            </a:r>
            <a:endParaRPr lang="en-GB" sz="1700" b="0" i="0" dirty="0">
              <a:solidFill>
                <a:schemeClr val="tx1">
                  <a:lumMod val="65000"/>
                  <a:lumOff val="35000"/>
                </a:schemeClr>
              </a:solidFill>
              <a:latin typeface="Calibri"/>
            </a:endParaRPr>
          </a:p>
        </p:txBody>
      </p:sp>
      <p:sp>
        <p:nvSpPr>
          <p:cNvPr id="9" name="TextBox 8">
            <a:extLst>
              <a:ext uri="{FF2B5EF4-FFF2-40B4-BE49-F238E27FC236}">
                <a16:creationId xmlns:a16="http://schemas.microsoft.com/office/drawing/2014/main" id="{9396FC0B-4111-A5D7-CC66-FD7B5E723C77}"/>
              </a:ext>
            </a:extLst>
          </p:cNvPr>
          <p:cNvSpPr txBox="1"/>
          <p:nvPr/>
        </p:nvSpPr>
        <p:spPr>
          <a:xfrm>
            <a:off x="685800" y="1855280"/>
            <a:ext cx="2351315" cy="1446550"/>
          </a:xfrm>
          <a:prstGeom prst="rect">
            <a:avLst/>
          </a:prstGeom>
          <a:noFill/>
        </p:spPr>
        <p:txBody>
          <a:bodyPr wrap="square" rtlCol="0">
            <a:spAutoFit/>
          </a:bodyPr>
          <a:lstStyle/>
          <a:p>
            <a:r>
              <a:rPr lang="en-GB" sz="8800" b="1" dirty="0">
                <a:solidFill>
                  <a:srgbClr val="7B2D4E"/>
                </a:solidFill>
              </a:rPr>
              <a:t>96%</a:t>
            </a:r>
          </a:p>
        </p:txBody>
      </p:sp>
      <p:sp>
        <p:nvSpPr>
          <p:cNvPr id="14" name="TextBox 13">
            <a:extLst>
              <a:ext uri="{FF2B5EF4-FFF2-40B4-BE49-F238E27FC236}">
                <a16:creationId xmlns:a16="http://schemas.microsoft.com/office/drawing/2014/main" id="{35A22EF3-036F-7E96-01E4-D492DC2414E2}"/>
              </a:ext>
            </a:extLst>
          </p:cNvPr>
          <p:cNvSpPr txBox="1"/>
          <p:nvPr/>
        </p:nvSpPr>
        <p:spPr>
          <a:xfrm>
            <a:off x="494882" y="3116110"/>
            <a:ext cx="2431701" cy="923330"/>
          </a:xfrm>
          <a:prstGeom prst="rect">
            <a:avLst/>
          </a:prstGeom>
          <a:noFill/>
        </p:spPr>
        <p:txBody>
          <a:bodyPr wrap="square" rtlCol="0">
            <a:spAutoFit/>
          </a:bodyPr>
          <a:lstStyle/>
          <a:p>
            <a:pPr algn="ctr"/>
            <a:r>
              <a:rPr lang="en-GB" dirty="0">
                <a:solidFill>
                  <a:schemeClr val="tx1">
                    <a:lumMod val="65000"/>
                    <a:lumOff val="35000"/>
                  </a:schemeClr>
                </a:solidFill>
              </a:rPr>
              <a:t>Patients should be informed when AI is used in their care </a:t>
            </a:r>
          </a:p>
        </p:txBody>
      </p:sp>
      <p:sp>
        <p:nvSpPr>
          <p:cNvPr id="15" name="TextBox 14">
            <a:extLst>
              <a:ext uri="{FF2B5EF4-FFF2-40B4-BE49-F238E27FC236}">
                <a16:creationId xmlns:a16="http://schemas.microsoft.com/office/drawing/2014/main" id="{1AFC53C7-C355-2D57-EA55-EDAC4C59EC01}"/>
              </a:ext>
            </a:extLst>
          </p:cNvPr>
          <p:cNvSpPr txBox="1"/>
          <p:nvPr/>
        </p:nvSpPr>
        <p:spPr>
          <a:xfrm>
            <a:off x="1158072" y="4257818"/>
            <a:ext cx="1406769" cy="276999"/>
          </a:xfrm>
          <a:prstGeom prst="rect">
            <a:avLst/>
          </a:prstGeom>
          <a:noFill/>
        </p:spPr>
        <p:txBody>
          <a:bodyPr wrap="square" rtlCol="0">
            <a:spAutoFit/>
          </a:bodyPr>
          <a:lstStyle/>
          <a:p>
            <a:r>
              <a:rPr lang="en-GB" sz="1200" i="1" dirty="0"/>
              <a:t>Ethicality</a:t>
            </a:r>
          </a:p>
        </p:txBody>
      </p:sp>
      <p:sp>
        <p:nvSpPr>
          <p:cNvPr id="17" name="TextBox 16">
            <a:extLst>
              <a:ext uri="{FF2B5EF4-FFF2-40B4-BE49-F238E27FC236}">
                <a16:creationId xmlns:a16="http://schemas.microsoft.com/office/drawing/2014/main" id="{A1EC3DDE-A0D3-6994-49E6-DD73CB8B1195}"/>
              </a:ext>
            </a:extLst>
          </p:cNvPr>
          <p:cNvSpPr txBox="1"/>
          <p:nvPr/>
        </p:nvSpPr>
        <p:spPr>
          <a:xfrm>
            <a:off x="5015800" y="1847327"/>
            <a:ext cx="2351315" cy="1446550"/>
          </a:xfrm>
          <a:prstGeom prst="rect">
            <a:avLst/>
          </a:prstGeom>
          <a:noFill/>
        </p:spPr>
        <p:txBody>
          <a:bodyPr wrap="square" rtlCol="0">
            <a:spAutoFit/>
          </a:bodyPr>
          <a:lstStyle/>
          <a:p>
            <a:r>
              <a:rPr lang="en-GB" sz="8800" b="1" dirty="0">
                <a:solidFill>
                  <a:srgbClr val="7B2D4E"/>
                </a:solidFill>
              </a:rPr>
              <a:t>93%</a:t>
            </a:r>
          </a:p>
        </p:txBody>
      </p:sp>
      <p:sp>
        <p:nvSpPr>
          <p:cNvPr id="19" name="TextBox 18">
            <a:extLst>
              <a:ext uri="{FF2B5EF4-FFF2-40B4-BE49-F238E27FC236}">
                <a16:creationId xmlns:a16="http://schemas.microsoft.com/office/drawing/2014/main" id="{69FFCD0A-1547-A612-12B3-59A61FAF631C}"/>
              </a:ext>
            </a:extLst>
          </p:cNvPr>
          <p:cNvSpPr txBox="1"/>
          <p:nvPr/>
        </p:nvSpPr>
        <p:spPr>
          <a:xfrm>
            <a:off x="4824882" y="3108157"/>
            <a:ext cx="2431701" cy="923330"/>
          </a:xfrm>
          <a:prstGeom prst="rect">
            <a:avLst/>
          </a:prstGeom>
          <a:noFill/>
        </p:spPr>
        <p:txBody>
          <a:bodyPr wrap="square" rtlCol="0">
            <a:spAutoFit/>
          </a:bodyPr>
          <a:lstStyle/>
          <a:p>
            <a:pPr algn="ctr"/>
            <a:r>
              <a:rPr lang="en-GB" dirty="0">
                <a:solidFill>
                  <a:schemeClr val="tx1">
                    <a:lumMod val="65000"/>
                    <a:lumOff val="35000"/>
                  </a:schemeClr>
                </a:solidFill>
              </a:rPr>
              <a:t>Patients should have the right to challenge a decision </a:t>
            </a:r>
          </a:p>
        </p:txBody>
      </p:sp>
      <p:sp>
        <p:nvSpPr>
          <p:cNvPr id="21" name="TextBox 20">
            <a:extLst>
              <a:ext uri="{FF2B5EF4-FFF2-40B4-BE49-F238E27FC236}">
                <a16:creationId xmlns:a16="http://schemas.microsoft.com/office/drawing/2014/main" id="{04507314-6B20-5B80-30EA-B0EA9C1602DA}"/>
              </a:ext>
            </a:extLst>
          </p:cNvPr>
          <p:cNvSpPr txBox="1"/>
          <p:nvPr/>
        </p:nvSpPr>
        <p:spPr>
          <a:xfrm>
            <a:off x="5488072" y="4249865"/>
            <a:ext cx="1406769" cy="276999"/>
          </a:xfrm>
          <a:prstGeom prst="rect">
            <a:avLst/>
          </a:prstGeom>
          <a:noFill/>
        </p:spPr>
        <p:txBody>
          <a:bodyPr wrap="square" rtlCol="0">
            <a:spAutoFit/>
          </a:bodyPr>
          <a:lstStyle/>
          <a:p>
            <a:r>
              <a:rPr lang="en-GB" sz="1200" i="1" dirty="0"/>
              <a:t>Correctability </a:t>
            </a:r>
          </a:p>
        </p:txBody>
      </p:sp>
      <p:sp>
        <p:nvSpPr>
          <p:cNvPr id="23" name="TextBox 22">
            <a:extLst>
              <a:ext uri="{FF2B5EF4-FFF2-40B4-BE49-F238E27FC236}">
                <a16:creationId xmlns:a16="http://schemas.microsoft.com/office/drawing/2014/main" id="{C79641D5-4A52-845A-64C8-49FB481B1763}"/>
              </a:ext>
            </a:extLst>
          </p:cNvPr>
          <p:cNvSpPr txBox="1"/>
          <p:nvPr/>
        </p:nvSpPr>
        <p:spPr>
          <a:xfrm>
            <a:off x="9114689" y="1855280"/>
            <a:ext cx="2351315" cy="1446550"/>
          </a:xfrm>
          <a:prstGeom prst="rect">
            <a:avLst/>
          </a:prstGeom>
          <a:noFill/>
        </p:spPr>
        <p:txBody>
          <a:bodyPr wrap="square" rtlCol="0">
            <a:spAutoFit/>
          </a:bodyPr>
          <a:lstStyle/>
          <a:p>
            <a:r>
              <a:rPr lang="en-GB" sz="8800" b="1" dirty="0">
                <a:solidFill>
                  <a:srgbClr val="7B2D4E"/>
                </a:solidFill>
              </a:rPr>
              <a:t>92%</a:t>
            </a:r>
          </a:p>
        </p:txBody>
      </p:sp>
      <p:sp>
        <p:nvSpPr>
          <p:cNvPr id="25" name="TextBox 24">
            <a:extLst>
              <a:ext uri="{FF2B5EF4-FFF2-40B4-BE49-F238E27FC236}">
                <a16:creationId xmlns:a16="http://schemas.microsoft.com/office/drawing/2014/main" id="{1EF7288D-DB18-5738-9692-4B9450F1786F}"/>
              </a:ext>
            </a:extLst>
          </p:cNvPr>
          <p:cNvSpPr txBox="1"/>
          <p:nvPr/>
        </p:nvSpPr>
        <p:spPr>
          <a:xfrm>
            <a:off x="8923771" y="3116110"/>
            <a:ext cx="2431701" cy="923330"/>
          </a:xfrm>
          <a:prstGeom prst="rect">
            <a:avLst/>
          </a:prstGeom>
          <a:noFill/>
        </p:spPr>
        <p:txBody>
          <a:bodyPr wrap="square" rtlCol="0">
            <a:spAutoFit/>
          </a:bodyPr>
          <a:lstStyle/>
          <a:p>
            <a:pPr algn="ctr"/>
            <a:r>
              <a:rPr lang="en-GB" dirty="0">
                <a:solidFill>
                  <a:schemeClr val="tx1">
                    <a:lumMod val="65000"/>
                    <a:lumOff val="35000"/>
                  </a:schemeClr>
                </a:solidFill>
              </a:rPr>
              <a:t>Human involvement is essential regardless of accuracy  </a:t>
            </a:r>
          </a:p>
        </p:txBody>
      </p:sp>
      <p:sp>
        <p:nvSpPr>
          <p:cNvPr id="27" name="TextBox 26">
            <a:extLst>
              <a:ext uri="{FF2B5EF4-FFF2-40B4-BE49-F238E27FC236}">
                <a16:creationId xmlns:a16="http://schemas.microsoft.com/office/drawing/2014/main" id="{E3F86C97-C7AA-60A6-CFF7-9188B40E2B5E}"/>
              </a:ext>
            </a:extLst>
          </p:cNvPr>
          <p:cNvSpPr txBox="1"/>
          <p:nvPr/>
        </p:nvSpPr>
        <p:spPr>
          <a:xfrm>
            <a:off x="9586961" y="4257818"/>
            <a:ext cx="1406769" cy="276999"/>
          </a:xfrm>
          <a:prstGeom prst="rect">
            <a:avLst/>
          </a:prstGeom>
          <a:noFill/>
        </p:spPr>
        <p:txBody>
          <a:bodyPr wrap="square" rtlCol="0">
            <a:spAutoFit/>
          </a:bodyPr>
          <a:lstStyle/>
          <a:p>
            <a:r>
              <a:rPr lang="en-GB" sz="1200" i="1" dirty="0"/>
              <a:t>Correctability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2" name="Text 0"/>
          <p:cNvSpPr/>
          <p:nvPr/>
        </p:nvSpPr>
        <p:spPr>
          <a:xfrm>
            <a:off x="179865" y="164592"/>
            <a:ext cx="5486400" cy="274320"/>
          </a:xfrm>
          <a:prstGeom prst="rect">
            <a:avLst/>
          </a:prstGeom>
          <a:noFill/>
          <a:ln/>
        </p:spPr>
        <p:txBody>
          <a:bodyPr wrap="square" lIns="0" tIns="0" rIns="0" bIns="0" rtlCol="0" anchor="ctr"/>
          <a:lstStyle/>
          <a:p>
            <a:pPr marL="0" indent="0">
              <a:buNone/>
            </a:pPr>
            <a:r>
              <a:rPr lang="en-US" sz="1200" b="1" kern="0" spc="150" dirty="0">
                <a:solidFill>
                  <a:srgbClr val="C9748F"/>
                </a:solidFill>
                <a:latin typeface="Calibri" pitchFamily="34" charset="0"/>
                <a:ea typeface="Calibri" pitchFamily="34" charset="-122"/>
                <a:cs typeface="Calibri" pitchFamily="34" charset="-120"/>
              </a:rPr>
              <a:t>THE KEY CONNECTION</a:t>
            </a:r>
            <a:endParaRPr lang="en-US" sz="1200" dirty="0"/>
          </a:p>
        </p:txBody>
      </p:sp>
      <p:sp>
        <p:nvSpPr>
          <p:cNvPr id="3" name="Text 1"/>
          <p:cNvSpPr/>
          <p:nvPr/>
        </p:nvSpPr>
        <p:spPr>
          <a:xfrm>
            <a:off x="673238" y="694945"/>
            <a:ext cx="8732520" cy="566928"/>
          </a:xfrm>
          <a:prstGeom prst="rect">
            <a:avLst/>
          </a:prstGeom>
          <a:noFill/>
          <a:ln/>
        </p:spPr>
        <p:txBody>
          <a:bodyPr wrap="square" lIns="0" tIns="0" rIns="0" bIns="0" rtlCol="0" anchor="ctr"/>
          <a:lstStyle/>
          <a:p>
            <a:pPr marL="0" indent="0">
              <a:buNone/>
            </a:pPr>
            <a:r>
              <a:rPr lang="en-US" sz="3200" b="1" dirty="0">
                <a:latin typeface="Georgia" panose="02040502050405020303" pitchFamily="18" charset="0"/>
              </a:rPr>
              <a:t>The Public’s Most Consistent Demand Isn’t in the Pipeline</a:t>
            </a:r>
          </a:p>
        </p:txBody>
      </p:sp>
      <p:sp>
        <p:nvSpPr>
          <p:cNvPr id="4" name="Text 2"/>
          <p:cNvSpPr/>
          <p:nvPr/>
        </p:nvSpPr>
        <p:spPr>
          <a:xfrm>
            <a:off x="673238" y="1514715"/>
            <a:ext cx="10607040" cy="310896"/>
          </a:xfrm>
          <a:prstGeom prst="rect">
            <a:avLst/>
          </a:prstGeom>
          <a:noFill/>
          <a:ln/>
        </p:spPr>
        <p:txBody>
          <a:bodyPr wrap="square" lIns="0" tIns="0" rIns="0" bIns="0" rtlCol="0" anchor="ctr"/>
          <a:lstStyle/>
          <a:p>
            <a:pPr marL="0" indent="0">
              <a:buNone/>
            </a:pPr>
            <a:r>
              <a:rPr lang="en-US" sz="1500" dirty="0">
                <a:solidFill>
                  <a:srgbClr val="6B6367"/>
                </a:solidFill>
                <a:latin typeface="Calibri" pitchFamily="34" charset="0"/>
                <a:ea typeface="Calibri" pitchFamily="34" charset="-122"/>
                <a:cs typeface="Calibri" pitchFamily="34" charset="-120"/>
              </a:rPr>
              <a:t>Correctability scored 4 of 8 after mitigation. Two of the items it lacks are the two the public asks for most consistently.</a:t>
            </a:r>
            <a:endParaRPr lang="en-US" sz="1500" dirty="0"/>
          </a:p>
        </p:txBody>
      </p:sp>
      <p:sp>
        <p:nvSpPr>
          <p:cNvPr id="5" name="Text 3"/>
          <p:cNvSpPr/>
          <p:nvPr/>
        </p:nvSpPr>
        <p:spPr>
          <a:xfrm>
            <a:off x="822960" y="2212848"/>
            <a:ext cx="5486400" cy="237744"/>
          </a:xfrm>
          <a:prstGeom prst="rect">
            <a:avLst/>
          </a:prstGeom>
          <a:noFill/>
          <a:ln/>
        </p:spPr>
        <p:txBody>
          <a:bodyPr wrap="square" lIns="0" tIns="0" rIns="0" bIns="0" rtlCol="0" anchor="ctr"/>
          <a:lstStyle/>
          <a:p>
            <a:pPr marL="0" indent="0">
              <a:buNone/>
            </a:pPr>
            <a:r>
              <a:rPr lang="en-US" sz="1050" b="1" kern="0" spc="120" dirty="0">
                <a:solidFill>
                  <a:srgbClr val="6B6367"/>
                </a:solidFill>
                <a:latin typeface="Calibri" pitchFamily="34" charset="0"/>
                <a:ea typeface="Calibri" pitchFamily="34" charset="-122"/>
                <a:cs typeface="Calibri" pitchFamily="34" charset="-120"/>
              </a:rPr>
              <a:t>MECHANISM</a:t>
            </a:r>
            <a:endParaRPr lang="en-US" sz="1050" dirty="0"/>
          </a:p>
        </p:txBody>
      </p:sp>
      <p:sp>
        <p:nvSpPr>
          <p:cNvPr id="6" name="Text 4"/>
          <p:cNvSpPr/>
          <p:nvPr/>
        </p:nvSpPr>
        <p:spPr>
          <a:xfrm>
            <a:off x="6537960" y="2212848"/>
            <a:ext cx="2194560" cy="237744"/>
          </a:xfrm>
          <a:prstGeom prst="rect">
            <a:avLst/>
          </a:prstGeom>
          <a:noFill/>
          <a:ln/>
        </p:spPr>
        <p:txBody>
          <a:bodyPr wrap="square" lIns="0" tIns="0" rIns="0" bIns="0" rtlCol="0" anchor="ctr"/>
          <a:lstStyle/>
          <a:p>
            <a:pPr marL="0" indent="0" algn="ctr">
              <a:buNone/>
            </a:pPr>
            <a:r>
              <a:rPr lang="en-US" sz="1050" b="1" kern="0" spc="120" dirty="0">
                <a:solidFill>
                  <a:srgbClr val="6B6367"/>
                </a:solidFill>
                <a:latin typeface="Calibri" pitchFamily="34" charset="0"/>
                <a:ea typeface="Calibri" pitchFamily="34" charset="-122"/>
                <a:cs typeface="Calibri" pitchFamily="34" charset="-120"/>
              </a:rPr>
              <a:t>EVIDENCE 1 · PIPELINE</a:t>
            </a:r>
            <a:endParaRPr lang="en-US" sz="1050" dirty="0"/>
          </a:p>
        </p:txBody>
      </p:sp>
      <p:sp>
        <p:nvSpPr>
          <p:cNvPr id="7" name="Text 5"/>
          <p:cNvSpPr/>
          <p:nvPr/>
        </p:nvSpPr>
        <p:spPr>
          <a:xfrm>
            <a:off x="9098280" y="2212848"/>
            <a:ext cx="2331720" cy="237744"/>
          </a:xfrm>
          <a:prstGeom prst="rect">
            <a:avLst/>
          </a:prstGeom>
          <a:noFill/>
          <a:ln/>
        </p:spPr>
        <p:txBody>
          <a:bodyPr wrap="square" lIns="0" tIns="0" rIns="0" bIns="0" rtlCol="0" anchor="ctr"/>
          <a:lstStyle/>
          <a:p>
            <a:pPr marL="0" indent="0" algn="ctr">
              <a:buNone/>
            </a:pPr>
            <a:r>
              <a:rPr lang="en-US" sz="1050" b="1" kern="0" spc="120" dirty="0">
                <a:solidFill>
                  <a:srgbClr val="6B6367"/>
                </a:solidFill>
                <a:latin typeface="Calibri" pitchFamily="34" charset="0"/>
                <a:ea typeface="Calibri" pitchFamily="34" charset="-122"/>
                <a:cs typeface="Calibri" pitchFamily="34" charset="-120"/>
              </a:rPr>
              <a:t>EVIDENCE 2 · SURVEY (n=325)</a:t>
            </a:r>
            <a:endParaRPr lang="en-US" sz="1050" dirty="0"/>
          </a:p>
        </p:txBody>
      </p:sp>
      <p:sp>
        <p:nvSpPr>
          <p:cNvPr id="8" name="Shape 6"/>
          <p:cNvSpPr/>
          <p:nvPr/>
        </p:nvSpPr>
        <p:spPr>
          <a:xfrm>
            <a:off x="822960" y="2542032"/>
            <a:ext cx="10607040" cy="0"/>
          </a:xfrm>
          <a:prstGeom prst="line">
            <a:avLst/>
          </a:prstGeom>
          <a:noFill/>
          <a:ln w="15875">
            <a:solidFill>
              <a:srgbClr val="1A1A1A"/>
            </a:solidFill>
            <a:prstDash val="solid"/>
          </a:ln>
        </p:spPr>
        <p:txBody>
          <a:bodyPr/>
          <a:lstStyle/>
          <a:p>
            <a:endParaRPr lang="en-GB"/>
          </a:p>
        </p:txBody>
      </p:sp>
      <p:sp>
        <p:nvSpPr>
          <p:cNvPr id="9" name="Text 7"/>
          <p:cNvSpPr/>
          <p:nvPr/>
        </p:nvSpPr>
        <p:spPr>
          <a:xfrm>
            <a:off x="822960" y="3054096"/>
            <a:ext cx="5486400" cy="402336"/>
          </a:xfrm>
          <a:prstGeom prst="rect">
            <a:avLst/>
          </a:prstGeom>
          <a:noFill/>
          <a:ln/>
        </p:spPr>
        <p:txBody>
          <a:bodyPr wrap="square" lIns="0" tIns="0" rIns="0" bIns="0" rtlCol="0" anchor="ctr"/>
          <a:lstStyle/>
          <a:p>
            <a:pPr marL="0" indent="0">
              <a:buNone/>
            </a:pPr>
            <a:r>
              <a:rPr lang="en-US" sz="1900" dirty="0">
                <a:solidFill>
                  <a:srgbClr val="1A1A1A"/>
                </a:solidFill>
                <a:latin typeface="Calibri" pitchFamily="34" charset="0"/>
                <a:ea typeface="Calibri" pitchFamily="34" charset="-122"/>
                <a:cs typeface="Calibri" pitchFamily="34" charset="-120"/>
              </a:rPr>
              <a:t>The right to challenge a decision</a:t>
            </a:r>
            <a:endParaRPr lang="en-US" sz="1900" dirty="0"/>
          </a:p>
        </p:txBody>
      </p:sp>
      <p:sp>
        <p:nvSpPr>
          <p:cNvPr id="10" name="Text 8"/>
          <p:cNvSpPr/>
          <p:nvPr/>
        </p:nvSpPr>
        <p:spPr>
          <a:xfrm>
            <a:off x="6537960" y="3035808"/>
            <a:ext cx="2194560" cy="420624"/>
          </a:xfrm>
          <a:prstGeom prst="rect">
            <a:avLst/>
          </a:prstGeom>
          <a:noFill/>
          <a:ln/>
        </p:spPr>
        <p:txBody>
          <a:bodyPr wrap="square" lIns="0" tIns="0" rIns="0" bIns="0" rtlCol="0" anchor="ctr"/>
          <a:lstStyle/>
          <a:p>
            <a:pPr marL="0" indent="0" algn="ctr">
              <a:buNone/>
            </a:pPr>
            <a:r>
              <a:rPr lang="en-US" sz="2100" b="1" dirty="0">
                <a:solidFill>
                  <a:srgbClr val="9D0208"/>
                </a:solidFill>
                <a:latin typeface="Calibri" pitchFamily="34" charset="0"/>
                <a:ea typeface="Calibri" pitchFamily="34" charset="-122"/>
                <a:cs typeface="Calibri" pitchFamily="34" charset="-120"/>
              </a:rPr>
              <a:t>Absent</a:t>
            </a:r>
            <a:endParaRPr lang="en-US" sz="2100" dirty="0"/>
          </a:p>
        </p:txBody>
      </p:sp>
      <p:sp>
        <p:nvSpPr>
          <p:cNvPr id="11" name="Text 9"/>
          <p:cNvSpPr/>
          <p:nvPr/>
        </p:nvSpPr>
        <p:spPr>
          <a:xfrm>
            <a:off x="9098280" y="2907792"/>
            <a:ext cx="2331720" cy="603504"/>
          </a:xfrm>
          <a:prstGeom prst="rect">
            <a:avLst/>
          </a:prstGeom>
          <a:noFill/>
          <a:ln/>
        </p:spPr>
        <p:txBody>
          <a:bodyPr wrap="square" lIns="0" tIns="0" rIns="0" bIns="0" rtlCol="0" anchor="ctr"/>
          <a:lstStyle/>
          <a:p>
            <a:pPr marL="0" indent="0" algn="ctr">
              <a:buNone/>
            </a:pPr>
            <a:r>
              <a:rPr lang="en-US" sz="4000" b="1" dirty="0">
                <a:solidFill>
                  <a:srgbClr val="7B2D4E"/>
                </a:solidFill>
                <a:latin typeface="Calibri" pitchFamily="34" charset="0"/>
                <a:ea typeface="Calibri" pitchFamily="34" charset="-122"/>
                <a:cs typeface="Calibri" pitchFamily="34" charset="-120"/>
              </a:rPr>
              <a:t>93%</a:t>
            </a:r>
            <a:endParaRPr lang="en-US" sz="4000" dirty="0"/>
          </a:p>
        </p:txBody>
      </p:sp>
      <p:sp>
        <p:nvSpPr>
          <p:cNvPr id="12" name="Text 10"/>
          <p:cNvSpPr/>
          <p:nvPr/>
        </p:nvSpPr>
        <p:spPr>
          <a:xfrm>
            <a:off x="9098280" y="3493008"/>
            <a:ext cx="2331720" cy="237744"/>
          </a:xfrm>
          <a:prstGeom prst="rect">
            <a:avLst/>
          </a:prstGeom>
          <a:noFill/>
          <a:ln/>
        </p:spPr>
        <p:txBody>
          <a:bodyPr wrap="square" lIns="0" tIns="0" rIns="0" bIns="0" rtlCol="0" anchor="ctr"/>
          <a:lstStyle/>
          <a:p>
            <a:pPr marL="0" indent="0" algn="ctr">
              <a:buNone/>
            </a:pPr>
            <a:r>
              <a:rPr lang="en-US" sz="1150" dirty="0">
                <a:solidFill>
                  <a:srgbClr val="6B6367"/>
                </a:solidFill>
                <a:latin typeface="Calibri" pitchFamily="34" charset="0"/>
                <a:ea typeface="Calibri" pitchFamily="34" charset="-122"/>
                <a:cs typeface="Calibri" pitchFamily="34" charset="-120"/>
              </a:rPr>
              <a:t>want this</a:t>
            </a:r>
            <a:endParaRPr lang="en-US" sz="1150" dirty="0"/>
          </a:p>
        </p:txBody>
      </p:sp>
      <p:sp>
        <p:nvSpPr>
          <p:cNvPr id="13" name="Shape 11"/>
          <p:cNvSpPr/>
          <p:nvPr/>
        </p:nvSpPr>
        <p:spPr>
          <a:xfrm>
            <a:off x="822960" y="3840480"/>
            <a:ext cx="10607040" cy="0"/>
          </a:xfrm>
          <a:prstGeom prst="line">
            <a:avLst/>
          </a:prstGeom>
          <a:noFill/>
          <a:ln w="12700">
            <a:solidFill>
              <a:srgbClr val="E4D8DD"/>
            </a:solidFill>
            <a:prstDash val="solid"/>
          </a:ln>
        </p:spPr>
        <p:txBody>
          <a:bodyPr/>
          <a:lstStyle/>
          <a:p>
            <a:endParaRPr lang="en-GB"/>
          </a:p>
        </p:txBody>
      </p:sp>
      <p:sp>
        <p:nvSpPr>
          <p:cNvPr id="14" name="Text 12"/>
          <p:cNvSpPr/>
          <p:nvPr/>
        </p:nvSpPr>
        <p:spPr>
          <a:xfrm>
            <a:off x="822960" y="4224528"/>
            <a:ext cx="5486400" cy="402336"/>
          </a:xfrm>
          <a:prstGeom prst="rect">
            <a:avLst/>
          </a:prstGeom>
          <a:noFill/>
          <a:ln/>
        </p:spPr>
        <p:txBody>
          <a:bodyPr wrap="square" lIns="0" tIns="0" rIns="0" bIns="0" rtlCol="0" anchor="ctr"/>
          <a:lstStyle/>
          <a:p>
            <a:pPr marL="0" indent="0">
              <a:buNone/>
            </a:pPr>
            <a:r>
              <a:rPr lang="en-US" sz="1900" dirty="0">
                <a:solidFill>
                  <a:srgbClr val="1A1A1A"/>
                </a:solidFill>
                <a:latin typeface="Calibri" pitchFamily="34" charset="0"/>
                <a:ea typeface="Calibri" pitchFamily="34" charset="-122"/>
                <a:cs typeface="Calibri" pitchFamily="34" charset="-120"/>
              </a:rPr>
              <a:t>A human doctor involved in the decision</a:t>
            </a:r>
            <a:endParaRPr lang="en-US" sz="1900" dirty="0"/>
          </a:p>
        </p:txBody>
      </p:sp>
      <p:sp>
        <p:nvSpPr>
          <p:cNvPr id="15" name="Text 13"/>
          <p:cNvSpPr/>
          <p:nvPr/>
        </p:nvSpPr>
        <p:spPr>
          <a:xfrm>
            <a:off x="6537960" y="4206240"/>
            <a:ext cx="2194560" cy="420624"/>
          </a:xfrm>
          <a:prstGeom prst="rect">
            <a:avLst/>
          </a:prstGeom>
          <a:noFill/>
          <a:ln/>
        </p:spPr>
        <p:txBody>
          <a:bodyPr wrap="square" lIns="0" tIns="0" rIns="0" bIns="0" rtlCol="0" anchor="ctr"/>
          <a:lstStyle/>
          <a:p>
            <a:pPr marL="0" indent="0" algn="ctr">
              <a:buNone/>
            </a:pPr>
            <a:r>
              <a:rPr lang="en-US" sz="2100" b="1" dirty="0">
                <a:solidFill>
                  <a:srgbClr val="9D0208"/>
                </a:solidFill>
                <a:latin typeface="Calibri" pitchFamily="34" charset="0"/>
                <a:ea typeface="Calibri" pitchFamily="34" charset="-122"/>
                <a:cs typeface="Calibri" pitchFamily="34" charset="-120"/>
              </a:rPr>
              <a:t>Absent</a:t>
            </a:r>
            <a:endParaRPr lang="en-US" sz="2100" dirty="0"/>
          </a:p>
        </p:txBody>
      </p:sp>
      <p:sp>
        <p:nvSpPr>
          <p:cNvPr id="16" name="Text 14"/>
          <p:cNvSpPr/>
          <p:nvPr/>
        </p:nvSpPr>
        <p:spPr>
          <a:xfrm>
            <a:off x="9098280" y="4078224"/>
            <a:ext cx="2331720" cy="603504"/>
          </a:xfrm>
          <a:prstGeom prst="rect">
            <a:avLst/>
          </a:prstGeom>
          <a:noFill/>
          <a:ln/>
        </p:spPr>
        <p:txBody>
          <a:bodyPr wrap="square" lIns="0" tIns="0" rIns="0" bIns="0" rtlCol="0" anchor="ctr"/>
          <a:lstStyle/>
          <a:p>
            <a:pPr marL="0" indent="0" algn="ctr">
              <a:buNone/>
            </a:pPr>
            <a:r>
              <a:rPr lang="en-US" sz="4000" b="1" dirty="0">
                <a:solidFill>
                  <a:srgbClr val="7B2D4E"/>
                </a:solidFill>
                <a:latin typeface="Calibri" pitchFamily="34" charset="0"/>
                <a:ea typeface="Calibri" pitchFamily="34" charset="-122"/>
                <a:cs typeface="Calibri" pitchFamily="34" charset="-120"/>
              </a:rPr>
              <a:t>92%</a:t>
            </a:r>
            <a:endParaRPr lang="en-US" sz="4000" dirty="0"/>
          </a:p>
        </p:txBody>
      </p:sp>
      <p:sp>
        <p:nvSpPr>
          <p:cNvPr id="17" name="Text 15"/>
          <p:cNvSpPr/>
          <p:nvPr/>
        </p:nvSpPr>
        <p:spPr>
          <a:xfrm>
            <a:off x="9098280" y="4663440"/>
            <a:ext cx="2331720" cy="237744"/>
          </a:xfrm>
          <a:prstGeom prst="rect">
            <a:avLst/>
          </a:prstGeom>
          <a:noFill/>
          <a:ln/>
        </p:spPr>
        <p:txBody>
          <a:bodyPr wrap="square" lIns="0" tIns="0" rIns="0" bIns="0" rtlCol="0" anchor="ctr"/>
          <a:lstStyle/>
          <a:p>
            <a:pPr marL="0" indent="0" algn="ctr">
              <a:buNone/>
            </a:pPr>
            <a:r>
              <a:rPr lang="en-US" sz="1150" dirty="0">
                <a:solidFill>
                  <a:srgbClr val="6B6367"/>
                </a:solidFill>
                <a:latin typeface="Calibri" pitchFamily="34" charset="0"/>
                <a:ea typeface="Calibri" pitchFamily="34" charset="-122"/>
                <a:cs typeface="Calibri" pitchFamily="34" charset="-120"/>
              </a:rPr>
              <a:t>want this</a:t>
            </a:r>
            <a:endParaRPr lang="en-US" sz="1150" dirty="0"/>
          </a:p>
        </p:txBody>
      </p:sp>
      <p:sp>
        <p:nvSpPr>
          <p:cNvPr id="18" name="Shape 16"/>
          <p:cNvSpPr/>
          <p:nvPr/>
        </p:nvSpPr>
        <p:spPr>
          <a:xfrm>
            <a:off x="822960" y="5010912"/>
            <a:ext cx="10607040" cy="0"/>
          </a:xfrm>
          <a:prstGeom prst="line">
            <a:avLst/>
          </a:prstGeom>
          <a:noFill/>
          <a:ln w="12700">
            <a:solidFill>
              <a:srgbClr val="E4D8DD"/>
            </a:solidFill>
            <a:prstDash val="solid"/>
          </a:ln>
        </p:spPr>
        <p:txBody>
          <a:bodyPr/>
          <a:lstStyle/>
          <a:p>
            <a:endParaRPr lang="en-GB"/>
          </a:p>
        </p:txBody>
      </p:sp>
      <p:sp>
        <p:nvSpPr>
          <p:cNvPr id="19" name="Text 17"/>
          <p:cNvSpPr/>
          <p:nvPr/>
        </p:nvSpPr>
        <p:spPr>
          <a:xfrm>
            <a:off x="822960" y="5358384"/>
            <a:ext cx="10607040" cy="365760"/>
          </a:xfrm>
          <a:prstGeom prst="rect">
            <a:avLst/>
          </a:prstGeom>
          <a:noFill/>
          <a:ln/>
        </p:spPr>
        <p:txBody>
          <a:bodyPr wrap="square" lIns="0" tIns="0" rIns="0" bIns="0" rtlCol="0" anchor="ctr"/>
          <a:lstStyle/>
          <a:p>
            <a:pPr marL="0" indent="0">
              <a:buNone/>
            </a:pPr>
            <a:r>
              <a:rPr lang="en-US" sz="2000" b="1" dirty="0">
                <a:solidFill>
                  <a:srgbClr val="7B2D4E"/>
                </a:solidFill>
                <a:latin typeface="Bookman Old Style" pitchFamily="34" charset="0"/>
                <a:ea typeface="Bookman Old Style" pitchFamily="34" charset="-122"/>
                <a:cs typeface="Bookman Old Style" pitchFamily="34" charset="-120"/>
              </a:rPr>
              <a:t>Two independent sources point at the same gap.</a:t>
            </a:r>
            <a:endParaRPr lang="en-US" sz="2000" dirty="0"/>
          </a:p>
        </p:txBody>
      </p:sp>
      <p:sp>
        <p:nvSpPr>
          <p:cNvPr id="20" name="Text 18"/>
          <p:cNvSpPr/>
          <p:nvPr/>
        </p:nvSpPr>
        <p:spPr>
          <a:xfrm>
            <a:off x="822960" y="5724144"/>
            <a:ext cx="10607040" cy="274320"/>
          </a:xfrm>
          <a:prstGeom prst="rect">
            <a:avLst/>
          </a:prstGeom>
          <a:noFill/>
          <a:ln/>
        </p:spPr>
        <p:txBody>
          <a:bodyPr wrap="square" lIns="0" tIns="0" rIns="0" bIns="0" rtlCol="0" anchor="ctr"/>
          <a:lstStyle/>
          <a:p>
            <a:pPr marL="0" indent="0">
              <a:buNone/>
            </a:pPr>
            <a:r>
              <a:rPr lang="en-US" sz="1250" dirty="0">
                <a:solidFill>
                  <a:srgbClr val="6B6367"/>
                </a:solidFill>
                <a:latin typeface="Calibri" pitchFamily="34" charset="0"/>
                <a:ea typeface="Calibri" pitchFamily="34" charset="-122"/>
                <a:cs typeface="Calibri" pitchFamily="34" charset="-120"/>
              </a:rPr>
              <a:t>Both mechanisms sit inside Leventhal's correctability rule; a sociotechnical criterion mitigation left unresolved.</a:t>
            </a:r>
            <a:endParaRPr lang="en-US" sz="1250" dirty="0"/>
          </a:p>
        </p:txBody>
      </p:sp>
      <p:sp>
        <p:nvSpPr>
          <p:cNvPr id="21" name="Text 19"/>
          <p:cNvSpPr/>
          <p:nvPr/>
        </p:nvSpPr>
        <p:spPr>
          <a:xfrm>
            <a:off x="822960" y="6327648"/>
            <a:ext cx="4572000" cy="256032"/>
          </a:xfrm>
          <a:prstGeom prst="rect">
            <a:avLst/>
          </a:prstGeom>
          <a:noFill/>
          <a:ln/>
        </p:spPr>
        <p:txBody>
          <a:bodyPr wrap="square" lIns="0" tIns="0" rIns="0" bIns="0" rtlCol="0" anchor="ctr"/>
          <a:lstStyle/>
          <a:p>
            <a:pPr marL="0" indent="0">
              <a:buNone/>
            </a:pPr>
            <a:r>
              <a:rPr lang="en-US" sz="1000" dirty="0">
                <a:solidFill>
                  <a:srgbClr val="A9A0A3"/>
                </a:solidFill>
                <a:latin typeface="Calibri" pitchFamily="34" charset="0"/>
                <a:ea typeface="Calibri" pitchFamily="34" charset="-122"/>
                <a:cs typeface="Calibri" pitchFamily="34" charset="-120"/>
              </a:rPr>
              <a:t>Procedural Fairness in Healthcare AI</a:t>
            </a:r>
            <a:endParaRPr lang="en-US" sz="1000" dirty="0"/>
          </a:p>
        </p:txBody>
      </p:sp>
      <p:sp>
        <p:nvSpPr>
          <p:cNvPr id="22" name="Text 20"/>
          <p:cNvSpPr/>
          <p:nvPr/>
        </p:nvSpPr>
        <p:spPr>
          <a:xfrm>
            <a:off x="10881360" y="6327648"/>
            <a:ext cx="548640" cy="256032"/>
          </a:xfrm>
          <a:prstGeom prst="rect">
            <a:avLst/>
          </a:prstGeom>
          <a:noFill/>
          <a:ln/>
        </p:spPr>
        <p:txBody>
          <a:bodyPr wrap="square" lIns="0" tIns="0" rIns="0" bIns="0" rtlCol="0" anchor="ctr"/>
          <a:lstStyle/>
          <a:p>
            <a:pPr marL="0" indent="0" algn="r">
              <a:buNone/>
            </a:pPr>
            <a:r>
              <a:rPr lang="en-US" sz="1000" dirty="0">
                <a:solidFill>
                  <a:srgbClr val="A9A0A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2" name="TextBox 1"/>
          <p:cNvSpPr txBox="1"/>
          <p:nvPr/>
        </p:nvSpPr>
        <p:spPr>
          <a:xfrm>
            <a:off x="685800" y="384048"/>
            <a:ext cx="9144000" cy="320040"/>
          </a:xfrm>
          <a:prstGeom prst="rect">
            <a:avLst/>
          </a:prstGeom>
          <a:noFill/>
        </p:spPr>
        <p:txBody>
          <a:bodyPr wrap="square" lIns="0" tIns="0" rIns="0" bIns="0" anchor="t">
            <a:spAutoFit/>
          </a:bodyPr>
          <a:lstStyle/>
          <a:p>
            <a:pPr algn="l">
              <a:lnSpc>
                <a:spcPct val="100000"/>
              </a:lnSpc>
            </a:pPr>
            <a:r>
              <a:rPr sz="1300" b="1" i="0">
                <a:solidFill>
                  <a:srgbClr val="C9748F"/>
                </a:solidFill>
                <a:latin typeface="Calibri"/>
              </a:rPr>
              <a:t>LIMITATIONS</a:t>
            </a:r>
          </a:p>
        </p:txBody>
      </p:sp>
      <p:sp>
        <p:nvSpPr>
          <p:cNvPr id="3" name="TextBox 2"/>
          <p:cNvSpPr txBox="1"/>
          <p:nvPr/>
        </p:nvSpPr>
        <p:spPr>
          <a:xfrm>
            <a:off x="685800" y="658368"/>
            <a:ext cx="10789920" cy="442237"/>
          </a:xfrm>
          <a:prstGeom prst="rect">
            <a:avLst/>
          </a:prstGeom>
          <a:noFill/>
        </p:spPr>
        <p:txBody>
          <a:bodyPr wrap="square" lIns="0" tIns="0" rIns="0" bIns="0" anchor="t">
            <a:spAutoFit/>
          </a:bodyPr>
          <a:lstStyle/>
          <a:p>
            <a:pPr algn="l">
              <a:lnSpc>
                <a:spcPct val="102000"/>
              </a:lnSpc>
            </a:pPr>
            <a:r>
              <a:rPr lang="en-GB" sz="3000" b="1" i="0" dirty="0">
                <a:solidFill>
                  <a:srgbClr val="1A1A1A"/>
                </a:solidFill>
                <a:latin typeface="Georgia"/>
              </a:rPr>
              <a:t>Understanding the Limits of This Study </a:t>
            </a:r>
            <a:endParaRPr sz="3000" b="1" i="0" dirty="0">
              <a:solidFill>
                <a:srgbClr val="1A1A1A"/>
              </a:solidFill>
              <a:latin typeface="Georgia"/>
            </a:endParaRPr>
          </a:p>
        </p:txBody>
      </p:sp>
      <p:sp>
        <p:nvSpPr>
          <p:cNvPr id="4" name="Rounded Rectangle 3"/>
          <p:cNvSpPr/>
          <p:nvPr/>
        </p:nvSpPr>
        <p:spPr>
          <a:xfrm>
            <a:off x="685800" y="1691640"/>
            <a:ext cx="5166360" cy="178308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85800" y="1691640"/>
            <a:ext cx="64008" cy="1783080"/>
          </a:xfrm>
          <a:prstGeom prst="rect">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947672"/>
            <a:ext cx="4526280" cy="548640"/>
          </a:xfrm>
          <a:prstGeom prst="rect">
            <a:avLst/>
          </a:prstGeom>
          <a:noFill/>
        </p:spPr>
        <p:txBody>
          <a:bodyPr wrap="square" lIns="0" tIns="0" rIns="0" bIns="0" anchor="t">
            <a:spAutoFit/>
          </a:bodyPr>
          <a:lstStyle/>
          <a:p>
            <a:pPr algn="l">
              <a:lnSpc>
                <a:spcPct val="100000"/>
              </a:lnSpc>
            </a:pPr>
            <a:r>
              <a:rPr sz="1550" b="1" i="0">
                <a:solidFill>
                  <a:srgbClr val="1A1A1A"/>
                </a:solidFill>
                <a:latin typeface="Calibri"/>
              </a:rPr>
              <a:t>Small subgroups</a:t>
            </a:r>
          </a:p>
        </p:txBody>
      </p:sp>
      <p:sp>
        <p:nvSpPr>
          <p:cNvPr id="7" name="TextBox 6"/>
          <p:cNvSpPr txBox="1"/>
          <p:nvPr/>
        </p:nvSpPr>
        <p:spPr>
          <a:xfrm>
            <a:off x="1005840" y="2496312"/>
            <a:ext cx="4526280" cy="730008"/>
          </a:xfrm>
          <a:prstGeom prst="rect">
            <a:avLst/>
          </a:prstGeom>
          <a:noFill/>
        </p:spPr>
        <p:txBody>
          <a:bodyPr wrap="square" lIns="0" tIns="0" rIns="0" bIns="0" anchor="t">
            <a:spAutoFit/>
          </a:bodyPr>
          <a:lstStyle/>
          <a:p>
            <a:pPr>
              <a:lnSpc>
                <a:spcPct val="130000"/>
              </a:lnSpc>
            </a:pPr>
            <a:r>
              <a:rPr lang="en-GB" sz="1250" dirty="0">
                <a:solidFill>
                  <a:schemeClr val="tx1">
                    <a:lumMod val="65000"/>
                    <a:lumOff val="35000"/>
                  </a:schemeClr>
                </a:solidFill>
                <a:latin typeface="Calibri" panose="020F0502020204030204" pitchFamily="34" charset="0"/>
                <a:ea typeface="Calibri" panose="020F0502020204030204" pitchFamily="34" charset="0"/>
                <a:cs typeface="Calibri" panose="020F0502020204030204" pitchFamily="34" charset="0"/>
              </a:rPr>
              <a:t>Only 10 female patients in the test set had heart disease, meaning fairness metrics for women were based on very few cases and should be interpreted with caution.</a:t>
            </a:r>
            <a:endParaRPr sz="1250" b="0" i="0" dirty="0">
              <a:solidFill>
                <a:schemeClr val="tx1">
                  <a:lumMod val="65000"/>
                  <a:lumOff val="35000"/>
                </a:schemeClr>
              </a:solidFill>
              <a:latin typeface="Calibri" panose="020F0502020204030204" pitchFamily="34" charset="0"/>
              <a:ea typeface="Calibri" panose="020F0502020204030204" pitchFamily="34" charset="0"/>
              <a:cs typeface="Calibri" panose="020F0502020204030204" pitchFamily="34" charset="0"/>
            </a:endParaRPr>
          </a:p>
        </p:txBody>
      </p:sp>
      <p:sp>
        <p:nvSpPr>
          <p:cNvPr id="8" name="Rounded Rectangle 7"/>
          <p:cNvSpPr/>
          <p:nvPr/>
        </p:nvSpPr>
        <p:spPr>
          <a:xfrm>
            <a:off x="6309360" y="1691640"/>
            <a:ext cx="5166360" cy="178308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309360" y="1691640"/>
            <a:ext cx="64008" cy="1783080"/>
          </a:xfrm>
          <a:prstGeom prst="rect">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629400" y="1947672"/>
            <a:ext cx="4526280" cy="238527"/>
          </a:xfrm>
          <a:prstGeom prst="rect">
            <a:avLst/>
          </a:prstGeom>
          <a:noFill/>
        </p:spPr>
        <p:txBody>
          <a:bodyPr wrap="square" lIns="0" tIns="0" rIns="0" bIns="0" anchor="t">
            <a:spAutoFit/>
          </a:bodyPr>
          <a:lstStyle/>
          <a:p>
            <a:pPr algn="l">
              <a:lnSpc>
                <a:spcPct val="100000"/>
              </a:lnSpc>
            </a:pPr>
            <a:r>
              <a:rPr lang="en-GB" sz="1550" b="1" dirty="0">
                <a:solidFill>
                  <a:srgbClr val="1A1A1A"/>
                </a:solidFill>
                <a:latin typeface="Calibri"/>
              </a:rPr>
              <a:t>Researcher-defined thresholds </a:t>
            </a:r>
            <a:endParaRPr sz="1550" b="1" i="0" dirty="0">
              <a:solidFill>
                <a:srgbClr val="1A1A1A"/>
              </a:solidFill>
              <a:latin typeface="Calibri"/>
            </a:endParaRPr>
          </a:p>
        </p:txBody>
      </p:sp>
      <p:sp>
        <p:nvSpPr>
          <p:cNvPr id="11" name="TextBox 10"/>
          <p:cNvSpPr txBox="1"/>
          <p:nvPr/>
        </p:nvSpPr>
        <p:spPr>
          <a:xfrm>
            <a:off x="6629400" y="2496312"/>
            <a:ext cx="4526280" cy="479940"/>
          </a:xfrm>
          <a:prstGeom prst="rect">
            <a:avLst/>
          </a:prstGeom>
          <a:noFill/>
        </p:spPr>
        <p:txBody>
          <a:bodyPr wrap="square" lIns="0" tIns="0" rIns="0" bIns="0" anchor="t">
            <a:spAutoFit/>
          </a:bodyPr>
          <a:lstStyle/>
          <a:p>
            <a:pPr algn="l">
              <a:lnSpc>
                <a:spcPct val="130000"/>
              </a:lnSpc>
            </a:pPr>
            <a:r>
              <a:rPr lang="en-GB" sz="1250" b="0" i="0" dirty="0">
                <a:solidFill>
                  <a:srgbClr val="666666"/>
                </a:solidFill>
                <a:latin typeface="Calibri"/>
              </a:rPr>
              <a:t>Every pass/fail line was set by the researcher, not by an external standard. Different thresholds would produce different verdicts.</a:t>
            </a:r>
            <a:endParaRPr sz="1250" b="0" i="0" dirty="0">
              <a:solidFill>
                <a:srgbClr val="666666"/>
              </a:solidFill>
              <a:latin typeface="Calibri"/>
            </a:endParaRPr>
          </a:p>
        </p:txBody>
      </p:sp>
      <p:sp>
        <p:nvSpPr>
          <p:cNvPr id="12" name="Rounded Rectangle 11"/>
          <p:cNvSpPr/>
          <p:nvPr/>
        </p:nvSpPr>
        <p:spPr>
          <a:xfrm>
            <a:off x="685800" y="3749039"/>
            <a:ext cx="5166360" cy="178308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85800" y="3749039"/>
            <a:ext cx="64008" cy="1783080"/>
          </a:xfrm>
          <a:prstGeom prst="rect">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05840" y="4005072"/>
            <a:ext cx="4526280" cy="548640"/>
          </a:xfrm>
          <a:prstGeom prst="rect">
            <a:avLst/>
          </a:prstGeom>
          <a:noFill/>
        </p:spPr>
        <p:txBody>
          <a:bodyPr wrap="square" lIns="0" tIns="0" rIns="0" bIns="0" anchor="t">
            <a:spAutoFit/>
          </a:bodyPr>
          <a:lstStyle/>
          <a:p>
            <a:pPr algn="l">
              <a:lnSpc>
                <a:spcPct val="100000"/>
              </a:lnSpc>
            </a:pPr>
            <a:r>
              <a:rPr sz="1550" b="1" i="0" dirty="0">
                <a:solidFill>
                  <a:srgbClr val="1A1A1A"/>
                </a:solidFill>
                <a:latin typeface="Calibri"/>
              </a:rPr>
              <a:t>Survey sampling bias</a:t>
            </a:r>
          </a:p>
        </p:txBody>
      </p:sp>
      <p:sp>
        <p:nvSpPr>
          <p:cNvPr id="15" name="TextBox 14"/>
          <p:cNvSpPr txBox="1"/>
          <p:nvPr/>
        </p:nvSpPr>
        <p:spPr>
          <a:xfrm>
            <a:off x="1005840" y="4553712"/>
            <a:ext cx="4526280" cy="479940"/>
          </a:xfrm>
          <a:prstGeom prst="rect">
            <a:avLst/>
          </a:prstGeom>
          <a:noFill/>
        </p:spPr>
        <p:txBody>
          <a:bodyPr wrap="square" lIns="0" tIns="0" rIns="0" bIns="0" anchor="t">
            <a:spAutoFit/>
          </a:bodyPr>
          <a:lstStyle/>
          <a:p>
            <a:pPr algn="l">
              <a:lnSpc>
                <a:spcPct val="130000"/>
              </a:lnSpc>
            </a:pPr>
            <a:r>
              <a:rPr sz="1250" b="0" i="0" dirty="0">
                <a:solidFill>
                  <a:srgbClr val="666666"/>
                </a:solidFill>
                <a:latin typeface="Calibri" panose="020F0502020204030204" pitchFamily="34" charset="0"/>
                <a:ea typeface="Calibri" panose="020F0502020204030204" pitchFamily="34" charset="0"/>
                <a:cs typeface="Calibri" panose="020F0502020204030204" pitchFamily="34" charset="0"/>
              </a:rPr>
              <a:t>Convenience/snowball sample, skewed female </a:t>
            </a:r>
            <a:r>
              <a:rPr lang="en-GB" sz="1250" b="0" i="0" dirty="0">
                <a:solidFill>
                  <a:srgbClr val="666666"/>
                </a:solidFill>
                <a:latin typeface="Calibri" panose="020F0502020204030204" pitchFamily="34" charset="0"/>
                <a:ea typeface="Calibri" panose="020F0502020204030204" pitchFamily="34" charset="0"/>
                <a:cs typeface="Calibri" panose="020F0502020204030204" pitchFamily="34" charset="0"/>
              </a:rPr>
              <a:t>(67%) </a:t>
            </a:r>
            <a:r>
              <a:rPr sz="1250" b="0" i="0" dirty="0">
                <a:solidFill>
                  <a:srgbClr val="666666"/>
                </a:solidFill>
                <a:latin typeface="Calibri" panose="020F0502020204030204" pitchFamily="34" charset="0"/>
                <a:ea typeface="Calibri" panose="020F0502020204030204" pitchFamily="34" charset="0"/>
                <a:cs typeface="Calibri" panose="020F0502020204030204" pitchFamily="34" charset="0"/>
              </a:rPr>
              <a:t>and non-technical</a:t>
            </a:r>
            <a:r>
              <a:rPr lang="en-GB" sz="1250" b="0" i="0" dirty="0">
                <a:solidFill>
                  <a:srgbClr val="666666"/>
                </a:solidFill>
                <a:latin typeface="Calibri" panose="020F0502020204030204" pitchFamily="34" charset="0"/>
                <a:ea typeface="Calibri" panose="020F0502020204030204" pitchFamily="34" charset="0"/>
                <a:cs typeface="Calibri" panose="020F0502020204030204" pitchFamily="34" charset="0"/>
              </a:rPr>
              <a:t> (83%)</a:t>
            </a:r>
            <a:r>
              <a:rPr sz="1250" b="0" i="0" dirty="0">
                <a:solidFill>
                  <a:srgbClr val="666666"/>
                </a:solidFill>
                <a:latin typeface="Calibri" panose="020F0502020204030204" pitchFamily="34" charset="0"/>
                <a:ea typeface="Calibri" panose="020F0502020204030204" pitchFamily="34" charset="0"/>
                <a:cs typeface="Calibri" panose="020F0502020204030204" pitchFamily="34" charset="0"/>
              </a:rPr>
              <a:t>.</a:t>
            </a:r>
          </a:p>
        </p:txBody>
      </p:sp>
      <p:sp>
        <p:nvSpPr>
          <p:cNvPr id="16" name="Rounded Rectangle 15"/>
          <p:cNvSpPr/>
          <p:nvPr/>
        </p:nvSpPr>
        <p:spPr>
          <a:xfrm>
            <a:off x="6309360" y="3749039"/>
            <a:ext cx="5166360" cy="178308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309360" y="3749039"/>
            <a:ext cx="64008" cy="1783080"/>
          </a:xfrm>
          <a:prstGeom prst="rect">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629400" y="4005072"/>
            <a:ext cx="4526280" cy="548640"/>
          </a:xfrm>
          <a:prstGeom prst="rect">
            <a:avLst/>
          </a:prstGeom>
          <a:noFill/>
        </p:spPr>
        <p:txBody>
          <a:bodyPr wrap="square" lIns="0" tIns="0" rIns="0" bIns="0" anchor="t">
            <a:spAutoFit/>
          </a:bodyPr>
          <a:lstStyle/>
          <a:p>
            <a:pPr algn="l">
              <a:lnSpc>
                <a:spcPct val="100000"/>
              </a:lnSpc>
            </a:pPr>
            <a:r>
              <a:rPr sz="1550" b="1" i="0">
                <a:solidFill>
                  <a:srgbClr val="1A1A1A"/>
                </a:solidFill>
                <a:latin typeface="Calibri"/>
              </a:rPr>
              <a:t>Correctability scoring</a:t>
            </a:r>
          </a:p>
        </p:txBody>
      </p:sp>
      <p:sp>
        <p:nvSpPr>
          <p:cNvPr id="19" name="TextBox 18"/>
          <p:cNvSpPr txBox="1"/>
          <p:nvPr/>
        </p:nvSpPr>
        <p:spPr>
          <a:xfrm>
            <a:off x="6629400" y="4553712"/>
            <a:ext cx="4526280" cy="914400"/>
          </a:xfrm>
          <a:prstGeom prst="rect">
            <a:avLst/>
          </a:prstGeom>
          <a:noFill/>
        </p:spPr>
        <p:txBody>
          <a:bodyPr wrap="square" lIns="0" tIns="0" rIns="0" bIns="0" anchor="t">
            <a:spAutoFit/>
          </a:bodyPr>
          <a:lstStyle/>
          <a:p>
            <a:pPr algn="l">
              <a:lnSpc>
                <a:spcPct val="130000"/>
              </a:lnSpc>
            </a:pPr>
            <a:r>
              <a:rPr sz="1250" b="0" i="0" dirty="0">
                <a:solidFill>
                  <a:srgbClr val="666666"/>
                </a:solidFill>
                <a:latin typeface="Calibri"/>
              </a:rPr>
              <a:t>The checklist total grew alongside the fix, complicating direct comparison.</a:t>
            </a:r>
          </a:p>
        </p:txBody>
      </p:sp>
      <p:sp>
        <p:nvSpPr>
          <p:cNvPr id="20" name="TextBox 19"/>
          <p:cNvSpPr txBox="1"/>
          <p:nvPr/>
        </p:nvSpPr>
        <p:spPr>
          <a:xfrm>
            <a:off x="685800" y="6510528"/>
            <a:ext cx="6400800" cy="274320"/>
          </a:xfrm>
          <a:prstGeom prst="rect">
            <a:avLst/>
          </a:prstGeom>
          <a:noFill/>
        </p:spPr>
        <p:txBody>
          <a:bodyPr wrap="square" lIns="0" tIns="0" rIns="0" bIns="0" anchor="t">
            <a:spAutoFit/>
          </a:bodyPr>
          <a:lstStyle/>
          <a:p>
            <a:pPr algn="l">
              <a:lnSpc>
                <a:spcPct val="100000"/>
              </a:lnSpc>
            </a:pPr>
            <a:r>
              <a:rPr sz="950" b="0" i="0">
                <a:solidFill>
                  <a:srgbClr val="999999"/>
                </a:solidFill>
                <a:latin typeface="Calibri"/>
              </a:rPr>
              <a:t>Procedural Fairness in Healthcare AI</a:t>
            </a:r>
          </a:p>
        </p:txBody>
      </p:sp>
      <p:sp>
        <p:nvSpPr>
          <p:cNvPr id="21" name="TextBox 20"/>
          <p:cNvSpPr txBox="1"/>
          <p:nvPr/>
        </p:nvSpPr>
        <p:spPr>
          <a:xfrm>
            <a:off x="11521440" y="6510528"/>
            <a:ext cx="457200" cy="146194"/>
          </a:xfrm>
          <a:prstGeom prst="rect">
            <a:avLst/>
          </a:prstGeom>
          <a:noFill/>
        </p:spPr>
        <p:txBody>
          <a:bodyPr wrap="square" lIns="0" tIns="0" rIns="0" bIns="0" anchor="t">
            <a:spAutoFit/>
          </a:bodyPr>
          <a:lstStyle/>
          <a:p>
            <a:pPr algn="r">
              <a:lnSpc>
                <a:spcPct val="100000"/>
              </a:lnSpc>
            </a:pPr>
            <a:r>
              <a:rPr sz="950" b="0" i="0" dirty="0">
                <a:solidFill>
                  <a:srgbClr val="999999"/>
                </a:solidFill>
                <a:latin typeface="Calibri"/>
              </a:rPr>
              <a:t>1</a:t>
            </a:r>
            <a:r>
              <a:rPr lang="en-GB" sz="950" b="0" i="0" dirty="0">
                <a:solidFill>
                  <a:srgbClr val="999999"/>
                </a:solidFill>
                <a:latin typeface="Calibri"/>
              </a:rPr>
              <a:t>6</a:t>
            </a:r>
            <a:endParaRPr sz="950" b="0" i="0" dirty="0">
              <a:solidFill>
                <a:srgbClr val="999999"/>
              </a:solidFill>
              <a:latin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10" name="Rounded Rectangle 9"/>
          <p:cNvSpPr/>
          <p:nvPr/>
        </p:nvSpPr>
        <p:spPr>
          <a:xfrm>
            <a:off x="685800" y="3273552"/>
            <a:ext cx="10789920" cy="123444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p:cNvSpPr txBox="1"/>
          <p:nvPr/>
        </p:nvSpPr>
        <p:spPr>
          <a:xfrm>
            <a:off x="685800" y="384048"/>
            <a:ext cx="9144000" cy="320040"/>
          </a:xfrm>
          <a:prstGeom prst="rect">
            <a:avLst/>
          </a:prstGeom>
          <a:noFill/>
        </p:spPr>
        <p:txBody>
          <a:bodyPr wrap="square" lIns="0" tIns="0" rIns="0" bIns="0" anchor="t">
            <a:spAutoFit/>
          </a:bodyPr>
          <a:lstStyle/>
          <a:p>
            <a:pPr algn="l">
              <a:lnSpc>
                <a:spcPct val="100000"/>
              </a:lnSpc>
            </a:pPr>
            <a:r>
              <a:rPr sz="1300" b="1" i="0">
                <a:solidFill>
                  <a:srgbClr val="C9748F"/>
                </a:solidFill>
                <a:latin typeface="Calibri"/>
              </a:rPr>
              <a:t>RECOMMENDATIONS</a:t>
            </a:r>
          </a:p>
        </p:txBody>
      </p:sp>
      <p:sp>
        <p:nvSpPr>
          <p:cNvPr id="3" name="TextBox 2"/>
          <p:cNvSpPr txBox="1"/>
          <p:nvPr/>
        </p:nvSpPr>
        <p:spPr>
          <a:xfrm>
            <a:off x="685800" y="704088"/>
            <a:ext cx="10789920" cy="442237"/>
          </a:xfrm>
          <a:prstGeom prst="rect">
            <a:avLst/>
          </a:prstGeom>
          <a:noFill/>
        </p:spPr>
        <p:txBody>
          <a:bodyPr wrap="square" lIns="0" tIns="0" rIns="0" bIns="0" anchor="t">
            <a:spAutoFit/>
          </a:bodyPr>
          <a:lstStyle/>
          <a:p>
            <a:pPr algn="l">
              <a:lnSpc>
                <a:spcPct val="102000"/>
              </a:lnSpc>
            </a:pPr>
            <a:r>
              <a:rPr lang="en-GB" sz="3000" b="1" dirty="0">
                <a:solidFill>
                  <a:srgbClr val="1A1A1A"/>
                </a:solidFill>
                <a:latin typeface="Georgia"/>
              </a:rPr>
              <a:t>Three Priorities for Responsible Deployment</a:t>
            </a:r>
            <a:endParaRPr sz="3000" b="1" i="0" dirty="0">
              <a:solidFill>
                <a:srgbClr val="1A1A1A"/>
              </a:solidFill>
              <a:latin typeface="Georgia"/>
            </a:endParaRPr>
          </a:p>
        </p:txBody>
      </p:sp>
      <p:sp>
        <p:nvSpPr>
          <p:cNvPr id="4" name="Rounded Rectangle 3"/>
          <p:cNvSpPr/>
          <p:nvPr/>
        </p:nvSpPr>
        <p:spPr>
          <a:xfrm>
            <a:off x="685800" y="1783080"/>
            <a:ext cx="10789920" cy="123444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005840" y="2125980"/>
            <a:ext cx="548640" cy="548640"/>
          </a:xfrm>
          <a:prstGeom prst="ellipse">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2180844"/>
            <a:ext cx="548640" cy="457200"/>
          </a:xfrm>
          <a:prstGeom prst="rect">
            <a:avLst/>
          </a:prstGeom>
          <a:noFill/>
        </p:spPr>
        <p:txBody>
          <a:bodyPr wrap="square" lIns="0" tIns="0" rIns="0" bIns="0" anchor="ctr">
            <a:spAutoFit/>
          </a:bodyPr>
          <a:lstStyle/>
          <a:p>
            <a:pPr algn="ctr">
              <a:lnSpc>
                <a:spcPct val="100000"/>
              </a:lnSpc>
            </a:pPr>
            <a:r>
              <a:rPr sz="1900" b="1" i="0">
                <a:solidFill>
                  <a:srgbClr val="FFFFFF"/>
                </a:solidFill>
                <a:latin typeface="Calibri"/>
              </a:rPr>
              <a:t>1</a:t>
            </a:r>
          </a:p>
        </p:txBody>
      </p:sp>
      <p:sp>
        <p:nvSpPr>
          <p:cNvPr id="7" name="TextBox 6"/>
          <p:cNvSpPr txBox="1"/>
          <p:nvPr/>
        </p:nvSpPr>
        <p:spPr>
          <a:xfrm>
            <a:off x="1919486" y="3446183"/>
            <a:ext cx="4297680" cy="822960"/>
          </a:xfrm>
          <a:prstGeom prst="rect">
            <a:avLst/>
          </a:prstGeom>
          <a:noFill/>
        </p:spPr>
        <p:txBody>
          <a:bodyPr wrap="square" lIns="0" tIns="0" rIns="0" bIns="0" anchor="ctr">
            <a:spAutoFit/>
          </a:bodyPr>
          <a:lstStyle/>
          <a:p>
            <a:pPr algn="l">
              <a:lnSpc>
                <a:spcPct val="115000"/>
              </a:lnSpc>
            </a:pPr>
            <a:r>
              <a:rPr sz="1550" b="1" i="0" dirty="0">
                <a:solidFill>
                  <a:srgbClr val="1A1A1A"/>
                </a:solidFill>
                <a:latin typeface="Calibri"/>
              </a:rPr>
              <a:t>Collect more representative clinical data</a:t>
            </a:r>
          </a:p>
        </p:txBody>
      </p:sp>
      <p:cxnSp>
        <p:nvCxnSpPr>
          <p:cNvPr id="8" name="Connector 7"/>
          <p:cNvCxnSpPr/>
          <p:nvPr/>
        </p:nvCxnSpPr>
        <p:spPr>
          <a:xfrm>
            <a:off x="6355080" y="1984248"/>
            <a:ext cx="0" cy="832104"/>
          </a:xfrm>
          <a:prstGeom prst="line">
            <a:avLst/>
          </a:prstGeom>
          <a:ln w="12700">
            <a:solidFill>
              <a:srgbClr val="F0D9D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675120" y="3573815"/>
            <a:ext cx="4617720" cy="700833"/>
          </a:xfrm>
          <a:prstGeom prst="rect">
            <a:avLst/>
          </a:prstGeom>
          <a:noFill/>
        </p:spPr>
        <p:txBody>
          <a:bodyPr wrap="square" lIns="0" tIns="0" rIns="0" bIns="0" anchor="ctr">
            <a:spAutoFit/>
          </a:bodyPr>
          <a:lstStyle/>
          <a:p>
            <a:pPr>
              <a:lnSpc>
                <a:spcPct val="130000"/>
              </a:lnSpc>
            </a:pPr>
            <a:r>
              <a:rPr lang="en-GB" sz="1200" i="1" dirty="0">
                <a:solidFill>
                  <a:schemeClr val="tx1">
                    <a:lumMod val="65000"/>
                    <a:lumOff val="35000"/>
                  </a:schemeClr>
                </a:solidFill>
              </a:rPr>
              <a:t>Addresses: Representativeness, Bias Suppression</a:t>
            </a:r>
            <a:br>
              <a:rPr lang="en-GB" sz="1200" dirty="0">
                <a:solidFill>
                  <a:schemeClr val="tx1">
                    <a:lumMod val="65000"/>
                    <a:lumOff val="35000"/>
                  </a:schemeClr>
                </a:solidFill>
              </a:rPr>
            </a:br>
            <a:r>
              <a:rPr lang="en-GB" sz="1200" dirty="0">
                <a:solidFill>
                  <a:schemeClr val="tx1">
                    <a:lumMod val="65000"/>
                    <a:lumOff val="35000"/>
                  </a:schemeClr>
                </a:solidFill>
              </a:rPr>
              <a:t>21% female against 33% real-world CHD prevalence; n=39 limits subgroup precision.</a:t>
            </a:r>
            <a:endParaRPr sz="1200" b="0" i="0" dirty="0">
              <a:solidFill>
                <a:schemeClr val="tx1">
                  <a:lumMod val="65000"/>
                  <a:lumOff val="35000"/>
                </a:schemeClr>
              </a:solidFill>
              <a:latin typeface="Calibri"/>
            </a:endParaRPr>
          </a:p>
        </p:txBody>
      </p:sp>
      <p:sp>
        <p:nvSpPr>
          <p:cNvPr id="11" name="Oval 10"/>
          <p:cNvSpPr/>
          <p:nvPr/>
        </p:nvSpPr>
        <p:spPr>
          <a:xfrm>
            <a:off x="1005840" y="3616452"/>
            <a:ext cx="548640" cy="548640"/>
          </a:xfrm>
          <a:prstGeom prst="ellipse">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05840" y="3671315"/>
            <a:ext cx="548640" cy="457200"/>
          </a:xfrm>
          <a:prstGeom prst="rect">
            <a:avLst/>
          </a:prstGeom>
          <a:noFill/>
        </p:spPr>
        <p:txBody>
          <a:bodyPr wrap="square" lIns="0" tIns="0" rIns="0" bIns="0" anchor="ctr">
            <a:spAutoFit/>
          </a:bodyPr>
          <a:lstStyle/>
          <a:p>
            <a:pPr algn="ctr">
              <a:lnSpc>
                <a:spcPct val="100000"/>
              </a:lnSpc>
            </a:pPr>
            <a:r>
              <a:rPr sz="1900" b="1" i="0">
                <a:solidFill>
                  <a:srgbClr val="FFFFFF"/>
                </a:solidFill>
                <a:latin typeface="Calibri"/>
              </a:rPr>
              <a:t>2</a:t>
            </a:r>
          </a:p>
        </p:txBody>
      </p:sp>
      <p:sp>
        <p:nvSpPr>
          <p:cNvPr id="13" name="TextBox 12"/>
          <p:cNvSpPr txBox="1"/>
          <p:nvPr/>
        </p:nvSpPr>
        <p:spPr>
          <a:xfrm>
            <a:off x="1851660" y="1947672"/>
            <a:ext cx="4297680" cy="822960"/>
          </a:xfrm>
          <a:prstGeom prst="rect">
            <a:avLst/>
          </a:prstGeom>
          <a:noFill/>
        </p:spPr>
        <p:txBody>
          <a:bodyPr wrap="square" lIns="0" tIns="0" rIns="0" bIns="0" anchor="ctr">
            <a:spAutoFit/>
          </a:bodyPr>
          <a:lstStyle/>
          <a:p>
            <a:pPr algn="l">
              <a:lnSpc>
                <a:spcPct val="115000"/>
              </a:lnSpc>
            </a:pPr>
            <a:r>
              <a:rPr sz="1550" b="1" i="0">
                <a:solidFill>
                  <a:srgbClr val="1A1A1A"/>
                </a:solidFill>
                <a:latin typeface="Calibri"/>
              </a:rPr>
              <a:t>Build correctability infrastructure</a:t>
            </a:r>
          </a:p>
        </p:txBody>
      </p:sp>
      <p:cxnSp>
        <p:nvCxnSpPr>
          <p:cNvPr id="14" name="Connector 13"/>
          <p:cNvCxnSpPr/>
          <p:nvPr/>
        </p:nvCxnSpPr>
        <p:spPr>
          <a:xfrm>
            <a:off x="6355080" y="3474720"/>
            <a:ext cx="0" cy="832104"/>
          </a:xfrm>
          <a:prstGeom prst="line">
            <a:avLst/>
          </a:prstGeom>
          <a:ln w="12700">
            <a:solidFill>
              <a:srgbClr val="F0D9D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775603" y="2014571"/>
            <a:ext cx="4617720" cy="700833"/>
          </a:xfrm>
          <a:prstGeom prst="rect">
            <a:avLst/>
          </a:prstGeom>
          <a:noFill/>
        </p:spPr>
        <p:txBody>
          <a:bodyPr wrap="square" lIns="0" tIns="0" rIns="0" bIns="0" anchor="ctr">
            <a:spAutoFit/>
          </a:bodyPr>
          <a:lstStyle/>
          <a:p>
            <a:pPr>
              <a:lnSpc>
                <a:spcPct val="130000"/>
              </a:lnSpc>
            </a:pPr>
            <a:r>
              <a:rPr lang="en-GB" sz="1200" i="1" dirty="0">
                <a:solidFill>
                  <a:schemeClr val="tx1">
                    <a:lumMod val="65000"/>
                    <a:lumOff val="35000"/>
                  </a:schemeClr>
                </a:solidFill>
              </a:rPr>
              <a:t>Addresses: Correctability</a:t>
            </a:r>
            <a:br>
              <a:rPr lang="en-GB" sz="1200" dirty="0">
                <a:solidFill>
                  <a:schemeClr val="tx1">
                    <a:lumMod val="65000"/>
                    <a:lumOff val="35000"/>
                  </a:schemeClr>
                </a:solidFill>
              </a:rPr>
            </a:br>
            <a:r>
              <a:rPr lang="en-GB" sz="1200" dirty="0">
                <a:solidFill>
                  <a:schemeClr val="tx1">
                    <a:lumMod val="65000"/>
                    <a:lumOff val="35000"/>
                  </a:schemeClr>
                </a:solidFill>
              </a:rPr>
              <a:t>Clinician override, patient challenge, audit trails, version control; currently none present.</a:t>
            </a:r>
            <a:endParaRPr sz="1200" b="0" i="0" dirty="0">
              <a:solidFill>
                <a:schemeClr val="tx1">
                  <a:lumMod val="65000"/>
                  <a:lumOff val="35000"/>
                </a:schemeClr>
              </a:solidFill>
              <a:latin typeface="Calibri"/>
            </a:endParaRPr>
          </a:p>
        </p:txBody>
      </p:sp>
      <p:sp>
        <p:nvSpPr>
          <p:cNvPr id="16" name="Rounded Rectangle 15"/>
          <p:cNvSpPr/>
          <p:nvPr/>
        </p:nvSpPr>
        <p:spPr>
          <a:xfrm>
            <a:off x="685800" y="4764024"/>
            <a:ext cx="10789920" cy="123444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1005840" y="5106924"/>
            <a:ext cx="548640" cy="548640"/>
          </a:xfrm>
          <a:prstGeom prst="ellipse">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05840" y="5161788"/>
            <a:ext cx="548640" cy="457200"/>
          </a:xfrm>
          <a:prstGeom prst="rect">
            <a:avLst/>
          </a:prstGeom>
          <a:noFill/>
        </p:spPr>
        <p:txBody>
          <a:bodyPr wrap="square" lIns="0" tIns="0" rIns="0" bIns="0" anchor="ctr">
            <a:spAutoFit/>
          </a:bodyPr>
          <a:lstStyle/>
          <a:p>
            <a:pPr algn="ctr">
              <a:lnSpc>
                <a:spcPct val="100000"/>
              </a:lnSpc>
            </a:pPr>
            <a:r>
              <a:rPr sz="1900" b="1" i="0">
                <a:solidFill>
                  <a:srgbClr val="FFFFFF"/>
                </a:solidFill>
                <a:latin typeface="Calibri"/>
              </a:rPr>
              <a:t>3</a:t>
            </a:r>
          </a:p>
        </p:txBody>
      </p:sp>
      <p:sp>
        <p:nvSpPr>
          <p:cNvPr id="19" name="TextBox 18"/>
          <p:cNvSpPr txBox="1"/>
          <p:nvPr/>
        </p:nvSpPr>
        <p:spPr>
          <a:xfrm>
            <a:off x="1874519" y="4946904"/>
            <a:ext cx="4297680" cy="822960"/>
          </a:xfrm>
          <a:prstGeom prst="rect">
            <a:avLst/>
          </a:prstGeom>
          <a:noFill/>
        </p:spPr>
        <p:txBody>
          <a:bodyPr wrap="square" lIns="0" tIns="0" rIns="0" bIns="0" anchor="ctr">
            <a:spAutoFit/>
          </a:bodyPr>
          <a:lstStyle/>
          <a:p>
            <a:pPr algn="l">
              <a:lnSpc>
                <a:spcPct val="115000"/>
              </a:lnSpc>
            </a:pPr>
            <a:r>
              <a:rPr sz="1550" b="1" i="0">
                <a:solidFill>
                  <a:srgbClr val="1A1A1A"/>
                </a:solidFill>
                <a:latin typeface="Calibri"/>
              </a:rPr>
              <a:t>Establish informed consent frameworks</a:t>
            </a:r>
          </a:p>
        </p:txBody>
      </p:sp>
      <p:cxnSp>
        <p:nvCxnSpPr>
          <p:cNvPr id="20" name="Connector 19"/>
          <p:cNvCxnSpPr/>
          <p:nvPr/>
        </p:nvCxnSpPr>
        <p:spPr>
          <a:xfrm>
            <a:off x="6355080" y="4965192"/>
            <a:ext cx="0" cy="832104"/>
          </a:xfrm>
          <a:prstGeom prst="line">
            <a:avLst/>
          </a:prstGeom>
          <a:ln w="12700">
            <a:solidFill>
              <a:srgbClr val="F0D9DF"/>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675120" y="5030826"/>
            <a:ext cx="4617720" cy="700833"/>
          </a:xfrm>
          <a:prstGeom prst="rect">
            <a:avLst/>
          </a:prstGeom>
          <a:noFill/>
        </p:spPr>
        <p:txBody>
          <a:bodyPr wrap="square" lIns="0" tIns="0" rIns="0" bIns="0" anchor="ctr">
            <a:spAutoFit/>
          </a:bodyPr>
          <a:lstStyle/>
          <a:p>
            <a:pPr>
              <a:lnSpc>
                <a:spcPct val="130000"/>
              </a:lnSpc>
            </a:pPr>
            <a:r>
              <a:rPr lang="en-GB" sz="1200" i="1" dirty="0">
                <a:solidFill>
                  <a:schemeClr val="tx1">
                    <a:lumMod val="65000"/>
                    <a:lumOff val="35000"/>
                  </a:schemeClr>
                </a:solidFill>
              </a:rPr>
              <a:t>Addresses: Ethicality</a:t>
            </a:r>
            <a:br>
              <a:rPr lang="en-GB" sz="1200" dirty="0">
                <a:solidFill>
                  <a:schemeClr val="tx1">
                    <a:lumMod val="65000"/>
                    <a:lumOff val="35000"/>
                  </a:schemeClr>
                </a:solidFill>
              </a:rPr>
            </a:br>
            <a:r>
              <a:rPr lang="en-GB" sz="1200" dirty="0">
                <a:solidFill>
                  <a:schemeClr val="tx1">
                    <a:lumMod val="65000"/>
                    <a:lumOff val="35000"/>
                  </a:schemeClr>
                </a:solidFill>
              </a:rPr>
              <a:t>Consent for secondary ML use not documented, the only unmet item in an otherwise passing criterion</a:t>
            </a:r>
            <a:endParaRPr sz="1200" b="0" i="0" dirty="0">
              <a:solidFill>
                <a:schemeClr val="tx1">
                  <a:lumMod val="65000"/>
                  <a:lumOff val="35000"/>
                </a:schemeClr>
              </a:solidFill>
              <a:latin typeface="Calibri"/>
            </a:endParaRPr>
          </a:p>
        </p:txBody>
      </p:sp>
      <p:sp>
        <p:nvSpPr>
          <p:cNvPr id="22" name="TextBox 21"/>
          <p:cNvSpPr txBox="1"/>
          <p:nvPr/>
        </p:nvSpPr>
        <p:spPr>
          <a:xfrm>
            <a:off x="685800" y="6510528"/>
            <a:ext cx="6400800" cy="274320"/>
          </a:xfrm>
          <a:prstGeom prst="rect">
            <a:avLst/>
          </a:prstGeom>
          <a:noFill/>
        </p:spPr>
        <p:txBody>
          <a:bodyPr wrap="square" lIns="0" tIns="0" rIns="0" bIns="0" anchor="t">
            <a:spAutoFit/>
          </a:bodyPr>
          <a:lstStyle/>
          <a:p>
            <a:pPr algn="l">
              <a:lnSpc>
                <a:spcPct val="100000"/>
              </a:lnSpc>
            </a:pPr>
            <a:r>
              <a:rPr sz="950" b="0" i="0">
                <a:solidFill>
                  <a:srgbClr val="999999"/>
                </a:solidFill>
                <a:latin typeface="Calibri"/>
              </a:rPr>
              <a:t>Procedural Fairness in Healthcare AI</a:t>
            </a:r>
          </a:p>
        </p:txBody>
      </p:sp>
      <p:sp>
        <p:nvSpPr>
          <p:cNvPr id="23" name="TextBox 22"/>
          <p:cNvSpPr txBox="1"/>
          <p:nvPr/>
        </p:nvSpPr>
        <p:spPr>
          <a:xfrm>
            <a:off x="11521440" y="6510528"/>
            <a:ext cx="457200" cy="146194"/>
          </a:xfrm>
          <a:prstGeom prst="rect">
            <a:avLst/>
          </a:prstGeom>
          <a:noFill/>
        </p:spPr>
        <p:txBody>
          <a:bodyPr wrap="square" lIns="0" tIns="0" rIns="0" bIns="0" anchor="t">
            <a:spAutoFit/>
          </a:bodyPr>
          <a:lstStyle/>
          <a:p>
            <a:pPr algn="r">
              <a:lnSpc>
                <a:spcPct val="100000"/>
              </a:lnSpc>
            </a:pPr>
            <a:r>
              <a:rPr sz="950" b="0" i="0" dirty="0">
                <a:solidFill>
                  <a:srgbClr val="999999"/>
                </a:solidFill>
                <a:latin typeface="Calibri"/>
              </a:rPr>
              <a:t>1</a:t>
            </a:r>
            <a:r>
              <a:rPr lang="en-GB" sz="950" b="0" i="0" dirty="0">
                <a:solidFill>
                  <a:srgbClr val="999999"/>
                </a:solidFill>
                <a:latin typeface="Calibri"/>
              </a:rPr>
              <a:t>7</a:t>
            </a:r>
            <a:endParaRPr sz="950" b="0" i="0" dirty="0">
              <a:solidFill>
                <a:srgbClr val="999999"/>
              </a:solidFill>
              <a:latin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2" name="TextBox 1"/>
          <p:cNvSpPr txBox="1"/>
          <p:nvPr/>
        </p:nvSpPr>
        <p:spPr>
          <a:xfrm>
            <a:off x="685800" y="384048"/>
            <a:ext cx="9144000" cy="320040"/>
          </a:xfrm>
          <a:prstGeom prst="rect">
            <a:avLst/>
          </a:prstGeom>
          <a:noFill/>
        </p:spPr>
        <p:txBody>
          <a:bodyPr wrap="square" lIns="0" tIns="0" rIns="0" bIns="0" anchor="t">
            <a:spAutoFit/>
          </a:bodyPr>
          <a:lstStyle/>
          <a:p>
            <a:pPr algn="l">
              <a:lnSpc>
                <a:spcPct val="100000"/>
              </a:lnSpc>
            </a:pPr>
            <a:r>
              <a:rPr sz="1300" b="1" i="0">
                <a:solidFill>
                  <a:srgbClr val="C9748F"/>
                </a:solidFill>
                <a:latin typeface="Calibri"/>
              </a:rPr>
              <a:t>CONCLUSION</a:t>
            </a:r>
          </a:p>
        </p:txBody>
      </p:sp>
      <p:sp>
        <p:nvSpPr>
          <p:cNvPr id="3" name="TextBox 2"/>
          <p:cNvSpPr txBox="1"/>
          <p:nvPr/>
        </p:nvSpPr>
        <p:spPr>
          <a:xfrm>
            <a:off x="777240" y="658368"/>
            <a:ext cx="10515600" cy="442237"/>
          </a:xfrm>
          <a:prstGeom prst="rect">
            <a:avLst/>
          </a:prstGeom>
          <a:noFill/>
        </p:spPr>
        <p:txBody>
          <a:bodyPr wrap="square" lIns="0" tIns="0" rIns="0" bIns="0" anchor="t">
            <a:spAutoFit/>
          </a:bodyPr>
          <a:lstStyle/>
          <a:p>
            <a:pPr algn="l">
              <a:lnSpc>
                <a:spcPct val="102000"/>
              </a:lnSpc>
            </a:pPr>
            <a:r>
              <a:rPr lang="en-GB" sz="3000" b="1" i="0" dirty="0">
                <a:solidFill>
                  <a:srgbClr val="1A1A1A"/>
                </a:solidFill>
                <a:latin typeface="Georgia"/>
              </a:rPr>
              <a:t>Fairness is a Process, Not a Score </a:t>
            </a:r>
            <a:endParaRPr sz="3000" b="1" i="0" dirty="0">
              <a:solidFill>
                <a:srgbClr val="1A1A1A"/>
              </a:solidFill>
              <a:latin typeface="Georgia"/>
            </a:endParaRPr>
          </a:p>
        </p:txBody>
      </p:sp>
      <p:sp>
        <p:nvSpPr>
          <p:cNvPr id="18" name="Rounded Rectangle 17"/>
          <p:cNvSpPr/>
          <p:nvPr/>
        </p:nvSpPr>
        <p:spPr>
          <a:xfrm>
            <a:off x="914400" y="5192232"/>
            <a:ext cx="10607040" cy="685800"/>
          </a:xfrm>
          <a:prstGeom prst="roundRect">
            <a:avLst>
              <a:gd name="adj" fmla="val 50000"/>
            </a:avLst>
          </a:prstGeom>
          <a:solidFill>
            <a:srgbClr val="F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85800" y="6510528"/>
            <a:ext cx="6400800" cy="274320"/>
          </a:xfrm>
          <a:prstGeom prst="rect">
            <a:avLst/>
          </a:prstGeom>
          <a:noFill/>
        </p:spPr>
        <p:txBody>
          <a:bodyPr wrap="square" lIns="0" tIns="0" rIns="0" bIns="0" anchor="t">
            <a:spAutoFit/>
          </a:bodyPr>
          <a:lstStyle/>
          <a:p>
            <a:pPr algn="l">
              <a:lnSpc>
                <a:spcPct val="100000"/>
              </a:lnSpc>
            </a:pPr>
            <a:r>
              <a:rPr sz="950" b="0" i="0">
                <a:solidFill>
                  <a:srgbClr val="999999"/>
                </a:solidFill>
                <a:latin typeface="Calibri"/>
              </a:rPr>
              <a:t>Procedural Fairness in Healthcare AI</a:t>
            </a:r>
          </a:p>
        </p:txBody>
      </p:sp>
      <p:sp>
        <p:nvSpPr>
          <p:cNvPr id="21" name="TextBox 20"/>
          <p:cNvSpPr txBox="1"/>
          <p:nvPr/>
        </p:nvSpPr>
        <p:spPr>
          <a:xfrm>
            <a:off x="11521440" y="6510528"/>
            <a:ext cx="457200" cy="146194"/>
          </a:xfrm>
          <a:prstGeom prst="rect">
            <a:avLst/>
          </a:prstGeom>
          <a:noFill/>
        </p:spPr>
        <p:txBody>
          <a:bodyPr wrap="square" lIns="0" tIns="0" rIns="0" bIns="0" anchor="t">
            <a:spAutoFit/>
          </a:bodyPr>
          <a:lstStyle/>
          <a:p>
            <a:pPr algn="r">
              <a:lnSpc>
                <a:spcPct val="100000"/>
              </a:lnSpc>
            </a:pPr>
            <a:r>
              <a:rPr sz="950" b="0" i="0" dirty="0">
                <a:solidFill>
                  <a:srgbClr val="999999"/>
                </a:solidFill>
                <a:latin typeface="Calibri"/>
              </a:rPr>
              <a:t>1</a:t>
            </a:r>
            <a:r>
              <a:rPr lang="en-GB" sz="950" b="0" i="0" dirty="0">
                <a:solidFill>
                  <a:srgbClr val="999999"/>
                </a:solidFill>
                <a:latin typeface="Calibri"/>
              </a:rPr>
              <a:t>8</a:t>
            </a:r>
            <a:endParaRPr sz="950" b="0" i="0" dirty="0">
              <a:solidFill>
                <a:srgbClr val="999999"/>
              </a:solidFill>
              <a:latin typeface="Calibri"/>
            </a:endParaRPr>
          </a:p>
        </p:txBody>
      </p:sp>
      <p:sp>
        <p:nvSpPr>
          <p:cNvPr id="22" name="TextBox 21"/>
          <p:cNvSpPr txBox="1"/>
          <p:nvPr/>
        </p:nvSpPr>
        <p:spPr>
          <a:xfrm>
            <a:off x="685800" y="3352876"/>
            <a:ext cx="10515600" cy="1200329"/>
          </a:xfrm>
          <a:prstGeom prst="rect">
            <a:avLst/>
          </a:prstGeom>
          <a:noFill/>
        </p:spPr>
        <p:txBody>
          <a:bodyPr wrap="square">
            <a:spAutoFit/>
          </a:bodyPr>
          <a:lstStyle/>
          <a:p>
            <a:r>
              <a:rPr sz="2400" b="1" dirty="0">
                <a:solidFill>
                  <a:srgbClr val="C9748F"/>
                </a:solidFill>
                <a:latin typeface="Calibri"/>
              </a:rPr>
              <a:t>CONTRIBUTION</a:t>
            </a:r>
            <a:endParaRPr lang="en-GB" sz="2400" b="1" dirty="0">
              <a:solidFill>
                <a:srgbClr val="C9748F"/>
              </a:solidFill>
            </a:endParaRPr>
          </a:p>
          <a:p>
            <a:r>
              <a:rPr lang="en-GB" sz="1600" dirty="0"/>
              <a:t>The key contribution is not a single fairer model, but a reusable framework for assessing AI fairness. By translating justice theory into measurable criteria and communicating outcomes clearly, this approach provides a standard that future models can be evaluated against.</a:t>
            </a:r>
            <a:endParaRPr sz="1600" b="1" dirty="0">
              <a:solidFill>
                <a:srgbClr val="C9748F"/>
              </a:solidFill>
            </a:endParaRPr>
          </a:p>
        </p:txBody>
      </p:sp>
      <p:sp>
        <p:nvSpPr>
          <p:cNvPr id="23" name="TextBox 22"/>
          <p:cNvSpPr txBox="1"/>
          <p:nvPr/>
        </p:nvSpPr>
        <p:spPr>
          <a:xfrm>
            <a:off x="960120" y="5381243"/>
            <a:ext cx="10515600" cy="307777"/>
          </a:xfrm>
          <a:prstGeom prst="rect">
            <a:avLst/>
          </a:prstGeom>
          <a:noFill/>
        </p:spPr>
        <p:txBody>
          <a:bodyPr wrap="square">
            <a:spAutoFit/>
          </a:bodyPr>
          <a:lstStyle/>
          <a:p>
            <a:r>
              <a:rPr lang="en-GB" sz="1400" dirty="0">
                <a:solidFill>
                  <a:srgbClr val="7B2D4E"/>
                </a:solidFill>
              </a:rPr>
              <a:t>Fairness isn't fixed where the model is built. It's determined upstream, in the data, and downstream, in whether a decision can be questioned</a:t>
            </a:r>
            <a:endParaRPr sz="1400" dirty="0">
              <a:solidFill>
                <a:srgbClr val="7B2D4E"/>
              </a:solidFill>
              <a:latin typeface="Calibri"/>
            </a:endParaRPr>
          </a:p>
        </p:txBody>
      </p:sp>
      <p:sp>
        <p:nvSpPr>
          <p:cNvPr id="5" name="TextBox 4">
            <a:extLst>
              <a:ext uri="{FF2B5EF4-FFF2-40B4-BE49-F238E27FC236}">
                <a16:creationId xmlns:a16="http://schemas.microsoft.com/office/drawing/2014/main" id="{483406BD-1F72-4D51-60E2-418D530DBF2C}"/>
              </a:ext>
            </a:extLst>
          </p:cNvPr>
          <p:cNvSpPr txBox="1"/>
          <p:nvPr/>
        </p:nvSpPr>
        <p:spPr>
          <a:xfrm>
            <a:off x="685800" y="2254403"/>
            <a:ext cx="9733336" cy="954107"/>
          </a:xfrm>
          <a:prstGeom prst="rect">
            <a:avLst/>
          </a:prstGeom>
          <a:noFill/>
        </p:spPr>
        <p:txBody>
          <a:bodyPr wrap="square" rtlCol="0">
            <a:spAutoFit/>
          </a:bodyPr>
          <a:lstStyle/>
          <a:p>
            <a:r>
              <a:rPr lang="en-GB" sz="2400" b="1" dirty="0">
                <a:solidFill>
                  <a:srgbClr val="C9748F"/>
                </a:solidFill>
                <a:latin typeface="+mj-lt"/>
              </a:rPr>
              <a:t>FINDING </a:t>
            </a:r>
          </a:p>
          <a:p>
            <a:r>
              <a:rPr lang="en-GB" sz="1600" dirty="0"/>
              <a:t>Mitigation improved the model’s behaviour, but it could not add missing patients to the data or clinician override to the pipeline.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DF8F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29984"/>
            <a:ext cx="12191695" cy="128016"/>
          </a:xfrm>
          <a:prstGeom prst="rect">
            <a:avLst/>
          </a:prstGeom>
          <a:solidFill>
            <a:srgbClr val="C97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651760"/>
            <a:ext cx="10058400" cy="1188720"/>
          </a:xfrm>
          <a:prstGeom prst="rect">
            <a:avLst/>
          </a:prstGeom>
          <a:noFill/>
        </p:spPr>
        <p:txBody>
          <a:bodyPr wrap="square" lIns="0" tIns="0" rIns="0" bIns="0" anchor="t">
            <a:spAutoFit/>
          </a:bodyPr>
          <a:lstStyle/>
          <a:p>
            <a:pPr algn="l">
              <a:lnSpc>
                <a:spcPct val="100000"/>
              </a:lnSpc>
            </a:pPr>
            <a:r>
              <a:rPr sz="4800" b="1" i="0">
                <a:solidFill>
                  <a:srgbClr val="1A1A1A"/>
                </a:solidFill>
                <a:latin typeface="Georgia"/>
              </a:rPr>
              <a:t>Thank You</a:t>
            </a:r>
          </a:p>
        </p:txBody>
      </p:sp>
      <p:sp>
        <p:nvSpPr>
          <p:cNvPr id="5" name="TextBox 4"/>
          <p:cNvSpPr txBox="1"/>
          <p:nvPr/>
        </p:nvSpPr>
        <p:spPr>
          <a:xfrm>
            <a:off x="822960" y="3611880"/>
            <a:ext cx="10058400" cy="640080"/>
          </a:xfrm>
          <a:prstGeom prst="rect">
            <a:avLst/>
          </a:prstGeom>
          <a:noFill/>
        </p:spPr>
        <p:txBody>
          <a:bodyPr wrap="square" lIns="0" tIns="0" rIns="0" bIns="0" anchor="t">
            <a:spAutoFit/>
          </a:bodyPr>
          <a:lstStyle/>
          <a:p>
            <a:pPr algn="l">
              <a:lnSpc>
                <a:spcPct val="100000"/>
              </a:lnSpc>
            </a:pPr>
            <a:r>
              <a:rPr sz="2200" b="0" i="1">
                <a:solidFill>
                  <a:srgbClr val="C9748F"/>
                </a:solidFill>
                <a:latin typeface="Calibri"/>
              </a:rPr>
              <a:t>Questions?</a:t>
            </a:r>
          </a:p>
        </p:txBody>
      </p:sp>
      <p:cxnSp>
        <p:nvCxnSpPr>
          <p:cNvPr id="6" name="Connector 5"/>
          <p:cNvCxnSpPr/>
          <p:nvPr/>
        </p:nvCxnSpPr>
        <p:spPr>
          <a:xfrm>
            <a:off x="822960" y="4663440"/>
            <a:ext cx="3840480" cy="0"/>
          </a:xfrm>
          <a:prstGeom prst="line">
            <a:avLst/>
          </a:prstGeom>
          <a:ln w="25400">
            <a:solidFill>
              <a:srgbClr val="F2C4C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892040"/>
            <a:ext cx="8229600" cy="365760"/>
          </a:xfrm>
          <a:prstGeom prst="rect">
            <a:avLst/>
          </a:prstGeom>
          <a:noFill/>
        </p:spPr>
        <p:txBody>
          <a:bodyPr wrap="square" lIns="0" tIns="0" rIns="0" bIns="0" anchor="t">
            <a:spAutoFit/>
          </a:bodyPr>
          <a:lstStyle/>
          <a:p>
            <a:pPr algn="l">
              <a:lnSpc>
                <a:spcPct val="100000"/>
              </a:lnSpc>
            </a:pPr>
            <a:r>
              <a:rPr sz="1300" b="0" i="0">
                <a:solidFill>
                  <a:srgbClr val="666666"/>
                </a:solidFill>
                <a:latin typeface="Calibri"/>
              </a:rPr>
              <a:t>Kaylee Scarce  ·  Newcastle University  ·  2026</a:t>
            </a:r>
          </a:p>
        </p:txBody>
      </p:sp>
      <p:sp>
        <p:nvSpPr>
          <p:cNvPr id="8" name="TextBox 7"/>
          <p:cNvSpPr txBox="1"/>
          <p:nvPr/>
        </p:nvSpPr>
        <p:spPr>
          <a:xfrm>
            <a:off x="822960" y="5193792"/>
            <a:ext cx="8229600" cy="365760"/>
          </a:xfrm>
          <a:prstGeom prst="rect">
            <a:avLst/>
          </a:prstGeom>
          <a:noFill/>
        </p:spPr>
        <p:txBody>
          <a:bodyPr wrap="square" lIns="0" tIns="0" rIns="0" bIns="0" anchor="t">
            <a:spAutoFit/>
          </a:bodyPr>
          <a:lstStyle/>
          <a:p>
            <a:pPr algn="l">
              <a:lnSpc>
                <a:spcPct val="100000"/>
              </a:lnSpc>
            </a:pPr>
            <a:r>
              <a:rPr sz="1300" b="0" i="1">
                <a:solidFill>
                  <a:srgbClr val="666666"/>
                </a:solidFill>
                <a:latin typeface="Calibri"/>
              </a:rPr>
              <a:t>Supervised by Dr Vlad González-Zelaya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775</TotalTime>
  <Words>2356</Words>
  <Application>Microsoft Office PowerPoint</Application>
  <PresentationFormat>Widescreen</PresentationFormat>
  <Paragraphs>349</Paragraphs>
  <Slides>20</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Aptos</vt:lpstr>
      <vt:lpstr>Arial</vt:lpstr>
      <vt:lpstr>Bookman Old Style</vt:lpstr>
      <vt:lpstr>Calibri</vt:lpstr>
      <vt:lpstr>Georgia</vt:lpstr>
      <vt:lpstr>Manrope</vt:lpstr>
      <vt:lpstr>Source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Kaylee Scarce (PGT)</cp:lastModifiedBy>
  <cp:revision>5</cp:revision>
  <dcterms:created xsi:type="dcterms:W3CDTF">2013-01-27T09:14:16Z</dcterms:created>
  <dcterms:modified xsi:type="dcterms:W3CDTF">2026-07-29T17:06:14Z</dcterms:modified>
  <cp:category/>
</cp:coreProperties>
</file>