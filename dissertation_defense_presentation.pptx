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75" r:id="rId6"/>
    <p:sldId id="278" r:id="rId7"/>
    <p:sldId id="260" r:id="rId8"/>
    <p:sldId id="276" r:id="rId9"/>
    <p:sldId id="261" r:id="rId10"/>
    <p:sldId id="262" r:id="rId11"/>
    <p:sldId id="263" r:id="rId12"/>
    <p:sldId id="265" r:id="rId13"/>
    <p:sldId id="266" r:id="rId14"/>
    <p:sldId id="267" r:id="rId15"/>
    <p:sldId id="268" r:id="rId16"/>
    <p:sldId id="280" r:id="rId17"/>
    <p:sldId id="270" r:id="rId18"/>
    <p:sldId id="271" r:id="rId19"/>
    <p:sldId id="272" r:id="rId20"/>
    <p:sldId id="273"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8F9"/>
    <a:srgbClr val="F2C4CE"/>
    <a:srgbClr val="F7E4EA"/>
    <a:srgbClr val="7B2D4E"/>
    <a:srgbClr val="C9748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5264" autoAdjust="0"/>
  </p:normalViewPr>
  <p:slideViewPr>
    <p:cSldViewPr snapToGrid="0" snapToObjects="1">
      <p:cViewPr varScale="1">
        <p:scale>
          <a:sx n="95" d="100"/>
          <a:sy n="95" d="100"/>
        </p:scale>
        <p:origin x="438"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6DECCC-CF0C-4AC6-A35A-0244A2062218}" type="datetimeFigureOut">
              <a:rPr lang="en-GB" smtClean="0"/>
              <a:t>29/07/2026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DC7DE9-ACFA-4D31-A3BC-33B1D466B041}" type="slidenum">
              <a:rPr lang="en-GB" smtClean="0"/>
              <a:t>‹#›</a:t>
            </a:fld>
            <a:endParaRPr lang="en-GB"/>
          </a:p>
        </p:txBody>
      </p:sp>
    </p:spTree>
    <p:extLst>
      <p:ext uri="{BB962C8B-B14F-4D97-AF65-F5344CB8AC3E}">
        <p14:creationId xmlns:p14="http://schemas.microsoft.com/office/powerpoint/2010/main" val="24283320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Here's a real example from my own model. Of the men who actually had heart disease, it correctly identified 93.5% of them. Of the women who actually had it — only 70%. Same model, same illness. A twenty-three point gap in who gets found. And here's the uncomfortable part. By the usual measure — a single overall score — this model scored 0.957. On paper, excellent. You'd be tempted to deploy it. The very number that makes it look ready is the number hiding the fact it's failing women. That gap — between </a:t>
            </a:r>
            <a:r>
              <a:rPr lang="en-GB" i="1" dirty="0"/>
              <a:t>looks accurate</a:t>
            </a:r>
            <a:r>
              <a:rPr lang="en-GB" dirty="0"/>
              <a:t> and </a:t>
            </a:r>
            <a:r>
              <a:rPr lang="en-GB" i="1" dirty="0"/>
              <a:t>is actually safe for everyone</a:t>
            </a:r>
            <a:r>
              <a:rPr lang="en-GB" dirty="0"/>
              <a:t> — is what this project is about.</a:t>
            </a:r>
          </a:p>
        </p:txBody>
      </p:sp>
      <p:sp>
        <p:nvSpPr>
          <p:cNvPr id="4" name="Slide Number Placeholder 3"/>
          <p:cNvSpPr>
            <a:spLocks noGrp="1"/>
          </p:cNvSpPr>
          <p:nvPr>
            <p:ph type="sldNum" sz="quarter" idx="5"/>
          </p:nvPr>
        </p:nvSpPr>
        <p:spPr/>
        <p:txBody>
          <a:bodyPr/>
          <a:lstStyle/>
          <a:p>
            <a:fld id="{50DC7DE9-ACFA-4D31-A3BC-33B1D466B041}" type="slidenum">
              <a:rPr lang="en-GB" smtClean="0"/>
              <a:t>3</a:t>
            </a:fld>
            <a:endParaRPr lang="en-GB"/>
          </a:p>
        </p:txBody>
      </p:sp>
    </p:spTree>
    <p:extLst>
      <p:ext uri="{BB962C8B-B14F-4D97-AF65-F5344CB8AC3E}">
        <p14:creationId xmlns:p14="http://schemas.microsoft.com/office/powerpoint/2010/main" val="34578168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is where I define what fairness actually means in this project. The foundation is Leventhal's 1980 procedural justice framework — six rules for what makes a </a:t>
            </a:r>
            <a:r>
              <a:rPr lang="en-GB" i="1" dirty="0"/>
              <a:t>decision process</a:t>
            </a:r>
            <a:r>
              <a:rPr lang="en-GB" dirty="0"/>
              <a:t> fair,</a:t>
            </a:r>
          </a:p>
          <a:p>
            <a:endParaRPr lang="en-GB" dirty="0"/>
          </a:p>
          <a:p>
            <a:r>
              <a:rPr lang="en-GB" dirty="0"/>
              <a:t>The important thing is that Leventhal wrote these for human decision-making people or managers, allocating resources between people. None of it was written with algorithms in mind. So the core of this work was translating each rule into something you can actually assess in a machine learning model.</a:t>
            </a:r>
          </a:p>
          <a:p>
            <a:r>
              <a:rPr lang="en-GB" dirty="0"/>
              <a:t>I'm not the first to adapt Leventhal for algorithms — </a:t>
            </a:r>
            <a:r>
              <a:rPr lang="en-GB" dirty="0" err="1"/>
              <a:t>Jabagi</a:t>
            </a:r>
            <a:r>
              <a:rPr lang="en-GB" dirty="0"/>
              <a:t> and colleagues did it in 2025 for algorithmic HR decisions, showing gig-workers' perceptions of whether hiring algorithms were procedurally fair.</a:t>
            </a:r>
          </a:p>
        </p:txBody>
      </p:sp>
      <p:sp>
        <p:nvSpPr>
          <p:cNvPr id="4" name="Slide Number Placeholder 3"/>
          <p:cNvSpPr>
            <a:spLocks noGrp="1"/>
          </p:cNvSpPr>
          <p:nvPr>
            <p:ph type="sldNum" sz="quarter" idx="5"/>
          </p:nvPr>
        </p:nvSpPr>
        <p:spPr/>
        <p:txBody>
          <a:bodyPr/>
          <a:lstStyle/>
          <a:p>
            <a:fld id="{50DC7DE9-ACFA-4D31-A3BC-33B1D466B041}" type="slidenum">
              <a:rPr lang="en-GB" smtClean="0"/>
              <a:t>5</a:t>
            </a:fld>
            <a:endParaRPr lang="en-GB"/>
          </a:p>
        </p:txBody>
      </p:sp>
    </p:spTree>
    <p:extLst>
      <p:ext uri="{BB962C8B-B14F-4D97-AF65-F5344CB8AC3E}">
        <p14:creationId xmlns:p14="http://schemas.microsoft.com/office/powerpoint/2010/main" val="5865137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Before showing any results, I want to be transparent about how each criterion passes or fails </a:t>
            </a:r>
          </a:p>
          <a:p>
            <a:pPr rtl="0"/>
            <a:r>
              <a:rPr lang="en-GB" b="1" dirty="0"/>
              <a:t>[The split — two borrowed, four mine]</a:t>
            </a:r>
            <a:endParaRPr lang="en-GB" dirty="0"/>
          </a:p>
          <a:p>
            <a:pPr rtl="0"/>
            <a:r>
              <a:rPr lang="en-GB" dirty="0"/>
              <a:t>Two of my six thresholds come from established sources. Accuracy uses 0.80, a common bar for a model that separates two groups well. Representativeness borrows the four-fifths rule from employment law. The other four, I set myself.</a:t>
            </a:r>
          </a:p>
          <a:p>
            <a:pPr rtl="0"/>
            <a:r>
              <a:rPr lang="en-GB" b="1" dirty="0"/>
              <a:t>[Own it — this is the key bit, say it confidently]</a:t>
            </a:r>
            <a:endParaRPr lang="en-GB" dirty="0"/>
          </a:p>
          <a:p>
            <a:pPr rtl="0"/>
            <a:r>
              <a:rPr lang="en-GB" dirty="0"/>
              <a:t>And I want to be honest about that. In fairness research there isn't one agreed threshold everyone uses. In fact, a lot of the literature says thresholds </a:t>
            </a:r>
            <a:r>
              <a:rPr lang="en-GB" i="1" dirty="0"/>
              <a:t>should</a:t>
            </a:r>
            <a:r>
              <a:rPr lang="en-GB" dirty="0"/>
              <a:t> depend on what the model is being used for and what the people affected actually care about. A fair bar for a film recommendation isn't the same as a fair bar for a heart-disease diagnosis. So rather than borrow a number and pretend it's a universal rule, I picked a clear, strict bar for each and explained my reasoning.</a:t>
            </a:r>
          </a:p>
          <a:p>
            <a:pPr rtl="0"/>
            <a:r>
              <a:rPr lang="en-GB" b="1" dirty="0"/>
              <a:t>[One quick example]</a:t>
            </a:r>
            <a:endParaRPr lang="en-GB" dirty="0"/>
          </a:p>
          <a:p>
            <a:pPr rtl="0"/>
            <a:r>
              <a:rPr lang="en-GB" dirty="0"/>
              <a:t>For example, bias suppression. I set the limit at within 0.10 on both fairness measures. There's no field-wide standard for this, so I chose a demanding one — because in healthcare, a gap between groups matters more than it would somewhere low-stakes.</a:t>
            </a:r>
          </a:p>
          <a:p>
            <a:pPr rtl="0"/>
            <a:r>
              <a:rPr lang="en-GB" b="1" dirty="0"/>
              <a:t>[Close — turn it into a strength]</a:t>
            </a:r>
            <a:endParaRPr lang="en-GB" dirty="0"/>
          </a:p>
          <a:p>
            <a:pPr rtl="0"/>
            <a:r>
              <a:rPr lang="en-GB" dirty="0"/>
              <a:t>The important thing is that every threshold is stated openly, so anyone can disagree with a specific bar and re-run the assessment against their own. The framework doesn't depend on my exact numbers being right — it depends on them being clear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GB" dirty="0"/>
              <a:t>A quick word on the model itself. The task is predicting whether a patient has heart disease, using the UCI Heart Disease dataset — 918 patient records.</a:t>
            </a:r>
          </a:p>
          <a:p>
            <a:pPr rtl="0"/>
            <a:r>
              <a:rPr lang="en-GB" dirty="0"/>
              <a:t>The model is a logistic regression classifier. I chose it deliberately: its coefficients are transparent, so you can see exactly how each measurement influences a prediction. For a project </a:t>
            </a:r>
            <a:r>
              <a:rPr lang="en-GB" i="1" dirty="0"/>
              <a:t>about</a:t>
            </a:r>
            <a:r>
              <a:rPr lang="en-GB" dirty="0"/>
              <a:t> fairness and accountability, an interpretable model matters more than squeezing out a bit more accuracy from something you can't inspect.</a:t>
            </a:r>
          </a:p>
          <a:p>
            <a:pPr rtl="0"/>
            <a:r>
              <a:rPr lang="en-GB" b="1" dirty="0"/>
              <a:t>[gesture along the pipeline]</a:t>
            </a:r>
            <a:endParaRPr lang="en-GB" dirty="0"/>
          </a:p>
          <a:p>
            <a:pPr rtl="0"/>
            <a:r>
              <a:rPr lang="en-GB" dirty="0"/>
              <a:t>The workflow is straightforward: the data is split into training and test sets, the model is assessed against all six criteria, two mitigations are applied to the problems that surfaced, and then everything is re-tested on all six so the before-and-after is like-for-like.</a:t>
            </a:r>
          </a:p>
          <a:p>
            <a:pPr rtl="0"/>
            <a:r>
              <a:rPr lang="en-GB" b="1" dirty="0"/>
              <a:t>[transition line into Slide B]</a:t>
            </a:r>
            <a:endParaRPr lang="en-GB" dirty="0"/>
          </a:p>
          <a:p>
            <a:pPr rtl="0"/>
            <a:r>
              <a:rPr lang="en-GB" dirty="0"/>
              <a:t>But the details of </a:t>
            </a:r>
            <a:r>
              <a:rPr lang="en-GB" i="1" dirty="0"/>
              <a:t>how</a:t>
            </a:r>
            <a:r>
              <a:rPr lang="en-GB" dirty="0"/>
              <a:t> the model was built matter as much as what it is — so let me highlight three decisions that protect the analysis.</a:t>
            </a:r>
          </a:p>
          <a:p>
            <a:endParaRPr lang="en-GB" dirty="0"/>
          </a:p>
        </p:txBody>
      </p:sp>
      <p:sp>
        <p:nvSpPr>
          <p:cNvPr id="4" name="Slide Number Placeholder 3"/>
          <p:cNvSpPr>
            <a:spLocks noGrp="1"/>
          </p:cNvSpPr>
          <p:nvPr>
            <p:ph type="sldNum" sz="quarter" idx="5"/>
          </p:nvPr>
        </p:nvSpPr>
        <p:spPr/>
        <p:txBody>
          <a:bodyPr/>
          <a:lstStyle/>
          <a:p>
            <a:fld id="{50DC7DE9-ACFA-4D31-A3BC-33B1D466B041}" type="slidenum">
              <a:rPr lang="en-GB" smtClean="0"/>
              <a:t>7</a:t>
            </a:fld>
            <a:endParaRPr lang="en-GB"/>
          </a:p>
        </p:txBody>
      </p:sp>
    </p:spTree>
    <p:extLst>
      <p:ext uri="{BB962C8B-B14F-4D97-AF65-F5344CB8AC3E}">
        <p14:creationId xmlns:p14="http://schemas.microsoft.com/office/powerpoint/2010/main" val="37720370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GB" dirty="0"/>
              <a:t>Three choices here are what make this a careful fairness analysis. Each one closes a gap that could otherwise undermine the results.</a:t>
            </a:r>
          </a:p>
          <a:p>
            <a:pPr rtl="0"/>
            <a:r>
              <a:rPr lang="en-GB" b="1" dirty="0"/>
              <a:t>[Point 1 — leakage]</a:t>
            </a:r>
            <a:endParaRPr lang="en-GB" dirty="0"/>
          </a:p>
          <a:p>
            <a:pPr rtl="0"/>
            <a:r>
              <a:rPr lang="en-GB" dirty="0"/>
              <a:t>First, no data leakage. Missing values were filled in and the data scaled using only the training set. Everything was wrapped in a single pipeline so that separation is guaranteed, not just intended.</a:t>
            </a:r>
          </a:p>
          <a:p>
            <a:pPr rtl="0"/>
            <a:r>
              <a:rPr lang="en-GB" b="1" dirty="0"/>
              <a:t>[optional extra-credit detail — only if confident on time]</a:t>
            </a:r>
            <a:endParaRPr lang="en-GB" dirty="0"/>
          </a:p>
          <a:p>
            <a:pPr rtl="0"/>
            <a:r>
              <a:rPr lang="en-GB" dirty="0"/>
              <a:t>One refinement: missing cholesterol and blood pressure were filled using the median </a:t>
            </a:r>
            <a:r>
              <a:rPr lang="en-GB" i="1" dirty="0"/>
              <a:t>for that patient's sex</a:t>
            </a:r>
            <a:r>
              <a:rPr lang="en-GB" dirty="0"/>
              <a:t>, not a global median — because those baselines genuinely differ between men and women, and a single median would distort both groups.</a:t>
            </a:r>
          </a:p>
          <a:p>
            <a:pPr rtl="0"/>
            <a:r>
              <a:rPr lang="en-GB" b="1" dirty="0"/>
              <a:t>[Point 2 — the split]</a:t>
            </a:r>
            <a:endParaRPr lang="en-GB" dirty="0"/>
          </a:p>
          <a:p>
            <a:pPr rtl="0"/>
            <a:r>
              <a:rPr lang="en-GB" dirty="0"/>
              <a:t>Second, the split protects the smallest group. Female patients are a minority in this data, so a random split could have left very few of them in the test set — making any fairness estimate for women pure luck. By balancing the split on both outcome and sex, I guaranteed the test set a representative share of female patients. It doesn't make the female sample large — I'll come back to that in the limitations — but it means the design didn't leave subgroup fairness to chance.</a:t>
            </a:r>
          </a:p>
          <a:p>
            <a:pPr rtl="0"/>
            <a:r>
              <a:rPr lang="en-GB" b="1" dirty="0"/>
              <a:t>[Point 3 — keeping sex and age]</a:t>
            </a:r>
            <a:endParaRPr lang="en-GB" dirty="0"/>
          </a:p>
          <a:p>
            <a:pPr rtl="0"/>
            <a:r>
              <a:rPr lang="en-GB" dirty="0"/>
              <a:t>Third, sex and age were kept as inputs on purpose. It's tempting to think removing them makes a model fairer — but it doesn't. The model would just relearn those patterns through correlated clinical measurements, only now invisibly. Keeping them in means the effect is out in the open where it can be measured and addressed, rather than hidden.</a:t>
            </a:r>
          </a:p>
          <a:p>
            <a:pPr rtl="0"/>
            <a:r>
              <a:rPr lang="en-GB" b="1" dirty="0"/>
              <a:t>[close]</a:t>
            </a:r>
            <a:endParaRPr lang="en-GB" dirty="0"/>
          </a:p>
          <a:p>
            <a:pPr rtl="0"/>
            <a:r>
              <a:rPr lang="en-GB" dirty="0"/>
              <a:t>Together, these three mean that when we look at the fairness results next, we can trust that the gaps we see are real properties of the model — not artefacts of how it was built.</a:t>
            </a:r>
          </a:p>
          <a:p>
            <a:endParaRPr lang="en-GB" dirty="0"/>
          </a:p>
        </p:txBody>
      </p:sp>
      <p:sp>
        <p:nvSpPr>
          <p:cNvPr id="4" name="Slide Number Placeholder 3"/>
          <p:cNvSpPr>
            <a:spLocks noGrp="1"/>
          </p:cNvSpPr>
          <p:nvPr>
            <p:ph type="sldNum" sz="quarter" idx="5"/>
          </p:nvPr>
        </p:nvSpPr>
        <p:spPr/>
        <p:txBody>
          <a:bodyPr/>
          <a:lstStyle/>
          <a:p>
            <a:fld id="{50DC7DE9-ACFA-4D31-A3BC-33B1D466B041}" type="slidenum">
              <a:rPr lang="en-GB" smtClean="0"/>
              <a:t>8</a:t>
            </a:fld>
            <a:endParaRPr lang="en-GB"/>
          </a:p>
        </p:txBody>
      </p:sp>
    </p:spTree>
    <p:extLst>
      <p:ext uri="{BB962C8B-B14F-4D97-AF65-F5344CB8AC3E}">
        <p14:creationId xmlns:p14="http://schemas.microsoft.com/office/powerpoint/2010/main" val="13194033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GB" b="1" dirty="0"/>
              <a:t>[Start with the impressive number — let them feel good about the model first]</a:t>
            </a:r>
            <a:endParaRPr lang="en-GB" dirty="0"/>
          </a:p>
          <a:p>
            <a:pPr rtl="0"/>
            <a:r>
              <a:rPr lang="en-GB" dirty="0"/>
              <a:t>So how did the model do? On accuracy, very well. Its AUC-ROC was 0.957, comfortably above the 0.80 bar — that means it's strong at telling apart patients who have heart disease from those who don't. On the face of it, this is a model you'd be happy with.</a:t>
            </a:r>
          </a:p>
          <a:p>
            <a:pPr rtl="0"/>
            <a:r>
              <a:rPr lang="en-GB" b="1" dirty="0"/>
              <a:t>[The pivot — this is the turn, slow down here]</a:t>
            </a:r>
            <a:endParaRPr lang="en-GB" dirty="0"/>
          </a:p>
          <a:p>
            <a:pPr rtl="0"/>
            <a:r>
              <a:rPr lang="en-GB" dirty="0"/>
              <a:t>But accuracy was only one of six criteria. And when we score the model against all six…</a:t>
            </a:r>
          </a:p>
          <a:p>
            <a:pPr rtl="0"/>
            <a:r>
              <a:rPr lang="en-GB" b="1" dirty="0"/>
              <a:t>[gesture to the dots]</a:t>
            </a:r>
            <a:endParaRPr lang="en-GB" dirty="0"/>
          </a:p>
          <a:p>
            <a:pPr rtl="0"/>
            <a:r>
              <a:rPr lang="en-GB" dirty="0"/>
              <a:t>…it passes three, and fails three. It's accurate, it's consistent, and it meets the baseline ethical checks. But it fails on bias suppression, on representativeness, and on correctability.</a:t>
            </a:r>
          </a:p>
          <a:p>
            <a:pPr rtl="0"/>
            <a:r>
              <a:rPr lang="en-GB" b="1" dirty="0"/>
              <a:t>[Land the message — say this clearly, it's the whole slide]</a:t>
            </a:r>
            <a:endParaRPr lang="en-GB" dirty="0"/>
          </a:p>
          <a:p>
            <a:pPr rtl="0"/>
            <a:r>
              <a:rPr lang="en-GB" dirty="0"/>
              <a:t>So this is the heart of the problem. If you judged this model the way models are usually judged — on accuracy alone — it looks ready to use. Look at the full picture, and half the fairness criteria are failing. That gap between how good it </a:t>
            </a:r>
            <a:r>
              <a:rPr lang="en-GB" i="1" dirty="0"/>
              <a:t>looks</a:t>
            </a:r>
            <a:r>
              <a:rPr lang="en-GB" dirty="0"/>
              <a:t> and how fair it actually </a:t>
            </a:r>
            <a:r>
              <a:rPr lang="en-GB" i="1" dirty="0"/>
              <a:t>is</a:t>
            </a:r>
            <a:r>
              <a:rPr lang="en-GB" dirty="0"/>
              <a:t> </a:t>
            </a:r>
            <a:r>
              <a:rPr lang="en-GB" dirty="0" err="1"/>
              <a:t>is</a:t>
            </a:r>
            <a:r>
              <a:rPr lang="en-GB" dirty="0"/>
              <a:t> exactly what the rest of this talk unpacks.</a:t>
            </a:r>
          </a:p>
          <a:p>
            <a:pPr rtl="0"/>
            <a:r>
              <a:rPr lang="en-GB" b="1" dirty="0"/>
              <a:t>[Optional bridge to next slide]</a:t>
            </a:r>
            <a:endParaRPr lang="en-GB" dirty="0"/>
          </a:p>
          <a:p>
            <a:pPr rtl="0"/>
            <a:r>
              <a:rPr lang="en-GB" dirty="0"/>
              <a:t>And the clearest example of that is who the model was quietly getting wrong.</a:t>
            </a:r>
          </a:p>
          <a:p>
            <a:endParaRPr lang="en-GB" dirty="0"/>
          </a:p>
          <a:p>
            <a:endParaRPr lang="en-GB" dirty="0"/>
          </a:p>
          <a:p>
            <a:endParaRPr lang="en-GB" dirty="0"/>
          </a:p>
          <a:p>
            <a:r>
              <a:rPr lang="en-GB" b="1" dirty="0"/>
              <a:t>Area Under the Receiver Operating Characteristic Curve</a:t>
            </a:r>
            <a:r>
              <a:rPr lang="en-GB" dirty="0"/>
              <a:t>,</a:t>
            </a:r>
          </a:p>
        </p:txBody>
      </p:sp>
      <p:sp>
        <p:nvSpPr>
          <p:cNvPr id="4" name="Slide Number Placeholder 3"/>
          <p:cNvSpPr>
            <a:spLocks noGrp="1"/>
          </p:cNvSpPr>
          <p:nvPr>
            <p:ph type="sldNum" sz="quarter" idx="5"/>
          </p:nvPr>
        </p:nvSpPr>
        <p:spPr/>
        <p:txBody>
          <a:bodyPr/>
          <a:lstStyle/>
          <a:p>
            <a:fld id="{50DC7DE9-ACFA-4D31-A3BC-33B1D466B041}" type="slidenum">
              <a:rPr lang="en-GB" smtClean="0"/>
              <a:t>9</a:t>
            </a:fld>
            <a:endParaRPr lang="en-GB"/>
          </a:p>
        </p:txBody>
      </p:sp>
    </p:spTree>
    <p:extLst>
      <p:ext uri="{BB962C8B-B14F-4D97-AF65-F5344CB8AC3E}">
        <p14:creationId xmlns:p14="http://schemas.microsoft.com/office/powerpoint/2010/main" val="15648954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GB" b="1" dirty="0"/>
              <a:t>Name the finding plainly — this is the payoff of the "3 of 6" reveal]</a:t>
            </a:r>
            <a:endParaRPr lang="en-GB" dirty="0"/>
          </a:p>
          <a:p>
            <a:pPr rtl="0"/>
            <a:r>
              <a:rPr lang="en-GB" dirty="0"/>
              <a:t>This is the clearest example of what "fails bias suppression" actually means for patients. These bars show recall by sex — that's the percentage of people who genuinely had heart disease that the model correctly caught.</a:t>
            </a:r>
          </a:p>
          <a:p>
            <a:pPr rtl="0"/>
            <a:r>
              <a:rPr lang="en-GB" b="1" dirty="0"/>
              <a:t>[Walk the two bars]</a:t>
            </a:r>
            <a:endParaRPr lang="en-GB" dirty="0"/>
          </a:p>
          <a:p>
            <a:pPr rtl="0"/>
            <a:r>
              <a:rPr lang="en-GB" dirty="0"/>
              <a:t>For men, it caught 93.5%. For women, only 70%. Same model, same disease — but if you were a woman with heart disease, the model was far more likely to miss you.</a:t>
            </a:r>
          </a:p>
          <a:p>
            <a:pPr rtl="0"/>
            <a:r>
              <a:rPr lang="en-GB" b="1" dirty="0"/>
              <a:t>[The confidence intervals — say this in plain words, it's your rigour move]</a:t>
            </a:r>
            <a:br>
              <a:rPr lang="en-GB" dirty="0"/>
            </a:br>
            <a:br>
              <a:rPr lang="en-GB" dirty="0"/>
            </a:br>
            <a:r>
              <a:rPr lang="en-GB" dirty="0"/>
              <a:t>Now, the bars are the best estimate, and the lines through them show how </a:t>
            </a:r>
            <a:r>
              <a:rPr lang="en-GB" i="1" dirty="0"/>
              <a:t>certain</a:t>
            </a:r>
            <a:r>
              <a:rPr lang="en-GB" dirty="0"/>
              <a:t> we can be. And here's the honest part: the female estimate is based on a small number of patients — only twenty women in the test set actually had the disease. So its range is wide: the true rate could be anywhere from about 48% to 85%. The male estimate, built on far more patients, is much tighter.</a:t>
            </a:r>
          </a:p>
          <a:p>
            <a:pPr rtl="0"/>
            <a:r>
              <a:rPr lang="en-GB" b="1" dirty="0"/>
              <a:t>[Turn the limitation into an argument — don't apologise, reframe]</a:t>
            </a:r>
            <a:endParaRPr lang="en-GB" dirty="0"/>
          </a:p>
          <a:p>
            <a:pPr rtl="0"/>
            <a:r>
              <a:rPr lang="en-GB" dirty="0"/>
              <a:t>I want to be upfront about that uncertainty rather than hide it. But notice </a:t>
            </a:r>
            <a:r>
              <a:rPr lang="en-GB" i="1" dirty="0"/>
              <a:t>why</a:t>
            </a:r>
            <a:r>
              <a:rPr lang="en-GB" dirty="0"/>
              <a:t> the female range is so wide — it's wide because there were so few women to measure from in the first place. And that's not just a limitation of my analysis. It's a clue to the underlying problem.</a:t>
            </a:r>
          </a:p>
          <a:p>
            <a:pPr rtl="0"/>
            <a:r>
              <a:rPr lang="en-GB" b="1" dirty="0"/>
              <a:t>[The formal proof — point to the metrics box]</a:t>
            </a:r>
            <a:endParaRPr lang="en-GB" dirty="0"/>
          </a:p>
          <a:p>
            <a:pPr rtl="0"/>
            <a:r>
              <a:rPr lang="en-GB" dirty="0"/>
              <a:t>And this isn't only visible in the bars. The formal fairness measures confirm it: the gaps on both equalised odds and demographic parity are well beyond the acceptable threshold. So both the intuitive picture and the formal metrics point the same way.</a:t>
            </a:r>
          </a:p>
          <a:p>
            <a:pPr rtl="0"/>
            <a:r>
              <a:rPr lang="en-GB" b="1" dirty="0"/>
              <a:t>[Hand off to representativeness]</a:t>
            </a:r>
            <a:endParaRPr lang="en-GB" dirty="0"/>
          </a:p>
          <a:p>
            <a:pPr rtl="0"/>
            <a:r>
              <a:rPr lang="en-GB" dirty="0"/>
              <a:t>So the natural question is </a:t>
            </a:r>
            <a:r>
              <a:rPr lang="en-GB" i="1" dirty="0"/>
              <a:t>why</a:t>
            </a:r>
            <a:r>
              <a:rPr lang="en-GB" dirty="0"/>
              <a:t> — why is the model so much worse at women? And the answer starts with who was in the data to begin with.</a:t>
            </a:r>
          </a:p>
          <a:p>
            <a:endParaRPr lang="en-GB" dirty="0"/>
          </a:p>
        </p:txBody>
      </p:sp>
      <p:sp>
        <p:nvSpPr>
          <p:cNvPr id="4" name="Slide Number Placeholder 3"/>
          <p:cNvSpPr>
            <a:spLocks noGrp="1"/>
          </p:cNvSpPr>
          <p:nvPr>
            <p:ph type="sldNum" sz="quarter" idx="5"/>
          </p:nvPr>
        </p:nvSpPr>
        <p:spPr/>
        <p:txBody>
          <a:bodyPr/>
          <a:lstStyle/>
          <a:p>
            <a:fld id="{50DC7DE9-ACFA-4D31-A3BC-33B1D466B041}" type="slidenum">
              <a:rPr lang="en-GB" smtClean="0"/>
              <a:t>10</a:t>
            </a:fld>
            <a:endParaRPr lang="en-GB"/>
          </a:p>
        </p:txBody>
      </p:sp>
    </p:spTree>
    <p:extLst>
      <p:ext uri="{BB962C8B-B14F-4D97-AF65-F5344CB8AC3E}">
        <p14:creationId xmlns:p14="http://schemas.microsoft.com/office/powerpoint/2010/main" val="19880901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GB" b="1" dirty="0"/>
              <a:t>Pick up directly from the recall slide's "why?"]</a:t>
            </a:r>
            <a:endParaRPr lang="en-GB" dirty="0"/>
          </a:p>
          <a:p>
            <a:pPr rtl="0"/>
            <a:r>
              <a:rPr lang="en-GB" dirty="0"/>
              <a:t>So why was the model so much worse at detecting heart disease in women? A big part of the answer is who was in the training data.</a:t>
            </a:r>
          </a:p>
          <a:p>
            <a:pPr rtl="0"/>
            <a:r>
              <a:rPr lang="en-GB" b="1" dirty="0"/>
              <a:t>[Representation — the two bars]</a:t>
            </a:r>
            <a:endParaRPr lang="en-GB" dirty="0"/>
          </a:p>
          <a:p>
            <a:pPr rtl="0"/>
            <a:r>
              <a:rPr lang="en-GB" dirty="0"/>
              <a:t>Women made up only 21% of this dataset. But in the real world, women account for around a third of heart disease cases. So women are under-represented relative to how common the disease actually is in women — giving a representation ratio of 0.64, well below the 0.80 bar.</a:t>
            </a:r>
          </a:p>
          <a:p>
            <a:pPr rtl="0"/>
            <a:r>
              <a:rPr lang="en-GB" b="1" dirty="0"/>
              <a:t>[Pre-empt the "but men get it more" objection]</a:t>
            </a:r>
            <a:endParaRPr lang="en-GB" dirty="0"/>
          </a:p>
          <a:p>
            <a:pPr rtl="0"/>
            <a:r>
              <a:rPr lang="en-GB" dirty="0"/>
              <a:t>Now, this dataset being majority-male isn't itself the problem — men do have higher rates of heart disease, so some imbalance is expected. The problem is that even accounting for that, women are still under-represented relative to their own real-world disease rate. The model simply had fewer women to learn from — which is a large part of why it performs worse for them.</a:t>
            </a:r>
          </a:p>
          <a:p>
            <a:pPr rtl="0"/>
            <a:r>
              <a:rPr lang="en-GB" b="1" dirty="0"/>
              <a:t>[The key limitation — say it plainly]</a:t>
            </a:r>
            <a:endParaRPr lang="en-GB" dirty="0"/>
          </a:p>
          <a:p>
            <a:pPr rtl="0"/>
            <a:r>
              <a:rPr lang="en-GB" dirty="0"/>
              <a:t>And this is the one gap that mitigation can't fix. You can adjust an algorithm, but you can't algorithmically manufacture patients who aren't in the data. Fixing representativeness means collecting better data — it's a problem that sits upstream of the model.</a:t>
            </a:r>
          </a:p>
          <a:p>
            <a:pPr rtl="0"/>
            <a:r>
              <a:rPr lang="en-GB" b="1" dirty="0"/>
              <a:t>[Transition to correctability — signal it's a different kind of gap]</a:t>
            </a:r>
            <a:endParaRPr lang="en-GB" dirty="0"/>
          </a:p>
          <a:p>
            <a:pPr rtl="0"/>
            <a:r>
              <a:rPr lang="en-GB" dirty="0"/>
              <a:t>The second gap is a completely different kind of problem — not about the data, but about oversight.</a:t>
            </a:r>
          </a:p>
          <a:p>
            <a:pPr rtl="0"/>
            <a:r>
              <a:rPr lang="en-GB" b="1" dirty="0"/>
              <a:t>[Correctability — the checklist]</a:t>
            </a:r>
            <a:endParaRPr lang="en-GB" dirty="0"/>
          </a:p>
          <a:p>
            <a:pPr rtl="0"/>
            <a:r>
              <a:rPr lang="en-GB" dirty="0"/>
              <a:t>I assessed correctability against a seven-point checklist drawn from AI governance guidance. The model met three of the seven. And there's a clear pattern in which three it passed. The ones it </a:t>
            </a:r>
            <a:r>
              <a:rPr lang="en-GB" i="1" dirty="0"/>
              <a:t>met</a:t>
            </a:r>
            <a:r>
              <a:rPr lang="en-GB" dirty="0"/>
              <a:t> are all about transparency — the predictions are interpretable, they come with confidence scores, and the uncertainty is communicated. But the ones it </a:t>
            </a:r>
            <a:r>
              <a:rPr lang="en-GB" i="1" dirty="0"/>
              <a:t>failed</a:t>
            </a:r>
            <a:r>
              <a:rPr lang="en-GB" dirty="0"/>
              <a:t> are all about control — there's no way for a clinician to override a prediction, no route for a patient to challenge one, no audit trail, and no version history.</a:t>
            </a:r>
          </a:p>
          <a:p>
            <a:pPr rtl="0"/>
            <a:r>
              <a:rPr lang="en-GB" b="1" dirty="0"/>
              <a:t>[The insight — land this clearly]</a:t>
            </a:r>
            <a:endParaRPr lang="en-GB" dirty="0"/>
          </a:p>
          <a:p>
            <a:pPr rtl="0"/>
            <a:r>
              <a:rPr lang="en-GB" dirty="0"/>
              <a:t>So the model could </a:t>
            </a:r>
            <a:r>
              <a:rPr lang="en-GB" i="1" dirty="0"/>
              <a:t>explain</a:t>
            </a:r>
            <a:r>
              <a:rPr lang="en-GB" dirty="0"/>
              <a:t> itself, but it couldn't be </a:t>
            </a:r>
            <a:r>
              <a:rPr lang="en-GB" i="1" dirty="0"/>
              <a:t>corrected</a:t>
            </a:r>
            <a:r>
              <a:rPr lang="en-GB" dirty="0"/>
              <a:t>. And correctability, in Leventhal's original framework, is exactly that — the ability to review and reverse a flawed decision. That's what's missing.</a:t>
            </a:r>
          </a:p>
          <a:p>
            <a:pPr rtl="0"/>
            <a:r>
              <a:rPr lang="en-GB" b="1" dirty="0"/>
              <a:t>[Optional bridge, if correctability connects to your survey later]</a:t>
            </a:r>
            <a:endParaRPr lang="en-GB" dirty="0"/>
          </a:p>
          <a:p>
            <a:pPr rtl="0"/>
            <a:r>
              <a:rPr lang="en-GB" dirty="0"/>
              <a:t>And as we'll see, that missing oversight turns out to be the very thing the public cares about most.</a:t>
            </a:r>
          </a:p>
          <a:p>
            <a:endParaRPr lang="en-GB" dirty="0"/>
          </a:p>
        </p:txBody>
      </p:sp>
      <p:sp>
        <p:nvSpPr>
          <p:cNvPr id="4" name="Slide Number Placeholder 3"/>
          <p:cNvSpPr>
            <a:spLocks noGrp="1"/>
          </p:cNvSpPr>
          <p:nvPr>
            <p:ph type="sldNum" sz="quarter" idx="5"/>
          </p:nvPr>
        </p:nvSpPr>
        <p:spPr/>
        <p:txBody>
          <a:bodyPr/>
          <a:lstStyle/>
          <a:p>
            <a:fld id="{50DC7DE9-ACFA-4D31-A3BC-33B1D466B041}" type="slidenum">
              <a:rPr lang="en-GB" smtClean="0"/>
              <a:t>11</a:t>
            </a:fld>
            <a:endParaRPr lang="en-GB"/>
          </a:p>
        </p:txBody>
      </p:sp>
    </p:spTree>
    <p:extLst>
      <p:ext uri="{BB962C8B-B14F-4D97-AF65-F5344CB8AC3E}">
        <p14:creationId xmlns:p14="http://schemas.microsoft.com/office/powerpoint/2010/main" val="12155555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GB" dirty="0" err="1"/>
              <a:t>aving</a:t>
            </a:r>
            <a:r>
              <a:rPr lang="en-GB" dirty="0"/>
              <a:t> identified the failures, I applied two targeted interventions. And I want to be clear about scope from the start: there are two interventions for three failures. Representativeness has no intervention here — deliberately — because it's a data-collection problem, not an algorithmic one. No reweighting or constraint creates female patients who aren't in the dataset. That gap sits upstream of the model, so I'll return to it as a limitation rather than something I claim to fix.</a:t>
            </a:r>
          </a:p>
          <a:p>
            <a:pPr rtl="0"/>
            <a:r>
              <a:rPr lang="en-GB" b="1" dirty="0"/>
              <a:t>[Intervention 1 — bias suppression, technical detail intact]</a:t>
            </a:r>
            <a:endParaRPr lang="en-GB" dirty="0"/>
          </a:p>
          <a:p>
            <a:pPr rtl="0"/>
            <a:r>
              <a:rPr lang="en-GB" dirty="0"/>
              <a:t>The first intervention targets bias suppression. I used </a:t>
            </a:r>
            <a:r>
              <a:rPr lang="en-GB" dirty="0" err="1"/>
              <a:t>Fairlearn's</a:t>
            </a:r>
            <a:r>
              <a:rPr lang="en-GB" dirty="0"/>
              <a:t> </a:t>
            </a:r>
            <a:r>
              <a:rPr lang="en-GB" dirty="0" err="1"/>
              <a:t>ExponentiatedGradient</a:t>
            </a:r>
            <a:r>
              <a:rPr lang="en-GB" dirty="0"/>
              <a:t>, constrained by equalised odds with a tolerance of 0.01. In effect it reweights the training distribution to bring the model's error rates — false positive and false negative rates — closer together across male and female patients. Critically, the base estimator inside the reduction is the </a:t>
            </a:r>
            <a:r>
              <a:rPr lang="en-GB" i="1" dirty="0"/>
              <a:t>identical</a:t>
            </a:r>
            <a:r>
              <a:rPr lang="en-GB" dirty="0"/>
              <a:t> pipeline I used for the baseline — same imputation, same scaling, same logistic regression — so the before-and-after comparison is like-for-like. Any change in fairness is attributable to the constraint, not to a different underlying model.</a:t>
            </a:r>
          </a:p>
          <a:p>
            <a:pPr rtl="0"/>
            <a:r>
              <a:rPr lang="en-GB" b="1" dirty="0"/>
              <a:t>[Intervention 2 — correctability, with the honest bound]</a:t>
            </a:r>
            <a:endParaRPr lang="en-GB" dirty="0"/>
          </a:p>
          <a:p>
            <a:pPr rtl="0"/>
            <a:r>
              <a:rPr lang="en-GB" dirty="0"/>
              <a:t>The second targets correctability. Predictions where the model's confidence falls in the uncertain band — between 30% and 70% — are automatically flagged for clinician review. This inserts human oversight precisely where the model is least reliable.</a:t>
            </a:r>
          </a:p>
          <a:p>
            <a:pPr rtl="0"/>
            <a:r>
              <a:rPr lang="en-GB" b="1" dirty="0"/>
              <a:t>[The precision point — say this deliberately, it's the rigour move]</a:t>
            </a:r>
            <a:endParaRPr lang="en-GB" dirty="0"/>
          </a:p>
          <a:p>
            <a:pPr rtl="0"/>
            <a:r>
              <a:rPr lang="en-GB" dirty="0"/>
              <a:t>But I want to be exact about what this does and doesn't achieve. Flagging surfaces uncertain cases for review — it's the </a:t>
            </a:r>
            <a:r>
              <a:rPr lang="en-GB" i="1" dirty="0"/>
              <a:t>review</a:t>
            </a:r>
            <a:r>
              <a:rPr lang="en-GB" dirty="0"/>
              <a:t> half of correctability. It is not yet a full override-and-audit mechanism: a clinician is prompted to look, but the infrastructure to formally overturn, log, and version a decision isn't there. That's why, as you'll see, correctability moves to partial, not pass. Flagging is a genuine first step, not a complete solution.</a:t>
            </a:r>
          </a:p>
          <a:p>
            <a:pPr rtl="0"/>
            <a:r>
              <a:rPr lang="en-GB" b="1" dirty="0"/>
              <a:t>[Bridge to results]</a:t>
            </a:r>
            <a:endParaRPr lang="en-GB" dirty="0"/>
          </a:p>
          <a:p>
            <a:pPr rtl="0"/>
            <a:r>
              <a:rPr lang="en-GB" dirty="0"/>
              <a:t>So: one intervention on bias suppression, one partial step on correctability, and representativeness left explicitly untouched. Let's see how far that actually moved the numbers.</a:t>
            </a:r>
          </a:p>
          <a:p>
            <a:endParaRPr lang="en-GB" dirty="0"/>
          </a:p>
        </p:txBody>
      </p:sp>
      <p:sp>
        <p:nvSpPr>
          <p:cNvPr id="4" name="Slide Number Placeholder 3"/>
          <p:cNvSpPr>
            <a:spLocks noGrp="1"/>
          </p:cNvSpPr>
          <p:nvPr>
            <p:ph type="sldNum" sz="quarter" idx="5"/>
          </p:nvPr>
        </p:nvSpPr>
        <p:spPr/>
        <p:txBody>
          <a:bodyPr/>
          <a:lstStyle/>
          <a:p>
            <a:fld id="{50DC7DE9-ACFA-4D31-A3BC-33B1D466B041}" type="slidenum">
              <a:rPr lang="en-GB" smtClean="0"/>
              <a:t>12</a:t>
            </a:fld>
            <a:endParaRPr lang="en-GB"/>
          </a:p>
        </p:txBody>
      </p:sp>
    </p:spTree>
    <p:extLst>
      <p:ext uri="{BB962C8B-B14F-4D97-AF65-F5344CB8AC3E}">
        <p14:creationId xmlns:p14="http://schemas.microsoft.com/office/powerpoint/2010/main" val="13622838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GB" b="1" dirty="0"/>
              <a:t>Open with the win — let it land before the caveat]</a:t>
            </a:r>
            <a:endParaRPr lang="en-GB" dirty="0"/>
          </a:p>
          <a:p>
            <a:pPr rtl="0"/>
            <a:r>
              <a:rPr lang="en-GB" dirty="0"/>
              <a:t>So did the mitigation work? Partly, and this is the honest picture. Female recall rose from 70% to 90%, while male recall held steady at 93.5%. So the intervention closed most of the visible detection gap between men and women, and it did so without sacrificing performance for men.</a:t>
            </a:r>
          </a:p>
          <a:p>
            <a:pPr rtl="0"/>
            <a:r>
              <a:rPr lang="en-GB" b="1" dirty="0"/>
              <a:t>[The cost — state it plainly, don't hide it]</a:t>
            </a:r>
            <a:endParaRPr lang="en-GB" dirty="0"/>
          </a:p>
          <a:p>
            <a:pPr rtl="0"/>
            <a:r>
              <a:rPr lang="en-GB" dirty="0"/>
              <a:t>That came at a small cost to overall accuracy: AUC-ROC moved from 0.957 to 0.895. A modest trade — a small drop in aggregate performance in exchange for a large gain in fairness for the under-served group. In a healthcare context, I'd argue that's a trade worth making.</a:t>
            </a:r>
          </a:p>
          <a:p>
            <a:pPr rtl="0"/>
            <a:r>
              <a:rPr lang="en-GB" b="1" dirty="0"/>
              <a:t>[The turn — this is what the title means]</a:t>
            </a:r>
            <a:endParaRPr lang="en-GB" dirty="0"/>
          </a:p>
          <a:p>
            <a:pPr rtl="0"/>
            <a:r>
              <a:rPr lang="en-GB" dirty="0"/>
              <a:t>But here's why the title says the gap narrowed rather than closed. What you're seeing in these bars is recall — the detection rate. And on recall, the groups are now close. The formal fairness measures tell a more cautious story: both of them improved, but neither cleared the 0.10 limit. So bias suppression moved up to partial, not a full pass.</a:t>
            </a:r>
          </a:p>
          <a:p>
            <a:pPr rtl="0"/>
            <a:r>
              <a:rPr lang="en-GB" b="1" dirty="0"/>
              <a:t>[Hand off — set up the next slide without spending its content]</a:t>
            </a:r>
            <a:endParaRPr lang="en-GB" dirty="0"/>
          </a:p>
          <a:p>
            <a:pPr rtl="0"/>
            <a:r>
              <a:rPr lang="en-GB" dirty="0"/>
              <a:t>And those two formal measures didn't move equally, which is revealing. So let me take the two of them separately on the next slide, because the difference between them says something important about what the mitigation actually did.</a:t>
            </a:r>
          </a:p>
          <a:p>
            <a:endParaRPr lang="en-GB" dirty="0"/>
          </a:p>
        </p:txBody>
      </p:sp>
      <p:sp>
        <p:nvSpPr>
          <p:cNvPr id="4" name="Slide Number Placeholder 3"/>
          <p:cNvSpPr>
            <a:spLocks noGrp="1"/>
          </p:cNvSpPr>
          <p:nvPr>
            <p:ph type="sldNum" sz="quarter" idx="5"/>
          </p:nvPr>
        </p:nvSpPr>
        <p:spPr/>
        <p:txBody>
          <a:bodyPr/>
          <a:lstStyle/>
          <a:p>
            <a:fld id="{50DC7DE9-ACFA-4D31-A3BC-33B1D466B041}" type="slidenum">
              <a:rPr lang="en-GB" smtClean="0"/>
              <a:t>13</a:t>
            </a:fld>
            <a:endParaRPr lang="en-GB"/>
          </a:p>
        </p:txBody>
      </p:sp>
    </p:spTree>
    <p:extLst>
      <p:ext uri="{BB962C8B-B14F-4D97-AF65-F5344CB8AC3E}">
        <p14:creationId xmlns:p14="http://schemas.microsoft.com/office/powerpoint/2010/main" val="2277984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GB" b="1" dirty="0"/>
              <a:t>Set up the slide — two criteria, shown side by side]</a:t>
            </a:r>
            <a:endParaRPr lang="en-GB" dirty="0"/>
          </a:p>
          <a:p>
            <a:pPr rtl="0"/>
            <a:r>
              <a:rPr lang="en-GB" dirty="0"/>
              <a:t>So after mitigation, two criteria improved from fail to partial. Let me take them one at a time.</a:t>
            </a:r>
          </a:p>
          <a:p>
            <a:pPr rtl="0"/>
            <a:r>
              <a:rPr lang="en-GB" b="1" dirty="0"/>
              <a:t>[Bias suppression card — and deliver the "why they differ" insight]</a:t>
            </a:r>
            <a:endParaRPr lang="en-GB" dirty="0"/>
          </a:p>
          <a:p>
            <a:pPr rtl="0"/>
            <a:r>
              <a:rPr lang="en-GB" dirty="0"/>
              <a:t>First, bias suppression, measured by two formal fairness metrics. Both improved, but they behaved very differently, and that difference is revealing. Equalised odds difference dropped sharply, from 0.235 to 0.120 — it more than halved. Demographic parity difference barely moved, from 0.457 to 0.380.</a:t>
            </a:r>
          </a:p>
          <a:p>
            <a:pPr rtl="0"/>
            <a:r>
              <a:rPr lang="en-GB" dirty="0"/>
              <a:t>The reason is what the mitigation actually optimised. I constrained the model on equalised odds specifically, so that's the metric that responded strongly. Demographic parity wasn't the optimisation target, so it improved only slightly as a side effect. In other words, the mitigation did exactly what it was told to do — it moved the metric it was constrained on. But even the one it targeted directly still didn't clear the 0.10 line. So bias suppression reaches partial, not pass.</a:t>
            </a:r>
          </a:p>
          <a:p>
            <a:pPr rtl="0"/>
            <a:r>
              <a:rPr lang="en-GB" b="1" dirty="0"/>
              <a:t>[Correctability card — explain the denominator growth]</a:t>
            </a:r>
            <a:endParaRPr lang="en-GB" dirty="0"/>
          </a:p>
          <a:p>
            <a:pPr rtl="0"/>
            <a:r>
              <a:rPr lang="en-GB" dirty="0"/>
              <a:t>Second, correctability. This one needs a word of explanation, because the numbers look odd at first. At baseline it met three of seven checklist items. After mitigation it meets four of eight. The denominator grew because the mitigation itself </a:t>
            </a:r>
            <a:r>
              <a:rPr lang="en-GB" i="1" dirty="0"/>
              <a:t>added</a:t>
            </a:r>
            <a:r>
              <a:rPr lang="en-GB" dirty="0"/>
              <a:t> a new item to the checklist — the confidence-flagging step is a new oversight mechanism that didn't exist before, so it becomes a new thing to assess. So the model didn't just tick one more box on a fixed list; it earned a new safeguard while the bar it's measured against got longer. It improved, but it's still below the 80% mark, so correctability is also partial.</a:t>
            </a:r>
          </a:p>
          <a:p>
            <a:pPr rtl="0"/>
            <a:r>
              <a:rPr lang="en-GB" b="1" dirty="0"/>
              <a:t>[The honest caveat — representativeness unchanged]</a:t>
            </a:r>
            <a:endParaRPr lang="en-GB" dirty="0"/>
          </a:p>
          <a:p>
            <a:pPr rtl="0"/>
            <a:r>
              <a:rPr lang="en-GB" dirty="0"/>
              <a:t>And representativeness didn't move at all. It stayed at 0.64, exactly where it started, because as I said earlier, mitigation cannot manufacture data. Fixing that requires collecting more female patients, not adjusting the model.</a:t>
            </a:r>
          </a:p>
          <a:p>
            <a:pPr rtl="0"/>
            <a:r>
              <a:rPr lang="en-GB" b="1" dirty="0"/>
              <a:t>[Close on the full scorecard]</a:t>
            </a:r>
            <a:endParaRPr lang="en-GB" dirty="0"/>
          </a:p>
          <a:p>
            <a:pPr rtl="0"/>
            <a:r>
              <a:rPr lang="en-GB" dirty="0"/>
              <a:t>So the picture after mitigation is: three criteria pass, two are partial, and one still fails. The model is meaningfully fairer than it was, but it is not fully procedurally fair. Improvement, not resolution.</a:t>
            </a:r>
          </a:p>
          <a:p>
            <a:pPr rtl="0"/>
            <a:r>
              <a:rPr lang="en-GB" b="1" dirty="0"/>
              <a:t>[Optional bridge, depending on what's next]</a:t>
            </a:r>
            <a:endParaRPr lang="en-GB" dirty="0"/>
          </a:p>
          <a:p>
            <a:pPr rtl="0"/>
            <a:r>
              <a:rPr lang="en-GB" dirty="0"/>
              <a:t>And that one remaining failure, representativeness, along with the oversight gap, turns out to matter a great deal when we look at what the public actually expects.</a:t>
            </a:r>
          </a:p>
          <a:p>
            <a:endParaRPr lang="en-GB" dirty="0"/>
          </a:p>
        </p:txBody>
      </p:sp>
      <p:sp>
        <p:nvSpPr>
          <p:cNvPr id="4" name="Slide Number Placeholder 3"/>
          <p:cNvSpPr>
            <a:spLocks noGrp="1"/>
          </p:cNvSpPr>
          <p:nvPr>
            <p:ph type="sldNum" sz="quarter" idx="5"/>
          </p:nvPr>
        </p:nvSpPr>
        <p:spPr/>
        <p:txBody>
          <a:bodyPr/>
          <a:lstStyle/>
          <a:p>
            <a:fld id="{50DC7DE9-ACFA-4D31-A3BC-33B1D466B041}" type="slidenum">
              <a:rPr lang="en-GB" smtClean="0"/>
              <a:t>14</a:t>
            </a:fld>
            <a:endParaRPr lang="en-GB"/>
          </a:p>
        </p:txBody>
      </p:sp>
    </p:spTree>
    <p:extLst>
      <p:ext uri="{BB962C8B-B14F-4D97-AF65-F5344CB8AC3E}">
        <p14:creationId xmlns:p14="http://schemas.microsoft.com/office/powerpoint/2010/main" val="34059986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GB" dirty="0"/>
              <a:t>I ran an online survey of 325 members of the public. Distribution was through snowball sampling — I posted it on social media asking people to share it on, and I placed physical QR codes around the School of Computing building and student accommodation here at Newcastle. Responses came in through Google Forms; participation was voluntary and anonymous, no identifying information was collected, and the survey had ethics-board approval before it went out. Every question was mapped back to one of Leventhal's six procedural fairness criteria, so the survey measures the same framework as the pipeline, just from the public's side rather than the model's.</a:t>
            </a:r>
          </a:p>
          <a:p>
            <a:pPr rtl="0"/>
            <a:r>
              <a:rPr lang="en-GB" dirty="0"/>
              <a:t>The headline is on the slide: human oversight and transparency dominate. Ninety-six percent want to be told when AI is used in their care; ninety-three percent want the right to challenge an AI decision; ninety-two percent want a human doctor involved regardless of how accurate the system is. And you'll notice the tags underneath — two of those three map to correctability, and one to ethicality. That's not incidental. It's the thread I pick up on the next slide.</a:t>
            </a:r>
          </a:p>
          <a:p>
            <a:pPr rtl="0"/>
            <a:r>
              <a:rPr lang="en-GB" dirty="0"/>
              <a:t>The meaning of this slide is that fairness, to the public, is not mainly about accuracy. It's about having a say — being informed, and being able to push back. That's a procedural expectation, not a performance one, which is exactly what this project argues fairness in healthcare AI has to include.</a:t>
            </a:r>
          </a:p>
          <a:p>
            <a:pPr rtl="0"/>
            <a:r>
              <a:rPr lang="en-GB" dirty="0"/>
              <a:t>I'll show the full survey results — all six criteria, including data-consent and the accuracy-versus-equal-performance trade-off — live in the dashboard demo shortly. And I'll be honest about the sample then too: it skewed female and non-technical, which I return to in the limitations. But the core signal, the demand for oversight, is strong and consistent across the whole sample.</a:t>
            </a:r>
          </a:p>
          <a:p>
            <a:endParaRPr lang="en-GB" dirty="0"/>
          </a:p>
        </p:txBody>
      </p:sp>
      <p:sp>
        <p:nvSpPr>
          <p:cNvPr id="4" name="Slide Number Placeholder 3"/>
          <p:cNvSpPr>
            <a:spLocks noGrp="1"/>
          </p:cNvSpPr>
          <p:nvPr>
            <p:ph type="sldNum" sz="quarter" idx="5"/>
          </p:nvPr>
        </p:nvSpPr>
        <p:spPr/>
        <p:txBody>
          <a:bodyPr/>
          <a:lstStyle/>
          <a:p>
            <a:fld id="{50DC7DE9-ACFA-4D31-A3BC-33B1D466B041}" type="slidenum">
              <a:rPr lang="en-GB" smtClean="0"/>
              <a:t>15</a:t>
            </a:fld>
            <a:endParaRPr lang="en-GB"/>
          </a:p>
        </p:txBody>
      </p:sp>
    </p:spTree>
    <p:extLst>
      <p:ext uri="{BB962C8B-B14F-4D97-AF65-F5344CB8AC3E}">
        <p14:creationId xmlns:p14="http://schemas.microsoft.com/office/powerpoint/2010/main" val="15633083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GB" dirty="0"/>
              <a:t>[Bridge from the survey slide]</a:t>
            </a:r>
          </a:p>
          <a:p>
            <a:pPr rtl="0"/>
            <a:r>
              <a:rPr lang="en-GB" dirty="0"/>
              <a:t>So I now have two separate bodies of evidence: a technical assessment of the pipeline, and a survey of what the public expects. This slide is where they meet — and they meet more precisely than I expected when I set out.</a:t>
            </a:r>
          </a:p>
          <a:p>
            <a:pPr rtl="0"/>
            <a:r>
              <a:rPr lang="en-GB" dirty="0"/>
              <a:t>[Walk the table — take one row at a time, don't rush it]</a:t>
            </a:r>
          </a:p>
          <a:p>
            <a:pPr rtl="0"/>
            <a:r>
              <a:rPr lang="en-GB" dirty="0"/>
              <a:t>The correctability assessment is a checklist of eight items. After mitigation the pipeline met four of them. Two of the four it did not meet are these.</a:t>
            </a:r>
          </a:p>
          <a:p>
            <a:pPr rtl="0"/>
            <a:r>
              <a:rPr lang="en-GB" dirty="0"/>
              <a:t>The first is a patient challenge mechanism — a route by which someone can contest a decision made about them. The pipeline has no such mechanism. In the survey, ninety-three percent of respondents said patients should have the right to challenge an AI decision about their health.</a:t>
            </a:r>
          </a:p>
          <a:p>
            <a:pPr rtl="0"/>
            <a:r>
              <a:rPr lang="en-GB" dirty="0"/>
              <a:t>The second is a clinician override mechanism — a way for a doctor to overrule the model. Again, absent. And ninety-two percent said a human doctor should be involved regardless of how accurate the system is.</a:t>
            </a:r>
          </a:p>
          <a:p>
            <a:pPr rtl="0"/>
            <a:r>
              <a:rPr lang="en-GB" dirty="0"/>
              <a:t>[The point — say this slowly, it's the thesis]</a:t>
            </a:r>
          </a:p>
          <a:p>
            <a:pPr rtl="0"/>
            <a:r>
              <a:rPr lang="en-GB" dirty="0"/>
              <a:t>So this isn't a loose thematic resemblance. The two things people most consistently asked for are, item for item, two things the checklist records as absent. The gap the public cares about is the gap the pipeline actually has.</a:t>
            </a:r>
          </a:p>
          <a:p>
            <a:pPr rtl="0"/>
            <a:r>
              <a:rPr lang="en-GB" dirty="0"/>
              <a:t>[The epistemic caveat — say it before anyone asks]</a:t>
            </a:r>
          </a:p>
          <a:p>
            <a:pPr rtl="0"/>
            <a:r>
              <a:rPr lang="en-GB" dirty="0"/>
              <a:t>I want to be careful about what this does and doesn't show. These are two independent sources, and one does not validate the other. A survey cannot tell me whether my model is fair, and my model cannot tell me what the public is entitled to expect. What I can say is that two different kinds of evidence, gathered in completely different ways, converge on the same missing capability. That convergence is what makes correctability the priority I take forward into the recommendations.</a:t>
            </a:r>
          </a:p>
          <a:p>
            <a:pPr rtl="0"/>
            <a:r>
              <a:rPr lang="en-GB" dirty="0"/>
              <a:t>[The honest limit]</a:t>
            </a:r>
          </a:p>
          <a:p>
            <a:pPr rtl="0"/>
            <a:r>
              <a:rPr lang="en-GB" dirty="0"/>
              <a:t>And correctability is a sociotechnical criterion, not a technical one. That matters. It isn't something I can fix by changing the model — it requires institutional design: override routes, challenge processes, audit trails, version control. That's beyond what this project could implement, which is exactly why it appears as a recommendation rather than a result.</a:t>
            </a:r>
          </a:p>
          <a:p>
            <a:pPr rtl="0"/>
            <a:r>
              <a:rPr lang="en-GB" dirty="0"/>
              <a:t>[Bridge to limitations]</a:t>
            </a:r>
          </a:p>
          <a:p>
            <a:pPr rtl="0"/>
            <a:r>
              <a:rPr lang="en-GB" dirty="0"/>
              <a:t>Before I get to those recommendations, though, I want to be straight about what this study doesn't settle.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00005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sv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8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C97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29984"/>
            <a:ext cx="12191695" cy="128016"/>
          </a:xfrm>
          <a:prstGeom prst="rect">
            <a:avLst/>
          </a:prstGeom>
          <a:solidFill>
            <a:srgbClr val="C97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874519"/>
            <a:ext cx="9144000" cy="365760"/>
          </a:xfrm>
          <a:prstGeom prst="rect">
            <a:avLst/>
          </a:prstGeom>
          <a:noFill/>
        </p:spPr>
        <p:txBody>
          <a:bodyPr wrap="square" lIns="0" tIns="0" rIns="0" bIns="0" anchor="t">
            <a:spAutoFit/>
          </a:bodyPr>
          <a:lstStyle/>
          <a:p>
            <a:pPr algn="l">
              <a:lnSpc>
                <a:spcPct val="100000"/>
              </a:lnSpc>
            </a:pPr>
            <a:r>
              <a:rPr sz="1400" b="1" i="0">
                <a:solidFill>
                  <a:srgbClr val="C9748F"/>
                </a:solidFill>
                <a:latin typeface="Calibri"/>
              </a:rPr>
              <a:t>MSC DISSERTATION DEFENSE</a:t>
            </a:r>
          </a:p>
        </p:txBody>
      </p:sp>
      <p:sp>
        <p:nvSpPr>
          <p:cNvPr id="5" name="TextBox 4"/>
          <p:cNvSpPr txBox="1"/>
          <p:nvPr/>
        </p:nvSpPr>
        <p:spPr>
          <a:xfrm>
            <a:off x="777240" y="2286000"/>
            <a:ext cx="10607040" cy="1828800"/>
          </a:xfrm>
          <a:prstGeom prst="rect">
            <a:avLst/>
          </a:prstGeom>
          <a:noFill/>
        </p:spPr>
        <p:txBody>
          <a:bodyPr wrap="square" lIns="0" tIns="0" rIns="0" bIns="0" anchor="t">
            <a:spAutoFit/>
          </a:bodyPr>
          <a:lstStyle/>
          <a:p>
            <a:pPr algn="l">
              <a:lnSpc>
                <a:spcPct val="105000"/>
              </a:lnSpc>
            </a:pPr>
            <a:r>
              <a:rPr sz="4400" b="1" i="0">
                <a:solidFill>
                  <a:srgbClr val="1A1A1A"/>
                </a:solidFill>
                <a:latin typeface="Georgia"/>
              </a:rPr>
              <a:t>Procedural Fairness in</a:t>
            </a:r>
          </a:p>
          <a:p>
            <a:pPr algn="l">
              <a:lnSpc>
                <a:spcPct val="105000"/>
              </a:lnSpc>
            </a:pPr>
            <a:r>
              <a:rPr sz="4400" b="1" i="0">
                <a:solidFill>
                  <a:srgbClr val="1A1A1A"/>
                </a:solidFill>
                <a:latin typeface="Georgia"/>
              </a:rPr>
              <a:t>Healthcare AI</a:t>
            </a:r>
          </a:p>
        </p:txBody>
      </p:sp>
      <p:sp>
        <p:nvSpPr>
          <p:cNvPr id="6" name="TextBox 5"/>
          <p:cNvSpPr txBox="1"/>
          <p:nvPr/>
        </p:nvSpPr>
        <p:spPr>
          <a:xfrm>
            <a:off x="822960" y="3977639"/>
            <a:ext cx="10058400" cy="640080"/>
          </a:xfrm>
          <a:prstGeom prst="rect">
            <a:avLst/>
          </a:prstGeom>
          <a:noFill/>
        </p:spPr>
        <p:txBody>
          <a:bodyPr wrap="square" lIns="0" tIns="0" rIns="0" bIns="0" anchor="t">
            <a:spAutoFit/>
          </a:bodyPr>
          <a:lstStyle/>
          <a:p>
            <a:pPr algn="l">
              <a:lnSpc>
                <a:spcPct val="100000"/>
              </a:lnSpc>
            </a:pPr>
            <a:r>
              <a:rPr sz="1900" b="0" i="1">
                <a:solidFill>
                  <a:srgbClr val="666666"/>
                </a:solidFill>
                <a:latin typeface="Calibri"/>
              </a:rPr>
              <a:t>Evaluating and Mitigating Bias in a Heart Disease Prediction Model</a:t>
            </a:r>
          </a:p>
        </p:txBody>
      </p:sp>
      <p:cxnSp>
        <p:nvCxnSpPr>
          <p:cNvPr id="7" name="Connector 6"/>
          <p:cNvCxnSpPr/>
          <p:nvPr/>
        </p:nvCxnSpPr>
        <p:spPr>
          <a:xfrm>
            <a:off x="822960" y="4892040"/>
            <a:ext cx="3840480" cy="0"/>
          </a:xfrm>
          <a:prstGeom prst="line">
            <a:avLst/>
          </a:prstGeom>
          <a:ln w="25400">
            <a:solidFill>
              <a:srgbClr val="F2C4C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822960" y="5074920"/>
            <a:ext cx="7315200" cy="365760"/>
          </a:xfrm>
          <a:prstGeom prst="rect">
            <a:avLst/>
          </a:prstGeom>
          <a:noFill/>
        </p:spPr>
        <p:txBody>
          <a:bodyPr wrap="square" lIns="0" tIns="0" rIns="0" bIns="0" anchor="t">
            <a:spAutoFit/>
          </a:bodyPr>
          <a:lstStyle/>
          <a:p>
            <a:pPr algn="l">
              <a:lnSpc>
                <a:spcPct val="100000"/>
              </a:lnSpc>
            </a:pPr>
            <a:r>
              <a:rPr sz="1700" b="1" i="0">
                <a:solidFill>
                  <a:srgbClr val="1A1A1A"/>
                </a:solidFill>
                <a:latin typeface="Calibri"/>
              </a:rPr>
              <a:t>Kaylee Scarce</a:t>
            </a:r>
          </a:p>
        </p:txBody>
      </p:sp>
      <p:sp>
        <p:nvSpPr>
          <p:cNvPr id="9" name="TextBox 8"/>
          <p:cNvSpPr txBox="1"/>
          <p:nvPr/>
        </p:nvSpPr>
        <p:spPr>
          <a:xfrm>
            <a:off x="822960" y="5486400"/>
            <a:ext cx="7315200" cy="320040"/>
          </a:xfrm>
          <a:prstGeom prst="rect">
            <a:avLst/>
          </a:prstGeom>
          <a:noFill/>
        </p:spPr>
        <p:txBody>
          <a:bodyPr wrap="square" lIns="0" tIns="0" rIns="0" bIns="0" anchor="t">
            <a:spAutoFit/>
          </a:bodyPr>
          <a:lstStyle/>
          <a:p>
            <a:pPr algn="l">
              <a:lnSpc>
                <a:spcPct val="100000"/>
              </a:lnSpc>
            </a:pPr>
            <a:r>
              <a:rPr sz="1350" b="0" i="0">
                <a:solidFill>
                  <a:srgbClr val="666666"/>
                </a:solidFill>
                <a:latin typeface="Calibri"/>
              </a:rPr>
              <a:t>Newcastle University · 2026</a:t>
            </a:r>
          </a:p>
        </p:txBody>
      </p:sp>
      <p:sp>
        <p:nvSpPr>
          <p:cNvPr id="10" name="TextBox 9"/>
          <p:cNvSpPr txBox="1"/>
          <p:nvPr/>
        </p:nvSpPr>
        <p:spPr>
          <a:xfrm>
            <a:off x="822960" y="5779008"/>
            <a:ext cx="7315200" cy="320040"/>
          </a:xfrm>
          <a:prstGeom prst="rect">
            <a:avLst/>
          </a:prstGeom>
          <a:noFill/>
        </p:spPr>
        <p:txBody>
          <a:bodyPr wrap="square" lIns="0" tIns="0" rIns="0" bIns="0" anchor="t">
            <a:spAutoFit/>
          </a:bodyPr>
          <a:lstStyle/>
          <a:p>
            <a:pPr algn="l">
              <a:lnSpc>
                <a:spcPct val="100000"/>
              </a:lnSpc>
            </a:pPr>
            <a:r>
              <a:rPr sz="1350" b="0" i="1">
                <a:solidFill>
                  <a:srgbClr val="666666"/>
                </a:solidFill>
                <a:latin typeface="Calibri"/>
              </a:rPr>
              <a:t>Supervised by Dr Vlad González-Zelaya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8F9"/>
        </a:solidFill>
        <a:effectLst/>
      </p:bgPr>
    </p:bg>
    <p:spTree>
      <p:nvGrpSpPr>
        <p:cNvPr id="1" name=""/>
        <p:cNvGrpSpPr/>
        <p:nvPr/>
      </p:nvGrpSpPr>
      <p:grpSpPr>
        <a:xfrm>
          <a:off x="0" y="0"/>
          <a:ext cx="0" cy="0"/>
          <a:chOff x="0" y="0"/>
          <a:chExt cx="0" cy="0"/>
        </a:xfrm>
      </p:grpSpPr>
      <p:sp>
        <p:nvSpPr>
          <p:cNvPr id="2" name="TextBox 1"/>
          <p:cNvSpPr txBox="1"/>
          <p:nvPr/>
        </p:nvSpPr>
        <p:spPr>
          <a:xfrm>
            <a:off x="685800" y="384048"/>
            <a:ext cx="9144000" cy="320040"/>
          </a:xfrm>
          <a:prstGeom prst="rect">
            <a:avLst/>
          </a:prstGeom>
          <a:noFill/>
        </p:spPr>
        <p:txBody>
          <a:bodyPr wrap="square" lIns="0" tIns="0" rIns="0" bIns="0" anchor="t">
            <a:spAutoFit/>
          </a:bodyPr>
          <a:lstStyle/>
          <a:p>
            <a:pPr algn="l">
              <a:lnSpc>
                <a:spcPct val="100000"/>
              </a:lnSpc>
            </a:pPr>
            <a:r>
              <a:rPr sz="1300" b="1" i="0">
                <a:solidFill>
                  <a:srgbClr val="C9748F"/>
                </a:solidFill>
                <a:latin typeface="Calibri"/>
              </a:rPr>
              <a:t>OVERVIEW</a:t>
            </a:r>
          </a:p>
        </p:txBody>
      </p:sp>
      <p:sp>
        <p:nvSpPr>
          <p:cNvPr id="3" name="TextBox 2"/>
          <p:cNvSpPr txBox="1"/>
          <p:nvPr/>
        </p:nvSpPr>
        <p:spPr>
          <a:xfrm>
            <a:off x="685800" y="658368"/>
            <a:ext cx="10789920" cy="914400"/>
          </a:xfrm>
          <a:prstGeom prst="rect">
            <a:avLst/>
          </a:prstGeom>
          <a:noFill/>
        </p:spPr>
        <p:txBody>
          <a:bodyPr wrap="square" lIns="0" tIns="0" rIns="0" bIns="0" anchor="t">
            <a:spAutoFit/>
          </a:bodyPr>
          <a:lstStyle/>
          <a:p>
            <a:pPr algn="l">
              <a:lnSpc>
                <a:spcPct val="102000"/>
              </a:lnSpc>
            </a:pPr>
            <a:r>
              <a:rPr sz="3000" b="1" i="0">
                <a:solidFill>
                  <a:srgbClr val="1A1A1A"/>
                </a:solidFill>
                <a:latin typeface="Georgia"/>
              </a:rPr>
              <a:t>What We'll Cover</a:t>
            </a:r>
          </a:p>
        </p:txBody>
      </p:sp>
      <p:sp>
        <p:nvSpPr>
          <p:cNvPr id="4" name="Rounded Rectangle 3"/>
          <p:cNvSpPr/>
          <p:nvPr/>
        </p:nvSpPr>
        <p:spPr>
          <a:xfrm>
            <a:off x="685800" y="1874519"/>
            <a:ext cx="3310128" cy="19659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 y="2130552"/>
            <a:ext cx="1371600" cy="548640"/>
          </a:xfrm>
          <a:prstGeom prst="rect">
            <a:avLst/>
          </a:prstGeom>
          <a:noFill/>
        </p:spPr>
        <p:txBody>
          <a:bodyPr wrap="square" lIns="0" tIns="0" rIns="0" bIns="0" anchor="t">
            <a:spAutoFit/>
          </a:bodyPr>
          <a:lstStyle/>
          <a:p>
            <a:pPr algn="l">
              <a:lnSpc>
                <a:spcPct val="100000"/>
              </a:lnSpc>
            </a:pPr>
            <a:r>
              <a:rPr sz="2600" b="1" i="0" dirty="0">
                <a:solidFill>
                  <a:srgbClr val="F2C4CE"/>
                </a:solidFill>
                <a:latin typeface="Georgia"/>
              </a:rPr>
              <a:t>01</a:t>
            </a:r>
          </a:p>
        </p:txBody>
      </p:sp>
      <p:sp>
        <p:nvSpPr>
          <p:cNvPr id="6" name="TextBox 5"/>
          <p:cNvSpPr txBox="1"/>
          <p:nvPr/>
        </p:nvSpPr>
        <p:spPr>
          <a:xfrm>
            <a:off x="960120" y="2834639"/>
            <a:ext cx="2761488" cy="914400"/>
          </a:xfrm>
          <a:prstGeom prst="rect">
            <a:avLst/>
          </a:prstGeom>
          <a:noFill/>
        </p:spPr>
        <p:txBody>
          <a:bodyPr wrap="square" lIns="0" tIns="0" rIns="0" bIns="0" anchor="t">
            <a:spAutoFit/>
          </a:bodyPr>
          <a:lstStyle/>
          <a:p>
            <a:pPr algn="l">
              <a:lnSpc>
                <a:spcPct val="110000"/>
              </a:lnSpc>
            </a:pPr>
            <a:r>
              <a:rPr sz="1550" b="1" i="0" dirty="0">
                <a:solidFill>
                  <a:srgbClr val="1A1A1A"/>
                </a:solidFill>
                <a:latin typeface="Calibri"/>
              </a:rPr>
              <a:t>Motivation &amp;</a:t>
            </a:r>
          </a:p>
          <a:p>
            <a:pPr algn="l">
              <a:lnSpc>
                <a:spcPct val="110000"/>
              </a:lnSpc>
            </a:pPr>
            <a:r>
              <a:rPr sz="1550" b="1" i="0" dirty="0">
                <a:solidFill>
                  <a:srgbClr val="1A1A1A"/>
                </a:solidFill>
                <a:latin typeface="Calibri"/>
              </a:rPr>
              <a:t>Research Question</a:t>
            </a:r>
          </a:p>
        </p:txBody>
      </p:sp>
      <p:sp>
        <p:nvSpPr>
          <p:cNvPr id="7" name="Rounded Rectangle 6"/>
          <p:cNvSpPr/>
          <p:nvPr/>
        </p:nvSpPr>
        <p:spPr>
          <a:xfrm>
            <a:off x="4315968" y="1874519"/>
            <a:ext cx="3310128" cy="19659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90288" y="2130552"/>
            <a:ext cx="1371600" cy="548640"/>
          </a:xfrm>
          <a:prstGeom prst="rect">
            <a:avLst/>
          </a:prstGeom>
          <a:noFill/>
        </p:spPr>
        <p:txBody>
          <a:bodyPr wrap="square" lIns="0" tIns="0" rIns="0" bIns="0" anchor="t">
            <a:spAutoFit/>
          </a:bodyPr>
          <a:lstStyle/>
          <a:p>
            <a:pPr algn="l">
              <a:lnSpc>
                <a:spcPct val="100000"/>
              </a:lnSpc>
            </a:pPr>
            <a:r>
              <a:rPr sz="2600" b="1" i="0">
                <a:solidFill>
                  <a:srgbClr val="F2C4CE"/>
                </a:solidFill>
                <a:latin typeface="Georgia"/>
              </a:rPr>
              <a:t>02</a:t>
            </a:r>
          </a:p>
        </p:txBody>
      </p:sp>
      <p:sp>
        <p:nvSpPr>
          <p:cNvPr id="9" name="TextBox 8"/>
          <p:cNvSpPr txBox="1"/>
          <p:nvPr/>
        </p:nvSpPr>
        <p:spPr>
          <a:xfrm>
            <a:off x="4590288" y="2834639"/>
            <a:ext cx="2761488" cy="914400"/>
          </a:xfrm>
          <a:prstGeom prst="rect">
            <a:avLst/>
          </a:prstGeom>
          <a:noFill/>
        </p:spPr>
        <p:txBody>
          <a:bodyPr wrap="square" lIns="0" tIns="0" rIns="0" bIns="0" anchor="t">
            <a:spAutoFit/>
          </a:bodyPr>
          <a:lstStyle/>
          <a:p>
            <a:pPr algn="l">
              <a:lnSpc>
                <a:spcPct val="110000"/>
              </a:lnSpc>
            </a:pPr>
            <a:r>
              <a:rPr sz="1550" b="1" i="0">
                <a:solidFill>
                  <a:srgbClr val="1A1A1A"/>
                </a:solidFill>
                <a:latin typeface="Calibri"/>
              </a:rPr>
              <a:t>Data &amp;</a:t>
            </a:r>
          </a:p>
          <a:p>
            <a:pPr algn="l">
              <a:lnSpc>
                <a:spcPct val="110000"/>
              </a:lnSpc>
            </a:pPr>
            <a:r>
              <a:rPr sz="1550" b="1" i="0">
                <a:solidFill>
                  <a:srgbClr val="1A1A1A"/>
                </a:solidFill>
                <a:latin typeface="Calibri"/>
              </a:rPr>
              <a:t>Methodology</a:t>
            </a:r>
          </a:p>
        </p:txBody>
      </p:sp>
      <p:sp>
        <p:nvSpPr>
          <p:cNvPr id="10" name="Rounded Rectangle 9"/>
          <p:cNvSpPr/>
          <p:nvPr/>
        </p:nvSpPr>
        <p:spPr>
          <a:xfrm>
            <a:off x="7946136" y="1874519"/>
            <a:ext cx="3310128" cy="19659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0456" y="2130552"/>
            <a:ext cx="1371600" cy="548640"/>
          </a:xfrm>
          <a:prstGeom prst="rect">
            <a:avLst/>
          </a:prstGeom>
          <a:noFill/>
        </p:spPr>
        <p:txBody>
          <a:bodyPr wrap="square" lIns="0" tIns="0" rIns="0" bIns="0" anchor="t">
            <a:spAutoFit/>
          </a:bodyPr>
          <a:lstStyle/>
          <a:p>
            <a:pPr algn="l">
              <a:lnSpc>
                <a:spcPct val="100000"/>
              </a:lnSpc>
            </a:pPr>
            <a:r>
              <a:rPr sz="2600" b="1" i="0">
                <a:solidFill>
                  <a:srgbClr val="F2C4CE"/>
                </a:solidFill>
                <a:latin typeface="Georgia"/>
              </a:rPr>
              <a:t>03</a:t>
            </a:r>
          </a:p>
        </p:txBody>
      </p:sp>
      <p:sp>
        <p:nvSpPr>
          <p:cNvPr id="12" name="TextBox 11"/>
          <p:cNvSpPr txBox="1"/>
          <p:nvPr/>
        </p:nvSpPr>
        <p:spPr>
          <a:xfrm>
            <a:off x="8220456" y="2834639"/>
            <a:ext cx="2761488" cy="914400"/>
          </a:xfrm>
          <a:prstGeom prst="rect">
            <a:avLst/>
          </a:prstGeom>
          <a:noFill/>
        </p:spPr>
        <p:txBody>
          <a:bodyPr wrap="square" lIns="0" tIns="0" rIns="0" bIns="0" anchor="t">
            <a:spAutoFit/>
          </a:bodyPr>
          <a:lstStyle/>
          <a:p>
            <a:pPr algn="l">
              <a:lnSpc>
                <a:spcPct val="110000"/>
              </a:lnSpc>
            </a:pPr>
            <a:r>
              <a:rPr sz="1550" b="1" i="0">
                <a:solidFill>
                  <a:srgbClr val="1A1A1A"/>
                </a:solidFill>
                <a:latin typeface="Calibri"/>
              </a:rPr>
              <a:t>Baseline</a:t>
            </a:r>
          </a:p>
          <a:p>
            <a:pPr algn="l">
              <a:lnSpc>
                <a:spcPct val="110000"/>
              </a:lnSpc>
            </a:pPr>
            <a:r>
              <a:rPr sz="1550" b="1" i="0">
                <a:solidFill>
                  <a:srgbClr val="1A1A1A"/>
                </a:solidFill>
                <a:latin typeface="Calibri"/>
              </a:rPr>
              <a:t>Results</a:t>
            </a:r>
          </a:p>
        </p:txBody>
      </p:sp>
      <p:sp>
        <p:nvSpPr>
          <p:cNvPr id="13" name="Rounded Rectangle 12"/>
          <p:cNvSpPr/>
          <p:nvPr/>
        </p:nvSpPr>
        <p:spPr>
          <a:xfrm>
            <a:off x="685800" y="4160520"/>
            <a:ext cx="3310128" cy="19659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60120" y="4416552"/>
            <a:ext cx="1371600" cy="548640"/>
          </a:xfrm>
          <a:prstGeom prst="rect">
            <a:avLst/>
          </a:prstGeom>
          <a:noFill/>
        </p:spPr>
        <p:txBody>
          <a:bodyPr wrap="square" lIns="0" tIns="0" rIns="0" bIns="0" anchor="t">
            <a:spAutoFit/>
          </a:bodyPr>
          <a:lstStyle/>
          <a:p>
            <a:pPr algn="l">
              <a:lnSpc>
                <a:spcPct val="100000"/>
              </a:lnSpc>
            </a:pPr>
            <a:r>
              <a:rPr sz="2600" b="1" i="0">
                <a:solidFill>
                  <a:srgbClr val="F2C4CE"/>
                </a:solidFill>
                <a:latin typeface="Georgia"/>
              </a:rPr>
              <a:t>04</a:t>
            </a:r>
          </a:p>
        </p:txBody>
      </p:sp>
      <p:sp>
        <p:nvSpPr>
          <p:cNvPr id="15" name="TextBox 14"/>
          <p:cNvSpPr txBox="1"/>
          <p:nvPr/>
        </p:nvSpPr>
        <p:spPr>
          <a:xfrm>
            <a:off x="960120" y="5120640"/>
            <a:ext cx="2761488" cy="914400"/>
          </a:xfrm>
          <a:prstGeom prst="rect">
            <a:avLst/>
          </a:prstGeom>
          <a:noFill/>
        </p:spPr>
        <p:txBody>
          <a:bodyPr wrap="square" lIns="0" tIns="0" rIns="0" bIns="0" anchor="t">
            <a:spAutoFit/>
          </a:bodyPr>
          <a:lstStyle/>
          <a:p>
            <a:pPr algn="l">
              <a:lnSpc>
                <a:spcPct val="110000"/>
              </a:lnSpc>
            </a:pPr>
            <a:r>
              <a:rPr sz="1550" b="1" i="0">
                <a:solidFill>
                  <a:srgbClr val="1A1A1A"/>
                </a:solidFill>
                <a:latin typeface="Calibri"/>
              </a:rPr>
              <a:t>Fairness Problems</a:t>
            </a:r>
          </a:p>
          <a:p>
            <a:pPr algn="l">
              <a:lnSpc>
                <a:spcPct val="110000"/>
              </a:lnSpc>
            </a:pPr>
            <a:r>
              <a:rPr sz="1550" b="1" i="0">
                <a:solidFill>
                  <a:srgbClr val="1A1A1A"/>
                </a:solidFill>
                <a:latin typeface="Calibri"/>
              </a:rPr>
              <a:t>&amp; Root Causes</a:t>
            </a:r>
          </a:p>
        </p:txBody>
      </p:sp>
      <p:sp>
        <p:nvSpPr>
          <p:cNvPr id="16" name="Rounded Rectangle 15"/>
          <p:cNvSpPr/>
          <p:nvPr/>
        </p:nvSpPr>
        <p:spPr>
          <a:xfrm>
            <a:off x="4315968" y="4160520"/>
            <a:ext cx="3310128" cy="19659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90288" y="4416552"/>
            <a:ext cx="1371600" cy="548640"/>
          </a:xfrm>
          <a:prstGeom prst="rect">
            <a:avLst/>
          </a:prstGeom>
          <a:noFill/>
        </p:spPr>
        <p:txBody>
          <a:bodyPr wrap="square" lIns="0" tIns="0" rIns="0" bIns="0" anchor="t">
            <a:spAutoFit/>
          </a:bodyPr>
          <a:lstStyle/>
          <a:p>
            <a:pPr algn="l">
              <a:lnSpc>
                <a:spcPct val="100000"/>
              </a:lnSpc>
            </a:pPr>
            <a:r>
              <a:rPr sz="2600" b="1" i="0">
                <a:solidFill>
                  <a:srgbClr val="F2C4CE"/>
                </a:solidFill>
                <a:latin typeface="Georgia"/>
              </a:rPr>
              <a:t>05</a:t>
            </a:r>
          </a:p>
        </p:txBody>
      </p:sp>
      <p:sp>
        <p:nvSpPr>
          <p:cNvPr id="18" name="TextBox 17"/>
          <p:cNvSpPr txBox="1"/>
          <p:nvPr/>
        </p:nvSpPr>
        <p:spPr>
          <a:xfrm>
            <a:off x="4590288" y="5120640"/>
            <a:ext cx="2761488" cy="914400"/>
          </a:xfrm>
          <a:prstGeom prst="rect">
            <a:avLst/>
          </a:prstGeom>
          <a:noFill/>
        </p:spPr>
        <p:txBody>
          <a:bodyPr wrap="square" lIns="0" tIns="0" rIns="0" bIns="0" anchor="t">
            <a:spAutoFit/>
          </a:bodyPr>
          <a:lstStyle/>
          <a:p>
            <a:pPr algn="l">
              <a:lnSpc>
                <a:spcPct val="110000"/>
              </a:lnSpc>
            </a:pPr>
            <a:r>
              <a:rPr sz="1550" b="1" i="0">
                <a:solidFill>
                  <a:srgbClr val="1A1A1A"/>
                </a:solidFill>
                <a:latin typeface="Calibri"/>
              </a:rPr>
              <a:t>Mitigation</a:t>
            </a:r>
          </a:p>
          <a:p>
            <a:pPr algn="l">
              <a:lnSpc>
                <a:spcPct val="110000"/>
              </a:lnSpc>
            </a:pPr>
            <a:r>
              <a:rPr sz="1550" b="1" i="0">
                <a:solidFill>
                  <a:srgbClr val="1A1A1A"/>
                </a:solidFill>
                <a:latin typeface="Calibri"/>
              </a:rPr>
              <a:t>&amp; Results</a:t>
            </a:r>
          </a:p>
        </p:txBody>
      </p:sp>
      <p:sp>
        <p:nvSpPr>
          <p:cNvPr id="19" name="Rounded Rectangle 18"/>
          <p:cNvSpPr/>
          <p:nvPr/>
        </p:nvSpPr>
        <p:spPr>
          <a:xfrm>
            <a:off x="7946136" y="4160520"/>
            <a:ext cx="3310128" cy="19659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20456" y="4416552"/>
            <a:ext cx="1371600" cy="548640"/>
          </a:xfrm>
          <a:prstGeom prst="rect">
            <a:avLst/>
          </a:prstGeom>
          <a:noFill/>
        </p:spPr>
        <p:txBody>
          <a:bodyPr wrap="square" lIns="0" tIns="0" rIns="0" bIns="0" anchor="t">
            <a:spAutoFit/>
          </a:bodyPr>
          <a:lstStyle/>
          <a:p>
            <a:pPr algn="l">
              <a:lnSpc>
                <a:spcPct val="100000"/>
              </a:lnSpc>
            </a:pPr>
            <a:r>
              <a:rPr sz="2600" b="1" i="0">
                <a:solidFill>
                  <a:srgbClr val="F2C4CE"/>
                </a:solidFill>
                <a:latin typeface="Georgia"/>
              </a:rPr>
              <a:t>06</a:t>
            </a:r>
          </a:p>
        </p:txBody>
      </p:sp>
      <p:sp>
        <p:nvSpPr>
          <p:cNvPr id="21" name="TextBox 20"/>
          <p:cNvSpPr txBox="1"/>
          <p:nvPr/>
        </p:nvSpPr>
        <p:spPr>
          <a:xfrm>
            <a:off x="8220456" y="5120640"/>
            <a:ext cx="2761488" cy="914400"/>
          </a:xfrm>
          <a:prstGeom prst="rect">
            <a:avLst/>
          </a:prstGeom>
          <a:noFill/>
        </p:spPr>
        <p:txBody>
          <a:bodyPr wrap="square" lIns="0" tIns="0" rIns="0" bIns="0" anchor="t">
            <a:spAutoFit/>
          </a:bodyPr>
          <a:lstStyle/>
          <a:p>
            <a:pPr algn="l">
              <a:lnSpc>
                <a:spcPct val="110000"/>
              </a:lnSpc>
            </a:pPr>
            <a:r>
              <a:rPr sz="1550" b="1" i="0">
                <a:solidFill>
                  <a:srgbClr val="1A1A1A"/>
                </a:solidFill>
                <a:latin typeface="Calibri"/>
              </a:rPr>
              <a:t>Survey, Limitations</a:t>
            </a:r>
          </a:p>
          <a:p>
            <a:pPr algn="l">
              <a:lnSpc>
                <a:spcPct val="110000"/>
              </a:lnSpc>
            </a:pPr>
            <a:r>
              <a:rPr sz="1550" b="1" i="0">
                <a:solidFill>
                  <a:srgbClr val="1A1A1A"/>
                </a:solidFill>
                <a:latin typeface="Calibri"/>
              </a:rPr>
              <a:t>&amp; Recommendations</a:t>
            </a:r>
          </a:p>
        </p:txBody>
      </p:sp>
      <p:sp>
        <p:nvSpPr>
          <p:cNvPr id="22" name="TextBox 21"/>
          <p:cNvSpPr txBox="1"/>
          <p:nvPr/>
        </p:nvSpPr>
        <p:spPr>
          <a:xfrm>
            <a:off x="685800" y="6510528"/>
            <a:ext cx="6400800" cy="274320"/>
          </a:xfrm>
          <a:prstGeom prst="rect">
            <a:avLst/>
          </a:prstGeom>
          <a:noFill/>
        </p:spPr>
        <p:txBody>
          <a:bodyPr wrap="square" lIns="0" tIns="0" rIns="0" bIns="0" anchor="t">
            <a:spAutoFit/>
          </a:bodyPr>
          <a:lstStyle/>
          <a:p>
            <a:pPr algn="l">
              <a:lnSpc>
                <a:spcPct val="100000"/>
              </a:lnSpc>
            </a:pPr>
            <a:r>
              <a:rPr sz="950" b="0" i="0">
                <a:solidFill>
                  <a:srgbClr val="999999"/>
                </a:solidFill>
                <a:latin typeface="Calibri"/>
              </a:rPr>
              <a:t>Procedural Fairness in Healthcare AI</a:t>
            </a:r>
          </a:p>
        </p:txBody>
      </p:sp>
      <p:sp>
        <p:nvSpPr>
          <p:cNvPr id="23" name="TextBox 22"/>
          <p:cNvSpPr txBox="1"/>
          <p:nvPr/>
        </p:nvSpPr>
        <p:spPr>
          <a:xfrm>
            <a:off x="11521440" y="6510528"/>
            <a:ext cx="457200" cy="274320"/>
          </a:xfrm>
          <a:prstGeom prst="rect">
            <a:avLst/>
          </a:prstGeom>
          <a:noFill/>
        </p:spPr>
        <p:txBody>
          <a:bodyPr wrap="square" lIns="0" tIns="0" rIns="0" bIns="0" anchor="t">
            <a:spAutoFit/>
          </a:bodyPr>
          <a:lstStyle/>
          <a:p>
            <a:pPr algn="r">
              <a:lnSpc>
                <a:spcPct val="100000"/>
              </a:lnSpc>
            </a:pPr>
            <a:r>
              <a:rPr sz="950" b="0" i="0">
                <a:solidFill>
                  <a:srgbClr val="999999"/>
                </a:solidFill>
                <a:latin typeface="Calibri"/>
              </a:rPr>
              <a:t>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8F9"/>
        </a:solidFill>
        <a:effectLst/>
      </p:bgPr>
    </p:bg>
    <p:spTree>
      <p:nvGrpSpPr>
        <p:cNvPr id="1" name=""/>
        <p:cNvGrpSpPr/>
        <p:nvPr/>
      </p:nvGrpSpPr>
      <p:grpSpPr>
        <a:xfrm>
          <a:off x="0" y="0"/>
          <a:ext cx="0" cy="0"/>
          <a:chOff x="0" y="0"/>
          <a:chExt cx="0" cy="0"/>
        </a:xfrm>
      </p:grpSpPr>
      <p:sp>
        <p:nvSpPr>
          <p:cNvPr id="2" name="TextBox 1"/>
          <p:cNvSpPr txBox="1"/>
          <p:nvPr/>
        </p:nvSpPr>
        <p:spPr>
          <a:xfrm>
            <a:off x="685800" y="384048"/>
            <a:ext cx="9144000" cy="320040"/>
          </a:xfrm>
          <a:prstGeom prst="rect">
            <a:avLst/>
          </a:prstGeom>
          <a:noFill/>
        </p:spPr>
        <p:txBody>
          <a:bodyPr wrap="square" lIns="0" tIns="0" rIns="0" bIns="0" anchor="t">
            <a:spAutoFit/>
          </a:bodyPr>
          <a:lstStyle/>
          <a:p>
            <a:pPr algn="l">
              <a:lnSpc>
                <a:spcPct val="100000"/>
              </a:lnSpc>
            </a:pPr>
            <a:r>
              <a:rPr sz="1300" b="1" i="0">
                <a:solidFill>
                  <a:srgbClr val="C9748F"/>
                </a:solidFill>
                <a:latin typeface="Calibri"/>
              </a:rPr>
              <a:t>MOTIVATION</a:t>
            </a:r>
          </a:p>
        </p:txBody>
      </p:sp>
      <p:sp>
        <p:nvSpPr>
          <p:cNvPr id="3" name="TextBox 2"/>
          <p:cNvSpPr txBox="1"/>
          <p:nvPr/>
        </p:nvSpPr>
        <p:spPr>
          <a:xfrm>
            <a:off x="685800" y="658368"/>
            <a:ext cx="10789920" cy="442237"/>
          </a:xfrm>
          <a:prstGeom prst="rect">
            <a:avLst/>
          </a:prstGeom>
          <a:noFill/>
        </p:spPr>
        <p:txBody>
          <a:bodyPr wrap="square" lIns="0" tIns="0" rIns="0" bIns="0" anchor="t">
            <a:spAutoFit/>
          </a:bodyPr>
          <a:lstStyle/>
          <a:p>
            <a:pPr algn="l">
              <a:lnSpc>
                <a:spcPct val="102000"/>
              </a:lnSpc>
            </a:pPr>
            <a:r>
              <a:rPr lang="en-GB" sz="3000" b="1" i="0" dirty="0">
                <a:solidFill>
                  <a:srgbClr val="1A1A1A"/>
                </a:solidFill>
                <a:latin typeface="Georgia"/>
              </a:rPr>
              <a:t>When an accurate model is not a safe one</a:t>
            </a:r>
            <a:endParaRPr sz="3000" b="1" i="0" dirty="0">
              <a:solidFill>
                <a:srgbClr val="1A1A1A"/>
              </a:solidFill>
              <a:latin typeface="Georgia"/>
            </a:endParaRPr>
          </a:p>
        </p:txBody>
      </p:sp>
      <p:sp>
        <p:nvSpPr>
          <p:cNvPr id="4" name="TextBox 3"/>
          <p:cNvSpPr txBox="1"/>
          <p:nvPr/>
        </p:nvSpPr>
        <p:spPr>
          <a:xfrm>
            <a:off x="685800" y="1600200"/>
            <a:ext cx="10607040" cy="634276"/>
          </a:xfrm>
          <a:prstGeom prst="rect">
            <a:avLst/>
          </a:prstGeom>
          <a:noFill/>
        </p:spPr>
        <p:txBody>
          <a:bodyPr wrap="square" lIns="0" tIns="0" rIns="0" bIns="0" anchor="t">
            <a:spAutoFit/>
          </a:bodyPr>
          <a:lstStyle/>
          <a:p>
            <a:pPr>
              <a:lnSpc>
                <a:spcPct val="130000"/>
              </a:lnSpc>
            </a:pPr>
            <a:r>
              <a:rPr lang="en-GB" sz="1600" dirty="0">
                <a:solidFill>
                  <a:schemeClr val="tx1">
                    <a:lumMod val="65000"/>
                    <a:lumOff val="35000"/>
                  </a:schemeClr>
                </a:solidFill>
              </a:rPr>
              <a:t>AI now supports high-stakes decisions across society and is increasingly used in healthcare, where a wrong decision is not just an inconvenience, it can mean a missed diagnosis.</a:t>
            </a:r>
            <a:endParaRPr lang="en-GB" sz="1700" b="0" i="0" dirty="0">
              <a:solidFill>
                <a:schemeClr val="tx1">
                  <a:lumMod val="65000"/>
                  <a:lumOff val="35000"/>
                </a:schemeClr>
              </a:solidFill>
              <a:latin typeface="Calibri"/>
            </a:endParaRPr>
          </a:p>
        </p:txBody>
      </p:sp>
      <p:grpSp>
        <p:nvGrpSpPr>
          <p:cNvPr id="25" name="Group 24">
            <a:extLst>
              <a:ext uri="{FF2B5EF4-FFF2-40B4-BE49-F238E27FC236}">
                <a16:creationId xmlns:a16="http://schemas.microsoft.com/office/drawing/2014/main" id="{02B5C8FD-DE18-A99B-3E37-538C5016A785}"/>
              </a:ext>
            </a:extLst>
          </p:cNvPr>
          <p:cNvGrpSpPr/>
          <p:nvPr/>
        </p:nvGrpSpPr>
        <p:grpSpPr>
          <a:xfrm>
            <a:off x="960120" y="3063240"/>
            <a:ext cx="3291840" cy="2377440"/>
            <a:chOff x="960120" y="3063240"/>
            <a:chExt cx="3291840" cy="2377440"/>
          </a:xfrm>
        </p:grpSpPr>
        <p:sp>
          <p:nvSpPr>
            <p:cNvPr id="5" name="Rounded Rectangle 4"/>
            <p:cNvSpPr/>
            <p:nvPr/>
          </p:nvSpPr>
          <p:spPr>
            <a:xfrm>
              <a:off x="960120" y="3063240"/>
              <a:ext cx="3291840" cy="2377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960120" y="3063240"/>
              <a:ext cx="3291840" cy="82296"/>
            </a:xfrm>
            <a:prstGeom prst="rect">
              <a:avLst/>
            </a:prstGeom>
            <a:solidFill>
              <a:srgbClr val="C97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35981" y="3661386"/>
              <a:ext cx="1940118" cy="738664"/>
            </a:xfrm>
            <a:prstGeom prst="rect">
              <a:avLst/>
            </a:prstGeom>
            <a:noFill/>
          </p:spPr>
          <p:txBody>
            <a:bodyPr wrap="square" lIns="0" tIns="0" rIns="0" bIns="0" anchor="t">
              <a:spAutoFit/>
            </a:bodyPr>
            <a:lstStyle/>
            <a:p>
              <a:pPr algn="l">
                <a:lnSpc>
                  <a:spcPct val="100000"/>
                </a:lnSpc>
              </a:pPr>
              <a:r>
                <a:rPr lang="en-GB" sz="4800" b="1" dirty="0">
                  <a:solidFill>
                    <a:srgbClr val="1A1A1A"/>
                  </a:solidFill>
                  <a:latin typeface="Georgia"/>
                </a:rPr>
                <a:t>93.5%</a:t>
              </a:r>
              <a:endParaRPr sz="4800" b="1" i="0" dirty="0">
                <a:solidFill>
                  <a:srgbClr val="1A1A1A"/>
                </a:solidFill>
                <a:latin typeface="Georgia"/>
              </a:endParaRPr>
            </a:p>
          </p:txBody>
        </p:sp>
        <p:sp>
          <p:nvSpPr>
            <p:cNvPr id="8" name="TextBox 7"/>
            <p:cNvSpPr txBox="1"/>
            <p:nvPr/>
          </p:nvSpPr>
          <p:spPr>
            <a:xfrm>
              <a:off x="1178781" y="4599797"/>
              <a:ext cx="2651760" cy="500202"/>
            </a:xfrm>
            <a:prstGeom prst="rect">
              <a:avLst/>
            </a:prstGeom>
            <a:noFill/>
          </p:spPr>
          <p:txBody>
            <a:bodyPr wrap="square" lIns="0" tIns="0" rIns="0" bIns="0" anchor="t">
              <a:spAutoFit/>
            </a:bodyPr>
            <a:lstStyle/>
            <a:p>
              <a:pPr algn="ctr">
                <a:lnSpc>
                  <a:spcPct val="125000"/>
                </a:lnSpc>
              </a:pPr>
              <a:r>
                <a:rPr lang="en-GB" sz="1350" b="0" i="0" dirty="0">
                  <a:solidFill>
                    <a:srgbClr val="666666"/>
                  </a:solidFill>
                  <a:latin typeface="Calibri"/>
                </a:rPr>
                <a:t>Men with heart disease correctly identified </a:t>
              </a:r>
              <a:endParaRPr sz="1350" b="0" i="0" dirty="0">
                <a:solidFill>
                  <a:srgbClr val="666666"/>
                </a:solidFill>
                <a:latin typeface="Calibri"/>
              </a:endParaRPr>
            </a:p>
          </p:txBody>
        </p:sp>
      </p:grpSp>
      <p:grpSp>
        <p:nvGrpSpPr>
          <p:cNvPr id="27" name="Group 26">
            <a:extLst>
              <a:ext uri="{FF2B5EF4-FFF2-40B4-BE49-F238E27FC236}">
                <a16:creationId xmlns:a16="http://schemas.microsoft.com/office/drawing/2014/main" id="{2610F3EC-B372-A10B-6638-81ACCDBFA380}"/>
              </a:ext>
            </a:extLst>
          </p:cNvPr>
          <p:cNvGrpSpPr/>
          <p:nvPr/>
        </p:nvGrpSpPr>
        <p:grpSpPr>
          <a:xfrm>
            <a:off x="8458200" y="3063240"/>
            <a:ext cx="3291840" cy="2377440"/>
            <a:chOff x="8458200" y="3063240"/>
            <a:chExt cx="3291840" cy="2377440"/>
          </a:xfrm>
        </p:grpSpPr>
        <p:sp>
          <p:nvSpPr>
            <p:cNvPr id="13" name="Rounded Rectangle 12"/>
            <p:cNvSpPr/>
            <p:nvPr/>
          </p:nvSpPr>
          <p:spPr>
            <a:xfrm>
              <a:off x="8458200" y="3063240"/>
              <a:ext cx="3291840" cy="2377440"/>
            </a:xfrm>
            <a:prstGeom prst="roundRect">
              <a:avLst>
                <a:gd name="adj" fmla="val 8000"/>
              </a:avLst>
            </a:prstGeom>
            <a:solidFill>
              <a:srgbClr val="FFFFFF"/>
            </a:solidFill>
            <a:ln w="92075">
              <a:solidFill>
                <a:srgbClr val="C974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08219" y="3657221"/>
              <a:ext cx="1991802" cy="738664"/>
            </a:xfrm>
            <a:prstGeom prst="rect">
              <a:avLst/>
            </a:prstGeom>
            <a:noFill/>
          </p:spPr>
          <p:txBody>
            <a:bodyPr wrap="square" lIns="0" tIns="0" rIns="0" bIns="0" anchor="t">
              <a:spAutoFit/>
            </a:bodyPr>
            <a:lstStyle/>
            <a:p>
              <a:pPr algn="l">
                <a:lnSpc>
                  <a:spcPct val="100000"/>
                </a:lnSpc>
              </a:pPr>
              <a:r>
                <a:rPr lang="en-GB" sz="4800" b="1" i="0" dirty="0">
                  <a:solidFill>
                    <a:srgbClr val="1A1A1A"/>
                  </a:solidFill>
                  <a:latin typeface="Georgia"/>
                </a:rPr>
                <a:t>0.957</a:t>
              </a:r>
              <a:endParaRPr sz="4800" b="1" i="0" dirty="0">
                <a:solidFill>
                  <a:srgbClr val="1A1A1A"/>
                </a:solidFill>
                <a:latin typeface="Georgia"/>
              </a:endParaRPr>
            </a:p>
          </p:txBody>
        </p:sp>
        <p:sp>
          <p:nvSpPr>
            <p:cNvPr id="16" name="TextBox 15"/>
            <p:cNvSpPr txBox="1"/>
            <p:nvPr/>
          </p:nvSpPr>
          <p:spPr>
            <a:xfrm>
              <a:off x="8869680" y="4584914"/>
              <a:ext cx="2651760" cy="500202"/>
            </a:xfrm>
            <a:prstGeom prst="rect">
              <a:avLst/>
            </a:prstGeom>
            <a:noFill/>
          </p:spPr>
          <p:txBody>
            <a:bodyPr wrap="square" lIns="0" tIns="0" rIns="0" bIns="0" anchor="t">
              <a:spAutoFit/>
            </a:bodyPr>
            <a:lstStyle/>
            <a:p>
              <a:pPr algn="ctr">
                <a:lnSpc>
                  <a:spcPct val="125000"/>
                </a:lnSpc>
              </a:pPr>
              <a:r>
                <a:rPr lang="en-GB" sz="1350" b="0" i="0" dirty="0">
                  <a:solidFill>
                    <a:srgbClr val="666666"/>
                  </a:solidFill>
                  <a:latin typeface="Calibri"/>
                </a:rPr>
                <a:t>Overal</a:t>
              </a:r>
              <a:r>
                <a:rPr lang="en-GB" sz="1350" dirty="0">
                  <a:solidFill>
                    <a:srgbClr val="666666"/>
                  </a:solidFill>
                  <a:latin typeface="Calibri"/>
                </a:rPr>
                <a:t>l score…The model looks excellent </a:t>
              </a:r>
              <a:endParaRPr sz="1350" b="0" i="0" dirty="0">
                <a:solidFill>
                  <a:srgbClr val="666666"/>
                </a:solidFill>
                <a:latin typeface="Calibri"/>
              </a:endParaRPr>
            </a:p>
          </p:txBody>
        </p:sp>
      </p:grpSp>
      <p:sp>
        <p:nvSpPr>
          <p:cNvPr id="17" name="TextBox 16"/>
          <p:cNvSpPr txBox="1"/>
          <p:nvPr/>
        </p:nvSpPr>
        <p:spPr>
          <a:xfrm>
            <a:off x="685800" y="6510528"/>
            <a:ext cx="6400800" cy="274320"/>
          </a:xfrm>
          <a:prstGeom prst="rect">
            <a:avLst/>
          </a:prstGeom>
          <a:noFill/>
        </p:spPr>
        <p:txBody>
          <a:bodyPr wrap="square" lIns="0" tIns="0" rIns="0" bIns="0" anchor="t">
            <a:spAutoFit/>
          </a:bodyPr>
          <a:lstStyle/>
          <a:p>
            <a:pPr algn="l">
              <a:lnSpc>
                <a:spcPct val="100000"/>
              </a:lnSpc>
            </a:pPr>
            <a:r>
              <a:rPr sz="950" b="0" i="0">
                <a:solidFill>
                  <a:srgbClr val="999999"/>
                </a:solidFill>
                <a:latin typeface="Calibri"/>
              </a:rPr>
              <a:t>Procedural Fairness in Healthcare AI</a:t>
            </a:r>
          </a:p>
        </p:txBody>
      </p:sp>
      <p:sp>
        <p:nvSpPr>
          <p:cNvPr id="18" name="TextBox 17"/>
          <p:cNvSpPr txBox="1"/>
          <p:nvPr/>
        </p:nvSpPr>
        <p:spPr>
          <a:xfrm>
            <a:off x="11521440" y="6510528"/>
            <a:ext cx="457200" cy="274320"/>
          </a:xfrm>
          <a:prstGeom prst="rect">
            <a:avLst/>
          </a:prstGeom>
          <a:noFill/>
        </p:spPr>
        <p:txBody>
          <a:bodyPr wrap="square" lIns="0" tIns="0" rIns="0" bIns="0" anchor="t">
            <a:spAutoFit/>
          </a:bodyPr>
          <a:lstStyle/>
          <a:p>
            <a:pPr algn="r">
              <a:lnSpc>
                <a:spcPct val="100000"/>
              </a:lnSpc>
            </a:pPr>
            <a:r>
              <a:rPr sz="950" b="0" i="0">
                <a:solidFill>
                  <a:srgbClr val="999999"/>
                </a:solidFill>
                <a:latin typeface="Calibri"/>
              </a:rPr>
              <a:t>2</a:t>
            </a:r>
          </a:p>
        </p:txBody>
      </p:sp>
      <p:grpSp>
        <p:nvGrpSpPr>
          <p:cNvPr id="26" name="Group 25">
            <a:extLst>
              <a:ext uri="{FF2B5EF4-FFF2-40B4-BE49-F238E27FC236}">
                <a16:creationId xmlns:a16="http://schemas.microsoft.com/office/drawing/2014/main" id="{0AA1F235-0A73-8F20-D9D0-542EFA9B44D2}"/>
              </a:ext>
            </a:extLst>
          </p:cNvPr>
          <p:cNvGrpSpPr/>
          <p:nvPr/>
        </p:nvGrpSpPr>
        <p:grpSpPr>
          <a:xfrm>
            <a:off x="4709159" y="3063240"/>
            <a:ext cx="3291840" cy="2377440"/>
            <a:chOff x="4709159" y="3063240"/>
            <a:chExt cx="3291840" cy="2377440"/>
          </a:xfrm>
        </p:grpSpPr>
        <p:sp>
          <p:nvSpPr>
            <p:cNvPr id="9" name="Rounded Rectangle 8"/>
            <p:cNvSpPr/>
            <p:nvPr/>
          </p:nvSpPr>
          <p:spPr>
            <a:xfrm>
              <a:off x="4709159" y="3063240"/>
              <a:ext cx="3291840" cy="2377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709159" y="3063240"/>
              <a:ext cx="3291840" cy="82296"/>
            </a:xfrm>
            <a:prstGeom prst="rect">
              <a:avLst/>
            </a:prstGeom>
            <a:solidFill>
              <a:srgbClr val="C97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311E2777-A519-A352-BD87-17E86C84E823}"/>
                </a:ext>
              </a:extLst>
            </p:cNvPr>
            <p:cNvSpPr txBox="1"/>
            <p:nvPr/>
          </p:nvSpPr>
          <p:spPr>
            <a:xfrm>
              <a:off x="5708043" y="3657221"/>
              <a:ext cx="1940118" cy="738664"/>
            </a:xfrm>
            <a:prstGeom prst="rect">
              <a:avLst/>
            </a:prstGeom>
            <a:noFill/>
          </p:spPr>
          <p:txBody>
            <a:bodyPr wrap="square" lIns="0" tIns="0" rIns="0" bIns="0" anchor="t">
              <a:spAutoFit/>
            </a:bodyPr>
            <a:lstStyle/>
            <a:p>
              <a:pPr algn="l">
                <a:lnSpc>
                  <a:spcPct val="100000"/>
                </a:lnSpc>
              </a:pPr>
              <a:r>
                <a:rPr lang="en-GB" sz="4800" b="1" i="0" dirty="0">
                  <a:solidFill>
                    <a:srgbClr val="1A1A1A"/>
                  </a:solidFill>
                  <a:latin typeface="Georgia"/>
                </a:rPr>
                <a:t>70%</a:t>
              </a:r>
              <a:endParaRPr sz="4800" b="1" i="0" dirty="0">
                <a:solidFill>
                  <a:srgbClr val="1A1A1A"/>
                </a:solidFill>
                <a:latin typeface="Georgia"/>
              </a:endParaRPr>
            </a:p>
          </p:txBody>
        </p:sp>
        <p:sp>
          <p:nvSpPr>
            <p:cNvPr id="22" name="TextBox 21">
              <a:extLst>
                <a:ext uri="{FF2B5EF4-FFF2-40B4-BE49-F238E27FC236}">
                  <a16:creationId xmlns:a16="http://schemas.microsoft.com/office/drawing/2014/main" id="{4C9DA0FD-2E79-5AA1-8AC0-DB940533C7AB}"/>
                </a:ext>
              </a:extLst>
            </p:cNvPr>
            <p:cNvSpPr txBox="1"/>
            <p:nvPr/>
          </p:nvSpPr>
          <p:spPr>
            <a:xfrm>
              <a:off x="5029199" y="4589652"/>
              <a:ext cx="2651760" cy="500202"/>
            </a:xfrm>
            <a:prstGeom prst="rect">
              <a:avLst/>
            </a:prstGeom>
            <a:noFill/>
          </p:spPr>
          <p:txBody>
            <a:bodyPr wrap="square" lIns="0" tIns="0" rIns="0" bIns="0" anchor="t">
              <a:spAutoFit/>
            </a:bodyPr>
            <a:lstStyle/>
            <a:p>
              <a:pPr algn="ctr">
                <a:lnSpc>
                  <a:spcPct val="125000"/>
                </a:lnSpc>
              </a:pPr>
              <a:r>
                <a:rPr lang="en-GB" sz="1350" b="0" i="0" dirty="0">
                  <a:solidFill>
                    <a:srgbClr val="666666"/>
                  </a:solidFill>
                  <a:latin typeface="Calibri"/>
                </a:rPr>
                <a:t>Women with heart disease correctly identified </a:t>
              </a:r>
              <a:endParaRPr sz="1350" b="0" i="0" dirty="0">
                <a:solidFill>
                  <a:srgbClr val="666666"/>
                </a:solidFill>
                <a:latin typeface="Calibri"/>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ppt_x"/>
                                          </p:val>
                                        </p:tav>
                                        <p:tav tm="100000">
                                          <p:val>
                                            <p:strVal val="#ppt_x"/>
                                          </p:val>
                                        </p:tav>
                                      </p:tavLst>
                                    </p:anim>
                                    <p:anim calcmode="lin" valueType="num">
                                      <p:cBhvr additive="base">
                                        <p:cTn id="8" dur="500" fill="hold"/>
                                        <p:tgtEl>
                                          <p:spTgt spid="2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6"/>
                                        </p:tgtEl>
                                        <p:attrNameLst>
                                          <p:attrName>style.visibility</p:attrName>
                                        </p:attrNameLst>
                                      </p:cBhvr>
                                      <p:to>
                                        <p:strVal val="visible"/>
                                      </p:to>
                                    </p:set>
                                    <p:anim calcmode="lin" valueType="num">
                                      <p:cBhvr additive="base">
                                        <p:cTn id="11" dur="500" fill="hold"/>
                                        <p:tgtEl>
                                          <p:spTgt spid="26"/>
                                        </p:tgtEl>
                                        <p:attrNameLst>
                                          <p:attrName>ppt_x</p:attrName>
                                        </p:attrNameLst>
                                      </p:cBhvr>
                                      <p:tavLst>
                                        <p:tav tm="0">
                                          <p:val>
                                            <p:strVal val="#ppt_x"/>
                                          </p:val>
                                        </p:tav>
                                        <p:tav tm="100000">
                                          <p:val>
                                            <p:strVal val="#ppt_x"/>
                                          </p:val>
                                        </p:tav>
                                      </p:tavLst>
                                    </p:anim>
                                    <p:anim calcmode="lin" valueType="num">
                                      <p:cBhvr additive="base">
                                        <p:cTn id="12"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 calcmode="lin" valueType="num">
                                      <p:cBhvr additive="base">
                                        <p:cTn id="17" dur="500" fill="hold"/>
                                        <p:tgtEl>
                                          <p:spTgt spid="27"/>
                                        </p:tgtEl>
                                        <p:attrNameLst>
                                          <p:attrName>ppt_x</p:attrName>
                                        </p:attrNameLst>
                                      </p:cBhvr>
                                      <p:tavLst>
                                        <p:tav tm="0">
                                          <p:val>
                                            <p:strVal val="#ppt_x"/>
                                          </p:val>
                                        </p:tav>
                                        <p:tav tm="100000">
                                          <p:val>
                                            <p:strVal val="#ppt_x"/>
                                          </p:val>
                                        </p:tav>
                                      </p:tavLst>
                                    </p:anim>
                                    <p:anim calcmode="lin" valueType="num">
                                      <p:cBhvr additive="base">
                                        <p:cTn id="18"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8F9"/>
        </a:solidFill>
        <a:effectLst/>
      </p:bgPr>
    </p:bg>
    <p:spTree>
      <p:nvGrpSpPr>
        <p:cNvPr id="1" name=""/>
        <p:cNvGrpSpPr/>
        <p:nvPr/>
      </p:nvGrpSpPr>
      <p:grpSpPr>
        <a:xfrm>
          <a:off x="0" y="0"/>
          <a:ext cx="0" cy="0"/>
          <a:chOff x="0" y="0"/>
          <a:chExt cx="0" cy="0"/>
        </a:xfrm>
      </p:grpSpPr>
      <p:sp>
        <p:nvSpPr>
          <p:cNvPr id="2" name="TextBox 1"/>
          <p:cNvSpPr txBox="1"/>
          <p:nvPr/>
        </p:nvSpPr>
        <p:spPr>
          <a:xfrm>
            <a:off x="685800" y="384048"/>
            <a:ext cx="9144000" cy="320040"/>
          </a:xfrm>
          <a:prstGeom prst="rect">
            <a:avLst/>
          </a:prstGeom>
          <a:noFill/>
        </p:spPr>
        <p:txBody>
          <a:bodyPr wrap="square" lIns="0" tIns="0" rIns="0" bIns="0" anchor="t">
            <a:spAutoFit/>
          </a:bodyPr>
          <a:lstStyle/>
          <a:p>
            <a:pPr algn="l">
              <a:lnSpc>
                <a:spcPct val="100000"/>
              </a:lnSpc>
            </a:pPr>
            <a:r>
              <a:rPr sz="1300" b="1" i="0">
                <a:solidFill>
                  <a:srgbClr val="C9748F"/>
                </a:solidFill>
                <a:latin typeface="Calibri"/>
              </a:rPr>
              <a:t>RESEARCH QUESTION</a:t>
            </a:r>
          </a:p>
        </p:txBody>
      </p:sp>
      <p:sp>
        <p:nvSpPr>
          <p:cNvPr id="3" name="TextBox 2"/>
          <p:cNvSpPr txBox="1"/>
          <p:nvPr/>
        </p:nvSpPr>
        <p:spPr>
          <a:xfrm>
            <a:off x="777240" y="1222809"/>
            <a:ext cx="10607040" cy="1108765"/>
          </a:xfrm>
          <a:prstGeom prst="rect">
            <a:avLst/>
          </a:prstGeom>
          <a:noFill/>
        </p:spPr>
        <p:txBody>
          <a:bodyPr wrap="square" lIns="0" tIns="0" rIns="0" bIns="0" anchor="t">
            <a:spAutoFit/>
          </a:bodyPr>
          <a:lstStyle/>
          <a:p>
            <a:pPr>
              <a:lnSpc>
                <a:spcPct val="125000"/>
              </a:lnSpc>
            </a:pPr>
            <a:r>
              <a:rPr lang="en-GB" sz="3000" b="1" dirty="0"/>
              <a:t>How can procedural fairness be </a:t>
            </a:r>
            <a:r>
              <a:rPr lang="en-GB" sz="3000" b="1" dirty="0">
                <a:solidFill>
                  <a:srgbClr val="C9748F"/>
                </a:solidFill>
              </a:rPr>
              <a:t>defined</a:t>
            </a:r>
            <a:r>
              <a:rPr lang="en-GB" sz="3000" b="1" dirty="0"/>
              <a:t>,</a:t>
            </a:r>
            <a:r>
              <a:rPr lang="en-GB" sz="3000" b="1" dirty="0">
                <a:solidFill>
                  <a:srgbClr val="C9748F"/>
                </a:solidFill>
              </a:rPr>
              <a:t> measured</a:t>
            </a:r>
            <a:r>
              <a:rPr lang="en-GB" sz="3000" b="1" dirty="0"/>
              <a:t>, and</a:t>
            </a:r>
            <a:r>
              <a:rPr lang="en-GB" sz="3000" b="1" dirty="0">
                <a:solidFill>
                  <a:srgbClr val="C9748F"/>
                </a:solidFill>
              </a:rPr>
              <a:t> communicated</a:t>
            </a:r>
            <a:r>
              <a:rPr lang="en-GB" sz="3000" b="1" dirty="0"/>
              <a:t> in a healthcare prediction model?</a:t>
            </a:r>
            <a:endParaRPr lang="en-GB" sz="3000" b="1" i="0" dirty="0">
              <a:solidFill>
                <a:srgbClr val="1A1A1A"/>
              </a:solidFill>
              <a:latin typeface="Georgia"/>
            </a:endParaRPr>
          </a:p>
        </p:txBody>
      </p:sp>
      <p:sp>
        <p:nvSpPr>
          <p:cNvPr id="17" name="TextBox 16"/>
          <p:cNvSpPr txBox="1"/>
          <p:nvPr/>
        </p:nvSpPr>
        <p:spPr>
          <a:xfrm>
            <a:off x="685800" y="6510528"/>
            <a:ext cx="6400800" cy="274320"/>
          </a:xfrm>
          <a:prstGeom prst="rect">
            <a:avLst/>
          </a:prstGeom>
          <a:noFill/>
        </p:spPr>
        <p:txBody>
          <a:bodyPr wrap="square" lIns="0" tIns="0" rIns="0" bIns="0" anchor="t">
            <a:spAutoFit/>
          </a:bodyPr>
          <a:lstStyle/>
          <a:p>
            <a:pPr algn="l">
              <a:lnSpc>
                <a:spcPct val="100000"/>
              </a:lnSpc>
            </a:pPr>
            <a:r>
              <a:rPr sz="950" b="0" i="0">
                <a:solidFill>
                  <a:srgbClr val="999999"/>
                </a:solidFill>
                <a:latin typeface="Calibri"/>
              </a:rPr>
              <a:t>Procedural Fairness in Healthcare AI</a:t>
            </a:r>
          </a:p>
        </p:txBody>
      </p:sp>
      <p:sp>
        <p:nvSpPr>
          <p:cNvPr id="18" name="TextBox 17"/>
          <p:cNvSpPr txBox="1"/>
          <p:nvPr/>
        </p:nvSpPr>
        <p:spPr>
          <a:xfrm>
            <a:off x="11521440" y="6510528"/>
            <a:ext cx="457200" cy="274320"/>
          </a:xfrm>
          <a:prstGeom prst="rect">
            <a:avLst/>
          </a:prstGeom>
          <a:noFill/>
        </p:spPr>
        <p:txBody>
          <a:bodyPr wrap="square" lIns="0" tIns="0" rIns="0" bIns="0" anchor="t">
            <a:spAutoFit/>
          </a:bodyPr>
          <a:lstStyle/>
          <a:p>
            <a:pPr algn="r">
              <a:lnSpc>
                <a:spcPct val="100000"/>
              </a:lnSpc>
            </a:pPr>
            <a:r>
              <a:rPr sz="950" b="0" i="0">
                <a:solidFill>
                  <a:srgbClr val="999999"/>
                </a:solidFill>
                <a:latin typeface="Calibri"/>
              </a:rPr>
              <a:t>3</a:t>
            </a:r>
          </a:p>
        </p:txBody>
      </p:sp>
      <p:sp>
        <p:nvSpPr>
          <p:cNvPr id="30" name="Rounded Rectangle 3">
            <a:extLst>
              <a:ext uri="{FF2B5EF4-FFF2-40B4-BE49-F238E27FC236}">
                <a16:creationId xmlns:a16="http://schemas.microsoft.com/office/drawing/2014/main" id="{41F06222-E281-0C8C-4F81-2FAC93A4EC65}"/>
              </a:ext>
            </a:extLst>
          </p:cNvPr>
          <p:cNvSpPr/>
          <p:nvPr/>
        </p:nvSpPr>
        <p:spPr>
          <a:xfrm>
            <a:off x="168564" y="3274675"/>
            <a:ext cx="2901372" cy="2479580"/>
          </a:xfrm>
          <a:prstGeom prst="roundRect">
            <a:avLst>
              <a:gd name="adj" fmla="val 6000"/>
            </a:avLst>
          </a:prstGeom>
          <a:solidFill>
            <a:srgbClr val="FFFFFF"/>
          </a:solidFill>
          <a:ln>
            <a:noFill/>
          </a:ln>
          <a:effectLst>
            <a:glow rad="127000">
              <a:srgbClr val="C9748F">
                <a:alpha val="37000"/>
              </a:srgbClr>
            </a:glow>
            <a:softEdge rad="0"/>
          </a:effectLst>
        </p:spPr>
        <p:style>
          <a:lnRef idx="1">
            <a:schemeClr val="accent1"/>
          </a:lnRef>
          <a:fillRef idx="3">
            <a:schemeClr val="accent1"/>
          </a:fillRef>
          <a:effectRef idx="2">
            <a:schemeClr val="accent1"/>
          </a:effectRef>
          <a:fontRef idx="minor">
            <a:schemeClr val="lt1"/>
          </a:fontRef>
        </p:style>
        <p:txBody>
          <a:bodyPr rtlCol="0" anchor="ctr"/>
          <a:lstStyle/>
          <a:p>
            <a:pPr>
              <a:lnSpc>
                <a:spcPct val="110000"/>
              </a:lnSpc>
            </a:pPr>
            <a:endParaRPr lang="en-GB" b="1" dirty="0">
              <a:solidFill>
                <a:srgbClr val="1A1A1A"/>
              </a:solidFill>
            </a:endParaRPr>
          </a:p>
        </p:txBody>
      </p:sp>
      <p:sp>
        <p:nvSpPr>
          <p:cNvPr id="32" name="TextBox 31">
            <a:extLst>
              <a:ext uri="{FF2B5EF4-FFF2-40B4-BE49-F238E27FC236}">
                <a16:creationId xmlns:a16="http://schemas.microsoft.com/office/drawing/2014/main" id="{0C2DA2AD-65CE-7B17-03F3-29531EF4F2D2}"/>
              </a:ext>
            </a:extLst>
          </p:cNvPr>
          <p:cNvSpPr txBox="1"/>
          <p:nvPr/>
        </p:nvSpPr>
        <p:spPr>
          <a:xfrm>
            <a:off x="714375" y="3274675"/>
            <a:ext cx="1809750" cy="400110"/>
          </a:xfrm>
          <a:prstGeom prst="rect">
            <a:avLst/>
          </a:prstGeom>
          <a:noFill/>
        </p:spPr>
        <p:txBody>
          <a:bodyPr wrap="square" lIns="0" tIns="0" rIns="0" bIns="0" anchor="t">
            <a:spAutoFit/>
          </a:bodyPr>
          <a:lstStyle/>
          <a:p>
            <a:pPr algn="l">
              <a:lnSpc>
                <a:spcPct val="100000"/>
              </a:lnSpc>
            </a:pPr>
            <a:r>
              <a:rPr lang="en-GB" sz="2600" b="1" i="0" dirty="0">
                <a:solidFill>
                  <a:srgbClr val="F2C4CE"/>
                </a:solidFill>
                <a:latin typeface="Georgia"/>
              </a:rPr>
              <a:t>1. Define</a:t>
            </a:r>
            <a:endParaRPr sz="2600" b="1" i="0" dirty="0">
              <a:solidFill>
                <a:srgbClr val="F2C4CE"/>
              </a:solidFill>
              <a:latin typeface="Georgia"/>
            </a:endParaRPr>
          </a:p>
        </p:txBody>
      </p:sp>
      <p:sp>
        <p:nvSpPr>
          <p:cNvPr id="38" name="Rounded Rectangle 3">
            <a:extLst>
              <a:ext uri="{FF2B5EF4-FFF2-40B4-BE49-F238E27FC236}">
                <a16:creationId xmlns:a16="http://schemas.microsoft.com/office/drawing/2014/main" id="{6BC72206-AC41-6F0C-1817-C7B3F57624E1}"/>
              </a:ext>
            </a:extLst>
          </p:cNvPr>
          <p:cNvSpPr/>
          <p:nvPr/>
        </p:nvSpPr>
        <p:spPr>
          <a:xfrm>
            <a:off x="4645315" y="3274675"/>
            <a:ext cx="2901372" cy="2479580"/>
          </a:xfrm>
          <a:prstGeom prst="roundRect">
            <a:avLst>
              <a:gd name="adj" fmla="val 6000"/>
            </a:avLst>
          </a:prstGeom>
          <a:solidFill>
            <a:srgbClr val="FFFFFF"/>
          </a:solidFill>
          <a:ln>
            <a:noFill/>
          </a:ln>
          <a:effectLst>
            <a:glow rad="127000">
              <a:srgbClr val="C9748F">
                <a:alpha val="37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
            <a:extLst>
              <a:ext uri="{FF2B5EF4-FFF2-40B4-BE49-F238E27FC236}">
                <a16:creationId xmlns:a16="http://schemas.microsoft.com/office/drawing/2014/main" id="{7BA95D5B-5C9C-F324-B706-12A8A1AC66B7}"/>
              </a:ext>
            </a:extLst>
          </p:cNvPr>
          <p:cNvSpPr/>
          <p:nvPr/>
        </p:nvSpPr>
        <p:spPr>
          <a:xfrm>
            <a:off x="9122066" y="3274675"/>
            <a:ext cx="2901372" cy="2479580"/>
          </a:xfrm>
          <a:prstGeom prst="roundRect">
            <a:avLst>
              <a:gd name="adj" fmla="val 6000"/>
            </a:avLst>
          </a:prstGeom>
          <a:solidFill>
            <a:srgbClr val="FFFFFF"/>
          </a:solidFill>
          <a:ln>
            <a:noFill/>
          </a:ln>
          <a:effectLst>
            <a:glow rad="127000">
              <a:srgbClr val="C9748F">
                <a:alpha val="37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a:extLst>
              <a:ext uri="{FF2B5EF4-FFF2-40B4-BE49-F238E27FC236}">
                <a16:creationId xmlns:a16="http://schemas.microsoft.com/office/drawing/2014/main" id="{773D744C-E8D4-F389-71B0-1C67FE248CD6}"/>
              </a:ext>
            </a:extLst>
          </p:cNvPr>
          <p:cNvSpPr txBox="1"/>
          <p:nvPr/>
        </p:nvSpPr>
        <p:spPr>
          <a:xfrm>
            <a:off x="5080144" y="3274675"/>
            <a:ext cx="2031711" cy="400110"/>
          </a:xfrm>
          <a:prstGeom prst="rect">
            <a:avLst/>
          </a:prstGeom>
          <a:noFill/>
        </p:spPr>
        <p:txBody>
          <a:bodyPr wrap="square" lIns="0" tIns="0" rIns="0" bIns="0" anchor="t">
            <a:spAutoFit/>
          </a:bodyPr>
          <a:lstStyle/>
          <a:p>
            <a:pPr algn="l">
              <a:lnSpc>
                <a:spcPct val="100000"/>
              </a:lnSpc>
            </a:pPr>
            <a:r>
              <a:rPr lang="en-GB" sz="2600" b="1" dirty="0">
                <a:solidFill>
                  <a:srgbClr val="F2C4CE"/>
                </a:solidFill>
                <a:latin typeface="Georgia"/>
              </a:rPr>
              <a:t>2. Measure </a:t>
            </a:r>
            <a:endParaRPr sz="2600" b="1" i="0" dirty="0">
              <a:solidFill>
                <a:srgbClr val="F2C4CE"/>
              </a:solidFill>
              <a:latin typeface="Georgia"/>
            </a:endParaRPr>
          </a:p>
        </p:txBody>
      </p:sp>
      <p:sp>
        <p:nvSpPr>
          <p:cNvPr id="44" name="TextBox 43">
            <a:extLst>
              <a:ext uri="{FF2B5EF4-FFF2-40B4-BE49-F238E27FC236}">
                <a16:creationId xmlns:a16="http://schemas.microsoft.com/office/drawing/2014/main" id="{0A7A5957-4930-9FFE-52D2-680AE877CFCD}"/>
              </a:ext>
            </a:extLst>
          </p:cNvPr>
          <p:cNvSpPr txBox="1"/>
          <p:nvPr/>
        </p:nvSpPr>
        <p:spPr>
          <a:xfrm>
            <a:off x="9170557" y="3274675"/>
            <a:ext cx="2901372" cy="400110"/>
          </a:xfrm>
          <a:prstGeom prst="rect">
            <a:avLst/>
          </a:prstGeom>
          <a:noFill/>
        </p:spPr>
        <p:txBody>
          <a:bodyPr wrap="square" lIns="0" tIns="0" rIns="0" bIns="0" anchor="t">
            <a:spAutoFit/>
          </a:bodyPr>
          <a:lstStyle/>
          <a:p>
            <a:pPr algn="l">
              <a:lnSpc>
                <a:spcPct val="100000"/>
              </a:lnSpc>
            </a:pPr>
            <a:r>
              <a:rPr lang="en-GB" sz="2600" b="1" dirty="0">
                <a:solidFill>
                  <a:srgbClr val="F2C4CE"/>
                </a:solidFill>
                <a:latin typeface="Georgia"/>
              </a:rPr>
              <a:t>3. Communicate </a:t>
            </a:r>
            <a:endParaRPr sz="2600" b="1" i="0" dirty="0">
              <a:solidFill>
                <a:srgbClr val="F2C4CE"/>
              </a:solidFill>
              <a:latin typeface="Georgia"/>
            </a:endParaRPr>
          </a:p>
        </p:txBody>
      </p:sp>
      <p:sp>
        <p:nvSpPr>
          <p:cNvPr id="45" name="TextBox 44">
            <a:extLst>
              <a:ext uri="{FF2B5EF4-FFF2-40B4-BE49-F238E27FC236}">
                <a16:creationId xmlns:a16="http://schemas.microsoft.com/office/drawing/2014/main" id="{9E2AC0CB-43E6-9476-00D1-0D8BBFEC63CD}"/>
              </a:ext>
            </a:extLst>
          </p:cNvPr>
          <p:cNvSpPr txBox="1"/>
          <p:nvPr/>
        </p:nvSpPr>
        <p:spPr>
          <a:xfrm>
            <a:off x="418522" y="3999345"/>
            <a:ext cx="2401455" cy="1200329"/>
          </a:xfrm>
          <a:prstGeom prst="rect">
            <a:avLst/>
          </a:prstGeom>
          <a:noFill/>
        </p:spPr>
        <p:txBody>
          <a:bodyPr wrap="square" rtlCol="0">
            <a:spAutoFit/>
          </a:bodyPr>
          <a:lstStyle/>
          <a:p>
            <a:pPr algn="ctr"/>
            <a:r>
              <a:rPr lang="en-GB" dirty="0"/>
              <a:t>Translate Leventhal’s procedural justice rules into fairness criteria for healthcare AI</a:t>
            </a:r>
          </a:p>
        </p:txBody>
      </p:sp>
      <p:sp>
        <p:nvSpPr>
          <p:cNvPr id="47" name="TextBox 46">
            <a:extLst>
              <a:ext uri="{FF2B5EF4-FFF2-40B4-BE49-F238E27FC236}">
                <a16:creationId xmlns:a16="http://schemas.microsoft.com/office/drawing/2014/main" id="{37AA4A33-3224-FE1E-CE7D-8F759C66BFF7}"/>
              </a:ext>
            </a:extLst>
          </p:cNvPr>
          <p:cNvSpPr txBox="1"/>
          <p:nvPr/>
        </p:nvSpPr>
        <p:spPr>
          <a:xfrm>
            <a:off x="4695247" y="3860433"/>
            <a:ext cx="2801503" cy="1477328"/>
          </a:xfrm>
          <a:prstGeom prst="rect">
            <a:avLst/>
          </a:prstGeom>
          <a:noFill/>
        </p:spPr>
        <p:txBody>
          <a:bodyPr wrap="square" rtlCol="0">
            <a:spAutoFit/>
          </a:bodyPr>
          <a:lstStyle/>
          <a:p>
            <a:pPr algn="ctr"/>
            <a:r>
              <a:rPr lang="en-GB" dirty="0"/>
              <a:t>Operationalize all six criteria: quantitative metrics for technical rules, structured checklist for sociotechnical </a:t>
            </a:r>
          </a:p>
        </p:txBody>
      </p:sp>
      <p:sp>
        <p:nvSpPr>
          <p:cNvPr id="49" name="TextBox 48">
            <a:extLst>
              <a:ext uri="{FF2B5EF4-FFF2-40B4-BE49-F238E27FC236}">
                <a16:creationId xmlns:a16="http://schemas.microsoft.com/office/drawing/2014/main" id="{87A51E32-A303-E3B7-F3DD-44E051B37754}"/>
              </a:ext>
            </a:extLst>
          </p:cNvPr>
          <p:cNvSpPr txBox="1"/>
          <p:nvPr/>
        </p:nvSpPr>
        <p:spPr>
          <a:xfrm>
            <a:off x="9221935" y="4052800"/>
            <a:ext cx="2801503" cy="923330"/>
          </a:xfrm>
          <a:prstGeom prst="rect">
            <a:avLst/>
          </a:prstGeom>
          <a:noFill/>
        </p:spPr>
        <p:txBody>
          <a:bodyPr wrap="square" rtlCol="0">
            <a:spAutoFit/>
          </a:bodyPr>
          <a:lstStyle/>
          <a:p>
            <a:pPr algn="ctr"/>
            <a:r>
              <a:rPr lang="en-GB" dirty="0"/>
              <a:t>Present the results to stakeholders of mixed technical backgrounds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8F9"/>
        </a:solidFill>
        <a:effectLst/>
      </p:bgPr>
    </p:bg>
    <p:spTree>
      <p:nvGrpSpPr>
        <p:cNvPr id="1" name="">
          <a:extLst>
            <a:ext uri="{FF2B5EF4-FFF2-40B4-BE49-F238E27FC236}">
              <a16:creationId xmlns:a16="http://schemas.microsoft.com/office/drawing/2014/main" id="{5CD20868-2950-C53B-E4B3-AE6214548FB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036CF6F-CD03-BAB0-F63F-9887A8CE3CF5}"/>
              </a:ext>
            </a:extLst>
          </p:cNvPr>
          <p:cNvSpPr txBox="1"/>
          <p:nvPr/>
        </p:nvSpPr>
        <p:spPr>
          <a:xfrm>
            <a:off x="685800" y="384048"/>
            <a:ext cx="9144000" cy="200055"/>
          </a:xfrm>
          <a:prstGeom prst="rect">
            <a:avLst/>
          </a:prstGeom>
          <a:noFill/>
        </p:spPr>
        <p:txBody>
          <a:bodyPr wrap="square" lIns="0" tIns="0" rIns="0" bIns="0" anchor="t">
            <a:spAutoFit/>
          </a:bodyPr>
          <a:lstStyle/>
          <a:p>
            <a:pPr algn="l">
              <a:lnSpc>
                <a:spcPct val="100000"/>
              </a:lnSpc>
            </a:pPr>
            <a:r>
              <a:rPr lang="en-GB" sz="1300" b="1" dirty="0">
                <a:solidFill>
                  <a:srgbClr val="C9748F"/>
                </a:solidFill>
                <a:latin typeface="Calibri"/>
              </a:rPr>
              <a:t>DEFINING FAIRNESS</a:t>
            </a:r>
            <a:endParaRPr sz="1300" b="1" i="0" dirty="0">
              <a:solidFill>
                <a:srgbClr val="C9748F"/>
              </a:solidFill>
              <a:latin typeface="Calibri"/>
            </a:endParaRPr>
          </a:p>
        </p:txBody>
      </p:sp>
      <p:sp>
        <p:nvSpPr>
          <p:cNvPr id="3" name="TextBox 2">
            <a:extLst>
              <a:ext uri="{FF2B5EF4-FFF2-40B4-BE49-F238E27FC236}">
                <a16:creationId xmlns:a16="http://schemas.microsoft.com/office/drawing/2014/main" id="{5A6FBDC0-AC05-C9E2-CD9B-F4D142CB71E8}"/>
              </a:ext>
            </a:extLst>
          </p:cNvPr>
          <p:cNvSpPr txBox="1"/>
          <p:nvPr/>
        </p:nvSpPr>
        <p:spPr>
          <a:xfrm>
            <a:off x="777240" y="1222809"/>
            <a:ext cx="10607040" cy="521874"/>
          </a:xfrm>
          <a:prstGeom prst="rect">
            <a:avLst/>
          </a:prstGeom>
          <a:noFill/>
        </p:spPr>
        <p:txBody>
          <a:bodyPr wrap="square" lIns="0" tIns="0" rIns="0" bIns="0" anchor="t">
            <a:spAutoFit/>
          </a:bodyPr>
          <a:lstStyle/>
          <a:p>
            <a:pPr>
              <a:lnSpc>
                <a:spcPct val="125000"/>
              </a:lnSpc>
            </a:pPr>
            <a:r>
              <a:rPr lang="en-GB" sz="3000" b="1" dirty="0">
                <a:solidFill>
                  <a:srgbClr val="1A1A1A"/>
                </a:solidFill>
                <a:latin typeface="Georgia"/>
              </a:rPr>
              <a:t>From Justice Theory to Testable Criteria </a:t>
            </a:r>
            <a:endParaRPr lang="en-GB" sz="3000" b="1" i="0" dirty="0">
              <a:solidFill>
                <a:srgbClr val="1A1A1A"/>
              </a:solidFill>
              <a:latin typeface="Georgia"/>
            </a:endParaRPr>
          </a:p>
        </p:txBody>
      </p:sp>
      <p:sp>
        <p:nvSpPr>
          <p:cNvPr id="17" name="TextBox 16">
            <a:extLst>
              <a:ext uri="{FF2B5EF4-FFF2-40B4-BE49-F238E27FC236}">
                <a16:creationId xmlns:a16="http://schemas.microsoft.com/office/drawing/2014/main" id="{AE2F83DA-5413-AF08-D91B-2FB2AD76C5AD}"/>
              </a:ext>
            </a:extLst>
          </p:cNvPr>
          <p:cNvSpPr txBox="1"/>
          <p:nvPr/>
        </p:nvSpPr>
        <p:spPr>
          <a:xfrm>
            <a:off x="685800" y="6510528"/>
            <a:ext cx="6400800" cy="274320"/>
          </a:xfrm>
          <a:prstGeom prst="rect">
            <a:avLst/>
          </a:prstGeom>
          <a:noFill/>
        </p:spPr>
        <p:txBody>
          <a:bodyPr wrap="square" lIns="0" tIns="0" rIns="0" bIns="0" anchor="t">
            <a:spAutoFit/>
          </a:bodyPr>
          <a:lstStyle/>
          <a:p>
            <a:pPr algn="l">
              <a:lnSpc>
                <a:spcPct val="100000"/>
              </a:lnSpc>
            </a:pPr>
            <a:r>
              <a:rPr sz="950" b="0" i="0">
                <a:solidFill>
                  <a:srgbClr val="999999"/>
                </a:solidFill>
                <a:latin typeface="Calibri"/>
              </a:rPr>
              <a:t>Procedural Fairness in Healthcare AI</a:t>
            </a:r>
          </a:p>
        </p:txBody>
      </p:sp>
      <p:sp>
        <p:nvSpPr>
          <p:cNvPr id="18" name="TextBox 17">
            <a:extLst>
              <a:ext uri="{FF2B5EF4-FFF2-40B4-BE49-F238E27FC236}">
                <a16:creationId xmlns:a16="http://schemas.microsoft.com/office/drawing/2014/main" id="{D3D53ADA-8B71-5CE4-4ACF-E53FEE468A2E}"/>
              </a:ext>
            </a:extLst>
          </p:cNvPr>
          <p:cNvSpPr txBox="1"/>
          <p:nvPr/>
        </p:nvSpPr>
        <p:spPr>
          <a:xfrm>
            <a:off x="11521440" y="6510528"/>
            <a:ext cx="457200" cy="274320"/>
          </a:xfrm>
          <a:prstGeom prst="rect">
            <a:avLst/>
          </a:prstGeom>
          <a:noFill/>
        </p:spPr>
        <p:txBody>
          <a:bodyPr wrap="square" lIns="0" tIns="0" rIns="0" bIns="0" anchor="t">
            <a:spAutoFit/>
          </a:bodyPr>
          <a:lstStyle/>
          <a:p>
            <a:pPr algn="r">
              <a:lnSpc>
                <a:spcPct val="100000"/>
              </a:lnSpc>
            </a:pPr>
            <a:r>
              <a:rPr sz="950" b="0" i="0">
                <a:solidFill>
                  <a:srgbClr val="999999"/>
                </a:solidFill>
                <a:latin typeface="Calibri"/>
              </a:rPr>
              <a:t>3</a:t>
            </a:r>
          </a:p>
        </p:txBody>
      </p:sp>
      <p:sp>
        <p:nvSpPr>
          <p:cNvPr id="5" name="TextBox 4">
            <a:extLst>
              <a:ext uri="{FF2B5EF4-FFF2-40B4-BE49-F238E27FC236}">
                <a16:creationId xmlns:a16="http://schemas.microsoft.com/office/drawing/2014/main" id="{91654379-1293-5197-BEC8-532690F3DFC6}"/>
              </a:ext>
            </a:extLst>
          </p:cNvPr>
          <p:cNvSpPr txBox="1"/>
          <p:nvPr/>
        </p:nvSpPr>
        <p:spPr>
          <a:xfrm>
            <a:off x="685800" y="1862274"/>
            <a:ext cx="10607040" cy="614271"/>
          </a:xfrm>
          <a:prstGeom prst="rect">
            <a:avLst/>
          </a:prstGeom>
          <a:noFill/>
        </p:spPr>
        <p:txBody>
          <a:bodyPr wrap="square" lIns="0" tIns="0" rIns="0" bIns="0" anchor="t">
            <a:spAutoFit/>
          </a:bodyPr>
          <a:lstStyle/>
          <a:p>
            <a:pPr>
              <a:lnSpc>
                <a:spcPct val="130000"/>
              </a:lnSpc>
            </a:pPr>
            <a:r>
              <a:rPr lang="en-GB" sz="1600" dirty="0">
                <a:solidFill>
                  <a:schemeClr val="tx1">
                    <a:lumMod val="65000"/>
                    <a:lumOff val="35000"/>
                  </a:schemeClr>
                </a:solidFill>
              </a:rPr>
              <a:t>Leventhal's (1980) six procedural justice rules, written for human decision making, adapted into criteria that can be assessed in a healthcare prediction model (following </a:t>
            </a:r>
            <a:r>
              <a:rPr lang="en-GB" sz="1600" dirty="0" err="1">
                <a:solidFill>
                  <a:schemeClr val="tx1">
                    <a:lumMod val="65000"/>
                    <a:lumOff val="35000"/>
                  </a:schemeClr>
                </a:solidFill>
              </a:rPr>
              <a:t>Jabagi</a:t>
            </a:r>
            <a:r>
              <a:rPr lang="en-GB" sz="1600" dirty="0">
                <a:solidFill>
                  <a:schemeClr val="tx1">
                    <a:lumMod val="65000"/>
                    <a:lumOff val="35000"/>
                  </a:schemeClr>
                </a:solidFill>
              </a:rPr>
              <a:t> et al., 2025)</a:t>
            </a:r>
            <a:endParaRPr lang="en-GB" sz="1700" b="0" i="0" dirty="0">
              <a:solidFill>
                <a:schemeClr val="tx1">
                  <a:lumMod val="65000"/>
                  <a:lumOff val="35000"/>
                </a:schemeClr>
              </a:solidFill>
              <a:latin typeface="Calibri"/>
            </a:endParaRPr>
          </a:p>
        </p:txBody>
      </p:sp>
      <p:graphicFrame>
        <p:nvGraphicFramePr>
          <p:cNvPr id="7" name="Table 6">
            <a:extLst>
              <a:ext uri="{FF2B5EF4-FFF2-40B4-BE49-F238E27FC236}">
                <a16:creationId xmlns:a16="http://schemas.microsoft.com/office/drawing/2014/main" id="{2BD9042F-9652-5C8B-54DE-26B4BE6B2D11}"/>
              </a:ext>
            </a:extLst>
          </p:cNvPr>
          <p:cNvGraphicFramePr>
            <a:graphicFrameLocks noGrp="1"/>
          </p:cNvGraphicFramePr>
          <p:nvPr>
            <p:extLst>
              <p:ext uri="{D42A27DB-BD31-4B8C-83A1-F6EECF244321}">
                <p14:modId xmlns:p14="http://schemas.microsoft.com/office/powerpoint/2010/main" val="1729925407"/>
              </p:ext>
            </p:extLst>
          </p:nvPr>
        </p:nvGraphicFramePr>
        <p:xfrm>
          <a:off x="1738827" y="2753636"/>
          <a:ext cx="8714346" cy="3479800"/>
        </p:xfrm>
        <a:graphic>
          <a:graphicData uri="http://schemas.openxmlformats.org/drawingml/2006/table">
            <a:tbl>
              <a:tblPr firstRow="1" bandRow="1">
                <a:tableStyleId>{21E4AEA4-8DFA-4A89-87EB-49C32662AFE0}</a:tableStyleId>
              </a:tblPr>
              <a:tblGrid>
                <a:gridCol w="2021117">
                  <a:extLst>
                    <a:ext uri="{9D8B030D-6E8A-4147-A177-3AD203B41FA5}">
                      <a16:colId xmlns:a16="http://schemas.microsoft.com/office/drawing/2014/main" val="2353116357"/>
                    </a:ext>
                  </a:extLst>
                </a:gridCol>
                <a:gridCol w="3250456">
                  <a:extLst>
                    <a:ext uri="{9D8B030D-6E8A-4147-A177-3AD203B41FA5}">
                      <a16:colId xmlns:a16="http://schemas.microsoft.com/office/drawing/2014/main" val="3455370070"/>
                    </a:ext>
                  </a:extLst>
                </a:gridCol>
                <a:gridCol w="3442773">
                  <a:extLst>
                    <a:ext uri="{9D8B030D-6E8A-4147-A177-3AD203B41FA5}">
                      <a16:colId xmlns:a16="http://schemas.microsoft.com/office/drawing/2014/main" val="1817306241"/>
                    </a:ext>
                  </a:extLst>
                </a:gridCol>
              </a:tblGrid>
              <a:tr h="370840">
                <a:tc>
                  <a:txBody>
                    <a:bodyPr/>
                    <a:lstStyle/>
                    <a:p>
                      <a:r>
                        <a:rPr lang="en-GB" dirty="0"/>
                        <a:t>Rule</a:t>
                      </a:r>
                      <a:endParaRPr lang="en-GB" b="1" dirty="0"/>
                    </a:p>
                  </a:txBody>
                  <a:tcPr>
                    <a:solidFill>
                      <a:srgbClr val="C9748F"/>
                    </a:solidFill>
                  </a:tcPr>
                </a:tc>
                <a:tc>
                  <a:txBody>
                    <a:bodyPr/>
                    <a:lstStyle/>
                    <a:p>
                      <a:r>
                        <a:rPr lang="en-GB" dirty="0"/>
                        <a:t>Leventhal (1980)</a:t>
                      </a:r>
                      <a:endParaRPr lang="en-GB" b="1" dirty="0"/>
                    </a:p>
                  </a:txBody>
                  <a:tcPr>
                    <a:solidFill>
                      <a:srgbClr val="C9748F"/>
                    </a:solidFill>
                  </a:tcPr>
                </a:tc>
                <a:tc>
                  <a:txBody>
                    <a:bodyPr/>
                    <a:lstStyle/>
                    <a:p>
                      <a:r>
                        <a:rPr lang="en-GB" dirty="0"/>
                        <a:t>Adapted For Healthcare </a:t>
                      </a:r>
                      <a:endParaRPr lang="en-GB" b="1" dirty="0"/>
                    </a:p>
                  </a:txBody>
                  <a:tcPr>
                    <a:solidFill>
                      <a:srgbClr val="C9748F"/>
                    </a:solidFill>
                  </a:tcPr>
                </a:tc>
                <a:extLst>
                  <a:ext uri="{0D108BD9-81ED-4DB2-BD59-A6C34878D82A}">
                    <a16:rowId xmlns:a16="http://schemas.microsoft.com/office/drawing/2014/main" val="681362744"/>
                  </a:ext>
                </a:extLst>
              </a:tr>
              <a:tr h="370840">
                <a:tc>
                  <a:txBody>
                    <a:bodyPr/>
                    <a:lstStyle/>
                    <a:p>
                      <a:r>
                        <a:rPr lang="en-GB" sz="1400" b="1" dirty="0">
                          <a:solidFill>
                            <a:schemeClr val="tx1">
                              <a:lumMod val="65000"/>
                              <a:lumOff val="35000"/>
                            </a:schemeClr>
                          </a:solidFill>
                        </a:rPr>
                        <a:t>Accuracy </a:t>
                      </a:r>
                    </a:p>
                  </a:txBody>
                  <a:tcPr/>
                </a:tc>
                <a:tc>
                  <a:txBody>
                    <a:bodyPr/>
                    <a:lstStyle/>
                    <a:p>
                      <a:r>
                        <a:rPr lang="en-GB" sz="1400" i="1" dirty="0">
                          <a:solidFill>
                            <a:schemeClr val="tx1">
                              <a:lumMod val="65000"/>
                              <a:lumOff val="35000"/>
                            </a:schemeClr>
                          </a:solidFill>
                        </a:rPr>
                        <a:t>Decisions based on accurate and complete </a:t>
                      </a:r>
                    </a:p>
                  </a:txBody>
                  <a:tcPr/>
                </a:tc>
                <a:tc>
                  <a:txBody>
                    <a:bodyPr/>
                    <a:lstStyle/>
                    <a:p>
                      <a:r>
                        <a:rPr lang="en-GB" sz="1400" dirty="0">
                          <a:solidFill>
                            <a:schemeClr val="tx1">
                              <a:lumMod val="65000"/>
                              <a:lumOff val="35000"/>
                            </a:schemeClr>
                          </a:solidFill>
                        </a:rPr>
                        <a:t>High-quality data, low error rate; patient-safety risk</a:t>
                      </a:r>
                    </a:p>
                  </a:txBody>
                  <a:tcPr/>
                </a:tc>
                <a:extLst>
                  <a:ext uri="{0D108BD9-81ED-4DB2-BD59-A6C34878D82A}">
                    <a16:rowId xmlns:a16="http://schemas.microsoft.com/office/drawing/2014/main" val="2234888937"/>
                  </a:ext>
                </a:extLst>
              </a:tr>
              <a:tr h="370840">
                <a:tc>
                  <a:txBody>
                    <a:bodyPr/>
                    <a:lstStyle/>
                    <a:p>
                      <a:r>
                        <a:rPr lang="en-GB" sz="1400" b="1" dirty="0">
                          <a:solidFill>
                            <a:schemeClr val="tx1">
                              <a:lumMod val="65000"/>
                              <a:lumOff val="35000"/>
                            </a:schemeClr>
                          </a:solidFill>
                        </a:rPr>
                        <a:t>Bias Suppression </a:t>
                      </a:r>
                    </a:p>
                  </a:txBody>
                  <a:tcPr/>
                </a:tc>
                <a:tc>
                  <a:txBody>
                    <a:bodyPr/>
                    <a:lstStyle/>
                    <a:p>
                      <a:r>
                        <a:rPr lang="en-GB" sz="1400" i="1" dirty="0">
                          <a:solidFill>
                            <a:schemeClr val="tx1">
                              <a:lumMod val="65000"/>
                              <a:lumOff val="35000"/>
                            </a:schemeClr>
                          </a:solidFill>
                        </a:rPr>
                        <a:t>Free from personal bias, self-interest, or prejudice </a:t>
                      </a:r>
                    </a:p>
                  </a:txBody>
                  <a:tcPr/>
                </a:tc>
                <a:tc>
                  <a:txBody>
                    <a:bodyPr/>
                    <a:lstStyle/>
                    <a:p>
                      <a:r>
                        <a:rPr lang="en-GB" sz="1400" dirty="0">
                          <a:solidFill>
                            <a:schemeClr val="tx1">
                              <a:lumMod val="65000"/>
                              <a:lumOff val="35000"/>
                            </a:schemeClr>
                          </a:solidFill>
                        </a:rPr>
                        <a:t>Protected attributes must not unfairly drive predictions </a:t>
                      </a:r>
                    </a:p>
                  </a:txBody>
                  <a:tcPr/>
                </a:tc>
                <a:extLst>
                  <a:ext uri="{0D108BD9-81ED-4DB2-BD59-A6C34878D82A}">
                    <a16:rowId xmlns:a16="http://schemas.microsoft.com/office/drawing/2014/main" val="3551187529"/>
                  </a:ext>
                </a:extLst>
              </a:tr>
              <a:tr h="370840">
                <a:tc>
                  <a:txBody>
                    <a:bodyPr/>
                    <a:lstStyle/>
                    <a:p>
                      <a:r>
                        <a:rPr lang="en-GB" sz="1400" b="1" dirty="0">
                          <a:solidFill>
                            <a:schemeClr val="tx1">
                              <a:lumMod val="65000"/>
                              <a:lumOff val="35000"/>
                            </a:schemeClr>
                          </a:solidFill>
                        </a:rPr>
                        <a:t>Representativeness </a:t>
                      </a:r>
                    </a:p>
                  </a:txBody>
                  <a:tcPr/>
                </a:tc>
                <a:tc>
                  <a:txBody>
                    <a:bodyPr/>
                    <a:lstStyle/>
                    <a:p>
                      <a:r>
                        <a:rPr lang="en-GB" sz="1400" i="1" dirty="0">
                          <a:solidFill>
                            <a:schemeClr val="tx1">
                              <a:lumMod val="65000"/>
                              <a:lumOff val="35000"/>
                            </a:schemeClr>
                          </a:solidFill>
                        </a:rPr>
                        <a:t>Interest of all affected parties considered </a:t>
                      </a:r>
                    </a:p>
                  </a:txBody>
                  <a:tcPr/>
                </a:tc>
                <a:tc>
                  <a:txBody>
                    <a:bodyPr/>
                    <a:lstStyle/>
                    <a:p>
                      <a:r>
                        <a:rPr lang="en-GB" sz="1400" dirty="0">
                          <a:solidFill>
                            <a:schemeClr val="tx1">
                              <a:lumMod val="65000"/>
                              <a:lumOff val="35000"/>
                            </a:schemeClr>
                          </a:solidFill>
                        </a:rPr>
                        <a:t>Training data must represent all patient subgroups </a:t>
                      </a:r>
                    </a:p>
                  </a:txBody>
                  <a:tcPr/>
                </a:tc>
                <a:extLst>
                  <a:ext uri="{0D108BD9-81ED-4DB2-BD59-A6C34878D82A}">
                    <a16:rowId xmlns:a16="http://schemas.microsoft.com/office/drawing/2014/main" val="2917839049"/>
                  </a:ext>
                </a:extLst>
              </a:tr>
              <a:tr h="370840">
                <a:tc>
                  <a:txBody>
                    <a:bodyPr/>
                    <a:lstStyle/>
                    <a:p>
                      <a:r>
                        <a:rPr lang="en-GB" sz="1400" b="1" dirty="0">
                          <a:solidFill>
                            <a:schemeClr val="tx1">
                              <a:lumMod val="65000"/>
                              <a:lumOff val="35000"/>
                            </a:schemeClr>
                          </a:solidFill>
                        </a:rPr>
                        <a:t>Consistency </a:t>
                      </a:r>
                    </a:p>
                  </a:txBody>
                  <a:tcPr/>
                </a:tc>
                <a:tc>
                  <a:txBody>
                    <a:bodyPr/>
                    <a:lstStyle/>
                    <a:p>
                      <a:r>
                        <a:rPr lang="en-GB" sz="1400" i="1" dirty="0">
                          <a:solidFill>
                            <a:schemeClr val="tx1">
                              <a:lumMod val="65000"/>
                              <a:lumOff val="35000"/>
                            </a:schemeClr>
                          </a:solidFill>
                        </a:rPr>
                        <a:t>Applied consistently across people over time </a:t>
                      </a:r>
                    </a:p>
                  </a:txBody>
                  <a:tcPr/>
                </a:tc>
                <a:tc>
                  <a:txBody>
                    <a:bodyPr/>
                    <a:lstStyle/>
                    <a:p>
                      <a:r>
                        <a:rPr lang="en-GB" sz="1400" dirty="0">
                          <a:solidFill>
                            <a:schemeClr val="tx1">
                              <a:lumMod val="65000"/>
                              <a:lumOff val="35000"/>
                            </a:schemeClr>
                          </a:solidFill>
                        </a:rPr>
                        <a:t>Same logic for all groups; stable over time</a:t>
                      </a:r>
                    </a:p>
                  </a:txBody>
                  <a:tcPr/>
                </a:tc>
                <a:extLst>
                  <a:ext uri="{0D108BD9-81ED-4DB2-BD59-A6C34878D82A}">
                    <a16:rowId xmlns:a16="http://schemas.microsoft.com/office/drawing/2014/main" val="229006898"/>
                  </a:ext>
                </a:extLst>
              </a:tr>
              <a:tr h="370840">
                <a:tc>
                  <a:txBody>
                    <a:bodyPr/>
                    <a:lstStyle/>
                    <a:p>
                      <a:r>
                        <a:rPr lang="en-GB" sz="1400" b="1" dirty="0">
                          <a:solidFill>
                            <a:schemeClr val="tx1">
                              <a:lumMod val="65000"/>
                              <a:lumOff val="35000"/>
                            </a:schemeClr>
                          </a:solidFill>
                        </a:rPr>
                        <a:t>Correctability</a:t>
                      </a:r>
                    </a:p>
                  </a:txBody>
                  <a:tcPr/>
                </a:tc>
                <a:tc>
                  <a:txBody>
                    <a:bodyPr/>
                    <a:lstStyle/>
                    <a:p>
                      <a:r>
                        <a:rPr lang="en-GB" sz="1400" i="1" dirty="0">
                          <a:solidFill>
                            <a:schemeClr val="tx1">
                              <a:lumMod val="65000"/>
                              <a:lumOff val="35000"/>
                            </a:schemeClr>
                          </a:solidFill>
                        </a:rPr>
                        <a:t>Mechanisms to review, appeal, or correct decisions</a:t>
                      </a:r>
                    </a:p>
                  </a:txBody>
                  <a:tcPr/>
                </a:tc>
                <a:tc>
                  <a:txBody>
                    <a:bodyPr/>
                    <a:lstStyle/>
                    <a:p>
                      <a:r>
                        <a:rPr lang="en-GB" sz="1400" dirty="0">
                          <a:solidFill>
                            <a:schemeClr val="tx1">
                              <a:lumMod val="65000"/>
                              <a:lumOff val="35000"/>
                            </a:schemeClr>
                          </a:solidFill>
                        </a:rPr>
                        <a:t>Clinicians can challenge and override; audit trail </a:t>
                      </a:r>
                    </a:p>
                  </a:txBody>
                  <a:tcPr/>
                </a:tc>
                <a:extLst>
                  <a:ext uri="{0D108BD9-81ED-4DB2-BD59-A6C34878D82A}">
                    <a16:rowId xmlns:a16="http://schemas.microsoft.com/office/drawing/2014/main" val="3824120409"/>
                  </a:ext>
                </a:extLst>
              </a:tr>
              <a:tr h="370840">
                <a:tc>
                  <a:txBody>
                    <a:bodyPr/>
                    <a:lstStyle/>
                    <a:p>
                      <a:r>
                        <a:rPr lang="en-GB" sz="1400" b="1" dirty="0">
                          <a:solidFill>
                            <a:schemeClr val="tx1">
                              <a:lumMod val="65000"/>
                              <a:lumOff val="35000"/>
                            </a:schemeClr>
                          </a:solidFill>
                        </a:rPr>
                        <a:t>Ethicality </a:t>
                      </a:r>
                    </a:p>
                  </a:txBody>
                  <a:tcPr/>
                </a:tc>
                <a:tc>
                  <a:txBody>
                    <a:bodyPr/>
                    <a:lstStyle/>
                    <a:p>
                      <a:r>
                        <a:rPr lang="en-GB" sz="1400" i="1" dirty="0">
                          <a:solidFill>
                            <a:schemeClr val="tx1">
                              <a:lumMod val="65000"/>
                              <a:lumOff val="35000"/>
                            </a:schemeClr>
                          </a:solidFill>
                        </a:rPr>
                        <a:t>Compatible with fundamental moral and ethical values </a:t>
                      </a:r>
                    </a:p>
                  </a:txBody>
                  <a:tcPr/>
                </a:tc>
                <a:tc>
                  <a:txBody>
                    <a:bodyPr/>
                    <a:lstStyle/>
                    <a:p>
                      <a:r>
                        <a:rPr lang="en-GB" sz="1400" dirty="0">
                          <a:solidFill>
                            <a:schemeClr val="tx1">
                              <a:lumMod val="65000"/>
                              <a:lumOff val="35000"/>
                            </a:schemeClr>
                          </a:solidFill>
                        </a:rPr>
                        <a:t>Respect patient rights, and meet all ethical and legal standards </a:t>
                      </a:r>
                    </a:p>
                  </a:txBody>
                  <a:tcPr/>
                </a:tc>
                <a:extLst>
                  <a:ext uri="{0D108BD9-81ED-4DB2-BD59-A6C34878D82A}">
                    <a16:rowId xmlns:a16="http://schemas.microsoft.com/office/drawing/2014/main" val="2841332434"/>
                  </a:ext>
                </a:extLst>
              </a:tr>
            </a:tbl>
          </a:graphicData>
        </a:graphic>
      </p:graphicFrame>
    </p:spTree>
    <p:extLst>
      <p:ext uri="{BB962C8B-B14F-4D97-AF65-F5344CB8AC3E}">
        <p14:creationId xmlns:p14="http://schemas.microsoft.com/office/powerpoint/2010/main" val="3615913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8F9"/>
        </a:solidFill>
        <a:effectLst/>
      </p:bgPr>
    </p:bg>
    <p:spTree>
      <p:nvGrpSpPr>
        <p:cNvPr id="1" name=""/>
        <p:cNvGrpSpPr/>
        <p:nvPr/>
      </p:nvGrpSpPr>
      <p:grpSpPr>
        <a:xfrm>
          <a:off x="0" y="0"/>
          <a:ext cx="0" cy="0"/>
          <a:chOff x="0" y="0"/>
          <a:chExt cx="0" cy="0"/>
        </a:xfrm>
      </p:grpSpPr>
      <p:sp>
        <p:nvSpPr>
          <p:cNvPr id="5" name="Text 3"/>
          <p:cNvSpPr/>
          <p:nvPr/>
        </p:nvSpPr>
        <p:spPr>
          <a:xfrm>
            <a:off x="685800" y="613898"/>
            <a:ext cx="11874500" cy="387350"/>
          </a:xfrm>
          <a:prstGeom prst="rect">
            <a:avLst/>
          </a:prstGeom>
          <a:noFill/>
          <a:ln/>
        </p:spPr>
        <p:txBody>
          <a:bodyPr wrap="square" lIns="16933" tIns="16933" rIns="16933" bIns="16933" rtlCol="0" anchor="t">
            <a:noAutofit/>
          </a:bodyPr>
          <a:lstStyle/>
          <a:p>
            <a:r>
              <a:rPr lang="en-US" sz="3000" b="1" dirty="0">
                <a:latin typeface="Georgia" panose="02040502050405020303" pitchFamily="18" charset="0"/>
              </a:rPr>
              <a:t>Setting the bar for each criterion </a:t>
            </a:r>
          </a:p>
        </p:txBody>
      </p:sp>
      <p:sp>
        <p:nvSpPr>
          <p:cNvPr id="6" name="Text 4"/>
          <p:cNvSpPr/>
          <p:nvPr/>
        </p:nvSpPr>
        <p:spPr>
          <a:xfrm>
            <a:off x="698500" y="1098550"/>
            <a:ext cx="11874500" cy="196850"/>
          </a:xfrm>
          <a:prstGeom prst="rect">
            <a:avLst/>
          </a:prstGeom>
          <a:noFill/>
          <a:ln/>
        </p:spPr>
        <p:txBody>
          <a:bodyPr wrap="square" lIns="16933" tIns="16933" rIns="16933" bIns="16933" rtlCol="0" anchor="t">
            <a:normAutofit fontScale="92500" lnSpcReduction="20000"/>
          </a:bodyPr>
          <a:lstStyle/>
          <a:p>
            <a:r>
              <a:rPr lang="en-US" sz="1400" dirty="0">
                <a:solidFill>
                  <a:srgbClr val="666666"/>
                </a:solidFill>
                <a:ea typeface="Manrope" pitchFamily="34" charset="-122"/>
                <a:cs typeface="Manrope" pitchFamily="34" charset="-120"/>
              </a:rPr>
              <a:t>Six criteria, each with a measured bar and a clear reason it sits where it does</a:t>
            </a:r>
            <a:r>
              <a:rPr lang="en-US" sz="1000" dirty="0">
                <a:solidFill>
                  <a:srgbClr val="666666"/>
                </a:solidFill>
                <a:latin typeface="Manrope" pitchFamily="34" charset="0"/>
                <a:ea typeface="Manrope" pitchFamily="34" charset="-122"/>
                <a:cs typeface="Manrope" pitchFamily="34" charset="-120"/>
              </a:rPr>
              <a:t>.</a:t>
            </a:r>
            <a:endParaRPr lang="en-US" sz="1000" dirty="0"/>
          </a:p>
        </p:txBody>
      </p:sp>
      <p:sp>
        <p:nvSpPr>
          <p:cNvPr id="7" name="Shape 5"/>
          <p:cNvSpPr/>
          <p:nvPr/>
        </p:nvSpPr>
        <p:spPr>
          <a:xfrm>
            <a:off x="698500" y="1447800"/>
            <a:ext cx="10795000" cy="4762500"/>
          </a:xfrm>
          <a:prstGeom prst="roundRect">
            <a:avLst>
              <a:gd name="adj" fmla="val 3200"/>
            </a:avLst>
          </a:prstGeom>
          <a:solidFill>
            <a:srgbClr val="FFFFFF"/>
          </a:solidFill>
          <a:ln/>
          <a:effectLst>
            <a:glow>
              <a:schemeClr val="accent1">
                <a:alpha val="40000"/>
              </a:schemeClr>
            </a:glow>
            <a:outerShdw blurRad="571500" dist="190500" dir="5400000" sx="104000" sy="104000" algn="bl" rotWithShape="0">
              <a:srgbClr val="C9748F">
                <a:alpha val="31000"/>
              </a:srgbClr>
            </a:outerShdw>
          </a:effectLst>
        </p:spPr>
        <p:txBody>
          <a:bodyPr/>
          <a:lstStyle/>
          <a:p>
            <a:endParaRPr lang="en-GB" sz="1200"/>
          </a:p>
        </p:txBody>
      </p:sp>
      <p:sp>
        <p:nvSpPr>
          <p:cNvPr id="8" name="Shape 6"/>
          <p:cNvSpPr/>
          <p:nvPr/>
        </p:nvSpPr>
        <p:spPr>
          <a:xfrm>
            <a:off x="698500" y="1388678"/>
            <a:ext cx="10795000" cy="368300"/>
          </a:xfrm>
          <a:prstGeom prst="rect">
            <a:avLst/>
          </a:prstGeom>
          <a:solidFill>
            <a:srgbClr val="C9748F"/>
          </a:solidFill>
          <a:ln/>
        </p:spPr>
        <p:txBody>
          <a:bodyPr/>
          <a:lstStyle/>
          <a:p>
            <a:endParaRPr lang="en-GB" dirty="0">
              <a:solidFill>
                <a:srgbClr val="C9748F"/>
              </a:solidFill>
              <a:latin typeface="+mj-lt"/>
            </a:endParaRPr>
          </a:p>
        </p:txBody>
      </p:sp>
      <p:sp>
        <p:nvSpPr>
          <p:cNvPr id="9" name="Text 7"/>
          <p:cNvSpPr/>
          <p:nvPr/>
        </p:nvSpPr>
        <p:spPr>
          <a:xfrm>
            <a:off x="990600" y="1439490"/>
            <a:ext cx="2737574" cy="165100"/>
          </a:xfrm>
          <a:prstGeom prst="rect">
            <a:avLst/>
          </a:prstGeom>
          <a:noFill/>
          <a:ln/>
        </p:spPr>
        <p:txBody>
          <a:bodyPr wrap="square" lIns="16933" tIns="16933" rIns="16933" bIns="16933" rtlCol="0" anchor="t">
            <a:noAutofit/>
          </a:bodyPr>
          <a:lstStyle/>
          <a:p>
            <a:r>
              <a:rPr lang="en-US" b="1" kern="0" spc="75" dirty="0">
                <a:solidFill>
                  <a:srgbClr val="FFFFFF"/>
                </a:solidFill>
                <a:latin typeface="+mj-lt"/>
                <a:ea typeface="Manrope" pitchFamily="34" charset="-122"/>
                <a:cs typeface="Manrope" pitchFamily="34" charset="-120"/>
              </a:rPr>
              <a:t>CRITERION</a:t>
            </a:r>
            <a:endParaRPr lang="en-US" dirty="0">
              <a:latin typeface="+mj-lt"/>
            </a:endParaRPr>
          </a:p>
        </p:txBody>
      </p:sp>
      <p:sp>
        <p:nvSpPr>
          <p:cNvPr id="10" name="Text 8"/>
          <p:cNvSpPr/>
          <p:nvPr/>
        </p:nvSpPr>
        <p:spPr>
          <a:xfrm>
            <a:off x="3471728" y="1431294"/>
            <a:ext cx="3102759" cy="165100"/>
          </a:xfrm>
          <a:prstGeom prst="rect">
            <a:avLst/>
          </a:prstGeom>
          <a:noFill/>
          <a:ln/>
        </p:spPr>
        <p:txBody>
          <a:bodyPr wrap="square" lIns="16933" tIns="16933" rIns="16933" bIns="16933" rtlCol="0" anchor="t">
            <a:noAutofit/>
          </a:bodyPr>
          <a:lstStyle/>
          <a:p>
            <a:r>
              <a:rPr lang="en-US" b="1" kern="0" spc="75" dirty="0">
                <a:solidFill>
                  <a:srgbClr val="FFFFFF"/>
                </a:solidFill>
                <a:latin typeface="+mj-lt"/>
                <a:ea typeface="Manrope" pitchFamily="34" charset="-122"/>
                <a:cs typeface="Manrope" pitchFamily="34" charset="-120"/>
              </a:rPr>
              <a:t>MEASURED BY</a:t>
            </a:r>
            <a:endParaRPr lang="en-US" dirty="0">
              <a:latin typeface="+mj-lt"/>
            </a:endParaRPr>
          </a:p>
        </p:txBody>
      </p:sp>
      <p:sp>
        <p:nvSpPr>
          <p:cNvPr id="11" name="Text 9"/>
          <p:cNvSpPr/>
          <p:nvPr/>
        </p:nvSpPr>
        <p:spPr>
          <a:xfrm>
            <a:off x="5678893" y="1419849"/>
            <a:ext cx="2332814" cy="199003"/>
          </a:xfrm>
          <a:prstGeom prst="rect">
            <a:avLst/>
          </a:prstGeom>
          <a:noFill/>
          <a:ln/>
        </p:spPr>
        <p:txBody>
          <a:bodyPr wrap="square" lIns="16933" tIns="16933" rIns="16933" bIns="16933" rtlCol="0" anchor="t">
            <a:noAutofit/>
          </a:bodyPr>
          <a:lstStyle/>
          <a:p>
            <a:r>
              <a:rPr lang="en-US" b="1" kern="0" spc="75" dirty="0">
                <a:solidFill>
                  <a:srgbClr val="FFFFFF"/>
                </a:solidFill>
                <a:latin typeface="+mj-lt"/>
                <a:ea typeface="Manrope" pitchFamily="34" charset="-122"/>
                <a:cs typeface="Manrope" pitchFamily="34" charset="-120"/>
              </a:rPr>
              <a:t>PASS THRESHOLD</a:t>
            </a:r>
            <a:endParaRPr lang="en-US" dirty="0">
              <a:latin typeface="+mj-lt"/>
            </a:endParaRPr>
          </a:p>
        </p:txBody>
      </p:sp>
      <p:sp>
        <p:nvSpPr>
          <p:cNvPr id="12" name="Text 10"/>
          <p:cNvSpPr/>
          <p:nvPr/>
        </p:nvSpPr>
        <p:spPr>
          <a:xfrm>
            <a:off x="7843183" y="1420916"/>
            <a:ext cx="3650317" cy="165100"/>
          </a:xfrm>
          <a:prstGeom prst="rect">
            <a:avLst/>
          </a:prstGeom>
          <a:noFill/>
          <a:ln/>
        </p:spPr>
        <p:txBody>
          <a:bodyPr wrap="square" lIns="16933" tIns="16933" rIns="16933" bIns="16933" rtlCol="0" anchor="t">
            <a:noAutofit/>
          </a:bodyPr>
          <a:lstStyle/>
          <a:p>
            <a:r>
              <a:rPr lang="en-US" b="1" kern="0" spc="75" dirty="0">
                <a:solidFill>
                  <a:srgbClr val="FFFFFF"/>
                </a:solidFill>
                <a:latin typeface="+mj-lt"/>
                <a:ea typeface="Manrope" pitchFamily="34" charset="-122"/>
                <a:cs typeface="Manrope" pitchFamily="34" charset="-120"/>
              </a:rPr>
              <a:t>WHERE THE BAR COMES FROM</a:t>
            </a:r>
            <a:endParaRPr lang="en-US" dirty="0">
              <a:latin typeface="+mj-lt"/>
            </a:endParaRPr>
          </a:p>
        </p:txBody>
      </p:sp>
      <p:sp>
        <p:nvSpPr>
          <p:cNvPr id="13" name="Shape 11"/>
          <p:cNvSpPr/>
          <p:nvPr/>
        </p:nvSpPr>
        <p:spPr>
          <a:xfrm>
            <a:off x="698500" y="1816100"/>
            <a:ext cx="10795000" cy="732333"/>
          </a:xfrm>
          <a:prstGeom prst="rect">
            <a:avLst/>
          </a:prstGeom>
          <a:solidFill>
            <a:srgbClr val="FFFFFF"/>
          </a:solidFill>
          <a:ln/>
        </p:spPr>
        <p:txBody>
          <a:bodyPr/>
          <a:lstStyle/>
          <a:p>
            <a:endParaRPr lang="en-GB" sz="1200"/>
          </a:p>
        </p:txBody>
      </p:sp>
      <p:sp>
        <p:nvSpPr>
          <p:cNvPr id="14" name="Shape 12"/>
          <p:cNvSpPr/>
          <p:nvPr/>
        </p:nvSpPr>
        <p:spPr>
          <a:xfrm>
            <a:off x="698500" y="2542084"/>
            <a:ext cx="10795000" cy="6350"/>
          </a:xfrm>
          <a:prstGeom prst="rect">
            <a:avLst/>
          </a:prstGeom>
          <a:solidFill>
            <a:srgbClr val="FBEEF1"/>
          </a:solidFill>
          <a:ln/>
        </p:spPr>
        <p:txBody>
          <a:bodyPr/>
          <a:lstStyle/>
          <a:p>
            <a:endParaRPr lang="en-GB" sz="1200"/>
          </a:p>
        </p:txBody>
      </p:sp>
      <p:sp>
        <p:nvSpPr>
          <p:cNvPr id="15" name="Shape 13"/>
          <p:cNvSpPr/>
          <p:nvPr/>
        </p:nvSpPr>
        <p:spPr>
          <a:xfrm rot="2700000">
            <a:off x="952500" y="2140942"/>
            <a:ext cx="76200" cy="76200"/>
          </a:xfrm>
          <a:prstGeom prst="roundRect">
            <a:avLst>
              <a:gd name="adj" fmla="val 33333"/>
            </a:avLst>
          </a:prstGeom>
          <a:solidFill>
            <a:srgbClr val="C9748F"/>
          </a:solidFill>
          <a:ln/>
        </p:spPr>
        <p:txBody>
          <a:bodyPr/>
          <a:lstStyle/>
          <a:p>
            <a:endParaRPr lang="en-GB" sz="1200"/>
          </a:p>
        </p:txBody>
      </p:sp>
      <p:sp>
        <p:nvSpPr>
          <p:cNvPr id="16" name="Text 14"/>
          <p:cNvSpPr/>
          <p:nvPr/>
        </p:nvSpPr>
        <p:spPr>
          <a:xfrm>
            <a:off x="1104900" y="2090142"/>
            <a:ext cx="973275" cy="142782"/>
          </a:xfrm>
          <a:prstGeom prst="rect">
            <a:avLst/>
          </a:prstGeom>
          <a:noFill/>
          <a:ln/>
        </p:spPr>
        <p:txBody>
          <a:bodyPr wrap="square" lIns="16933" tIns="16933" rIns="16933" bIns="16933" rtlCol="0" anchor="t">
            <a:noAutofit/>
          </a:bodyPr>
          <a:lstStyle/>
          <a:p>
            <a:r>
              <a:rPr lang="en-US" sz="1600" b="1" dirty="0">
                <a:solidFill>
                  <a:srgbClr val="C9748F"/>
                </a:solidFill>
                <a:latin typeface="Manrope" pitchFamily="34" charset="0"/>
                <a:ea typeface="Manrope" pitchFamily="34" charset="-122"/>
                <a:cs typeface="Manrope" pitchFamily="34" charset="-120"/>
              </a:rPr>
              <a:t>Accuracy</a:t>
            </a:r>
            <a:endParaRPr lang="en-US" sz="1600" dirty="0"/>
          </a:p>
        </p:txBody>
      </p:sp>
      <p:sp>
        <p:nvSpPr>
          <p:cNvPr id="17" name="Text 15"/>
          <p:cNvSpPr/>
          <p:nvPr/>
        </p:nvSpPr>
        <p:spPr>
          <a:xfrm>
            <a:off x="3441204" y="2096492"/>
            <a:ext cx="3102759" cy="190500"/>
          </a:xfrm>
          <a:prstGeom prst="rect">
            <a:avLst/>
          </a:prstGeom>
          <a:noFill/>
          <a:ln/>
        </p:spPr>
        <p:txBody>
          <a:bodyPr wrap="square" lIns="16933" tIns="16933" rIns="16933" bIns="16933" rtlCol="0" anchor="t">
            <a:noAutofit/>
          </a:bodyPr>
          <a:lstStyle/>
          <a:p>
            <a:r>
              <a:rPr lang="en-US" sz="1200" dirty="0">
                <a:solidFill>
                  <a:srgbClr val="1A1A1A"/>
                </a:solidFill>
                <a:ea typeface="Manrope" pitchFamily="34" charset="-122"/>
                <a:cs typeface="Manrope" pitchFamily="34" charset="-120"/>
              </a:rPr>
              <a:t>AUC-ROC</a:t>
            </a:r>
            <a:endParaRPr lang="en-US" sz="1200" dirty="0"/>
          </a:p>
        </p:txBody>
      </p:sp>
      <p:sp>
        <p:nvSpPr>
          <p:cNvPr id="18" name="Shape 16"/>
          <p:cNvSpPr/>
          <p:nvPr/>
        </p:nvSpPr>
        <p:spPr>
          <a:xfrm>
            <a:off x="6261894" y="2061568"/>
            <a:ext cx="583406" cy="234950"/>
          </a:xfrm>
          <a:prstGeom prst="roundRect">
            <a:avLst>
              <a:gd name="adj" fmla="val 50000"/>
            </a:avLst>
          </a:prstGeom>
          <a:solidFill>
            <a:srgbClr val="FBEEF1"/>
          </a:solidFill>
          <a:ln/>
        </p:spPr>
        <p:txBody>
          <a:bodyPr/>
          <a:lstStyle/>
          <a:p>
            <a:endParaRPr lang="en-GB" sz="1200"/>
          </a:p>
        </p:txBody>
      </p:sp>
      <p:sp>
        <p:nvSpPr>
          <p:cNvPr id="19" name="Text 17"/>
          <p:cNvSpPr/>
          <p:nvPr/>
        </p:nvSpPr>
        <p:spPr>
          <a:xfrm>
            <a:off x="6363494" y="2093318"/>
            <a:ext cx="431006" cy="196850"/>
          </a:xfrm>
          <a:prstGeom prst="rect">
            <a:avLst/>
          </a:prstGeom>
          <a:noFill/>
          <a:ln/>
        </p:spPr>
        <p:txBody>
          <a:bodyPr wrap="square" lIns="16933" tIns="16933" rIns="16933" bIns="16933" rtlCol="0" anchor="t">
            <a:noAutofit/>
          </a:bodyPr>
          <a:lstStyle/>
          <a:p>
            <a:r>
              <a:rPr lang="en-US" sz="1200" b="1" dirty="0">
                <a:solidFill>
                  <a:srgbClr val="1A1A1A"/>
                </a:solidFill>
                <a:ea typeface="Manrope" pitchFamily="34" charset="-122"/>
                <a:cs typeface="Manrope" pitchFamily="34" charset="-120"/>
              </a:rPr>
              <a:t>≥ 0.80</a:t>
            </a:r>
            <a:endParaRPr lang="en-US" sz="1200" dirty="0"/>
          </a:p>
        </p:txBody>
      </p:sp>
      <p:sp>
        <p:nvSpPr>
          <p:cNvPr id="20" name="Text 18"/>
          <p:cNvSpPr/>
          <p:nvPr/>
        </p:nvSpPr>
        <p:spPr>
          <a:xfrm>
            <a:off x="7921030" y="2104827"/>
            <a:ext cx="3650317" cy="173931"/>
          </a:xfrm>
          <a:prstGeom prst="rect">
            <a:avLst/>
          </a:prstGeom>
          <a:noFill/>
          <a:ln/>
        </p:spPr>
        <p:txBody>
          <a:bodyPr wrap="square" lIns="16933" tIns="16933" rIns="16933" bIns="16933" rtlCol="0" anchor="t">
            <a:noAutofit/>
          </a:bodyPr>
          <a:lstStyle/>
          <a:p>
            <a:pPr>
              <a:lnSpc>
                <a:spcPct val="97500"/>
              </a:lnSpc>
            </a:pPr>
            <a:r>
              <a:rPr lang="en-US" sz="1200" dirty="0">
                <a:solidFill>
                  <a:srgbClr val="666666"/>
                </a:solidFill>
                <a:ea typeface="Manrope" pitchFamily="34" charset="-122"/>
                <a:cs typeface="Manrope" pitchFamily="34" charset="-120"/>
              </a:rPr>
              <a:t>Established convention (Mandrekar, 2010)</a:t>
            </a:r>
            <a:endParaRPr lang="en-US" sz="1200" dirty="0"/>
          </a:p>
        </p:txBody>
      </p:sp>
      <p:sp>
        <p:nvSpPr>
          <p:cNvPr id="21" name="Shape 19"/>
          <p:cNvSpPr/>
          <p:nvPr/>
        </p:nvSpPr>
        <p:spPr>
          <a:xfrm>
            <a:off x="698500" y="2548434"/>
            <a:ext cx="10795000" cy="732433"/>
          </a:xfrm>
          <a:prstGeom prst="rect">
            <a:avLst/>
          </a:prstGeom>
          <a:solidFill>
            <a:srgbClr val="FBEEF1"/>
          </a:solidFill>
          <a:ln/>
        </p:spPr>
        <p:txBody>
          <a:bodyPr/>
          <a:lstStyle/>
          <a:p>
            <a:endParaRPr lang="en-GB" sz="1200"/>
          </a:p>
        </p:txBody>
      </p:sp>
      <p:sp>
        <p:nvSpPr>
          <p:cNvPr id="22" name="Shape 20"/>
          <p:cNvSpPr/>
          <p:nvPr/>
        </p:nvSpPr>
        <p:spPr>
          <a:xfrm>
            <a:off x="698500" y="3274517"/>
            <a:ext cx="10795000" cy="6350"/>
          </a:xfrm>
          <a:prstGeom prst="rect">
            <a:avLst/>
          </a:prstGeom>
          <a:solidFill>
            <a:srgbClr val="FBEEF1"/>
          </a:solidFill>
          <a:ln/>
        </p:spPr>
        <p:txBody>
          <a:bodyPr/>
          <a:lstStyle/>
          <a:p>
            <a:endParaRPr lang="en-GB" sz="1200"/>
          </a:p>
        </p:txBody>
      </p:sp>
      <p:sp>
        <p:nvSpPr>
          <p:cNvPr id="23" name="Shape 21"/>
          <p:cNvSpPr/>
          <p:nvPr/>
        </p:nvSpPr>
        <p:spPr>
          <a:xfrm rot="2700000">
            <a:off x="952500" y="2873375"/>
            <a:ext cx="76200" cy="76200"/>
          </a:xfrm>
          <a:prstGeom prst="roundRect">
            <a:avLst>
              <a:gd name="adj" fmla="val 33333"/>
            </a:avLst>
          </a:prstGeom>
          <a:solidFill>
            <a:srgbClr val="C9748F"/>
          </a:solidFill>
          <a:ln/>
        </p:spPr>
        <p:txBody>
          <a:bodyPr/>
          <a:lstStyle/>
          <a:p>
            <a:endParaRPr lang="en-GB" sz="1200"/>
          </a:p>
        </p:txBody>
      </p:sp>
      <p:sp>
        <p:nvSpPr>
          <p:cNvPr id="24" name="Text 22"/>
          <p:cNvSpPr/>
          <p:nvPr/>
        </p:nvSpPr>
        <p:spPr>
          <a:xfrm>
            <a:off x="1104900" y="2822575"/>
            <a:ext cx="1800789" cy="142782"/>
          </a:xfrm>
          <a:prstGeom prst="rect">
            <a:avLst/>
          </a:prstGeom>
          <a:noFill/>
          <a:ln/>
        </p:spPr>
        <p:txBody>
          <a:bodyPr wrap="square" lIns="16933" tIns="16933" rIns="16933" bIns="16933" rtlCol="0" anchor="t">
            <a:noAutofit/>
          </a:bodyPr>
          <a:lstStyle/>
          <a:p>
            <a:r>
              <a:rPr lang="en-US" sz="1600" b="1" dirty="0">
                <a:solidFill>
                  <a:srgbClr val="C9748F"/>
                </a:solidFill>
                <a:latin typeface="Manrope" pitchFamily="34" charset="0"/>
                <a:ea typeface="Manrope" pitchFamily="34" charset="-122"/>
                <a:cs typeface="Manrope" pitchFamily="34" charset="-120"/>
              </a:rPr>
              <a:t>Bias suppression</a:t>
            </a:r>
            <a:endParaRPr lang="en-US" sz="1600" dirty="0"/>
          </a:p>
        </p:txBody>
      </p:sp>
      <p:sp>
        <p:nvSpPr>
          <p:cNvPr id="25" name="Text 23"/>
          <p:cNvSpPr/>
          <p:nvPr/>
        </p:nvSpPr>
        <p:spPr>
          <a:xfrm>
            <a:off x="3441204" y="2828925"/>
            <a:ext cx="3102759" cy="190500"/>
          </a:xfrm>
          <a:prstGeom prst="rect">
            <a:avLst/>
          </a:prstGeom>
          <a:noFill/>
          <a:ln/>
        </p:spPr>
        <p:txBody>
          <a:bodyPr wrap="square" lIns="16933" tIns="16933" rIns="16933" bIns="16933" rtlCol="0" anchor="t">
            <a:noAutofit/>
          </a:bodyPr>
          <a:lstStyle/>
          <a:p>
            <a:r>
              <a:rPr lang="en-US" sz="1200" dirty="0">
                <a:solidFill>
                  <a:srgbClr val="1A1A1A"/>
                </a:solidFill>
                <a:ea typeface="Manrope" pitchFamily="34" charset="-122"/>
                <a:cs typeface="Manrope" pitchFamily="34" charset="-120"/>
              </a:rPr>
              <a:t>Parity &amp; equalised odds diff.</a:t>
            </a:r>
            <a:endParaRPr lang="en-US" sz="1200" dirty="0"/>
          </a:p>
        </p:txBody>
      </p:sp>
      <p:sp>
        <p:nvSpPr>
          <p:cNvPr id="26" name="Shape 24"/>
          <p:cNvSpPr/>
          <p:nvPr/>
        </p:nvSpPr>
        <p:spPr>
          <a:xfrm>
            <a:off x="6261894" y="2797175"/>
            <a:ext cx="917972" cy="228600"/>
          </a:xfrm>
          <a:prstGeom prst="roundRect">
            <a:avLst>
              <a:gd name="adj" fmla="val 50000"/>
            </a:avLst>
          </a:prstGeom>
          <a:solidFill>
            <a:srgbClr val="FBEEF1"/>
          </a:solidFill>
          <a:ln/>
        </p:spPr>
        <p:txBody>
          <a:bodyPr/>
          <a:lstStyle/>
          <a:p>
            <a:endParaRPr lang="en-GB" sz="1200"/>
          </a:p>
        </p:txBody>
      </p:sp>
      <p:sp>
        <p:nvSpPr>
          <p:cNvPr id="27" name="Text 25"/>
          <p:cNvSpPr/>
          <p:nvPr/>
        </p:nvSpPr>
        <p:spPr>
          <a:xfrm>
            <a:off x="6219130" y="2848283"/>
            <a:ext cx="917972" cy="196850"/>
          </a:xfrm>
          <a:prstGeom prst="rect">
            <a:avLst/>
          </a:prstGeom>
          <a:noFill/>
          <a:ln/>
        </p:spPr>
        <p:txBody>
          <a:bodyPr wrap="square" lIns="16933" tIns="16933" rIns="16933" bIns="16933" rtlCol="0" anchor="t">
            <a:noAutofit/>
          </a:bodyPr>
          <a:lstStyle/>
          <a:p>
            <a:r>
              <a:rPr lang="en-US" sz="1200" b="1" dirty="0">
                <a:solidFill>
                  <a:srgbClr val="1A1A1A"/>
                </a:solidFill>
                <a:ea typeface="Manrope" pitchFamily="34" charset="-122"/>
                <a:cs typeface="Manrope" pitchFamily="34" charset="-120"/>
              </a:rPr>
              <a:t>within ±0.10</a:t>
            </a:r>
            <a:endParaRPr lang="en-US" sz="1200" dirty="0"/>
          </a:p>
        </p:txBody>
      </p:sp>
      <p:sp>
        <p:nvSpPr>
          <p:cNvPr id="28" name="Text 26"/>
          <p:cNvSpPr/>
          <p:nvPr/>
        </p:nvSpPr>
        <p:spPr>
          <a:xfrm>
            <a:off x="7921030" y="2837160"/>
            <a:ext cx="3650317" cy="173931"/>
          </a:xfrm>
          <a:prstGeom prst="rect">
            <a:avLst/>
          </a:prstGeom>
          <a:noFill/>
          <a:ln/>
        </p:spPr>
        <p:txBody>
          <a:bodyPr wrap="square" lIns="16933" tIns="16933" rIns="16933" bIns="16933" rtlCol="0" anchor="t">
            <a:noAutofit/>
          </a:bodyPr>
          <a:lstStyle/>
          <a:p>
            <a:pPr>
              <a:lnSpc>
                <a:spcPct val="97500"/>
              </a:lnSpc>
            </a:pPr>
            <a:r>
              <a:rPr lang="en-US" sz="1200" dirty="0">
                <a:solidFill>
                  <a:srgbClr val="666666"/>
                </a:solidFill>
                <a:ea typeface="Manrope" pitchFamily="34" charset="-122"/>
                <a:cs typeface="Manrope" pitchFamily="34" charset="-120"/>
              </a:rPr>
              <a:t>Researcher-defined benchmark</a:t>
            </a:r>
            <a:endParaRPr lang="en-US" sz="1200" dirty="0"/>
          </a:p>
        </p:txBody>
      </p:sp>
      <p:sp>
        <p:nvSpPr>
          <p:cNvPr id="29" name="Shape 27"/>
          <p:cNvSpPr/>
          <p:nvPr/>
        </p:nvSpPr>
        <p:spPr>
          <a:xfrm>
            <a:off x="698500" y="3280867"/>
            <a:ext cx="10795000" cy="732333"/>
          </a:xfrm>
          <a:prstGeom prst="rect">
            <a:avLst/>
          </a:prstGeom>
          <a:solidFill>
            <a:srgbClr val="FFFFFF"/>
          </a:solidFill>
          <a:ln/>
        </p:spPr>
        <p:txBody>
          <a:bodyPr/>
          <a:lstStyle/>
          <a:p>
            <a:endParaRPr lang="en-GB" sz="1200"/>
          </a:p>
        </p:txBody>
      </p:sp>
      <p:sp>
        <p:nvSpPr>
          <p:cNvPr id="30" name="Shape 28"/>
          <p:cNvSpPr/>
          <p:nvPr/>
        </p:nvSpPr>
        <p:spPr>
          <a:xfrm>
            <a:off x="698500" y="4006850"/>
            <a:ext cx="10795000" cy="6350"/>
          </a:xfrm>
          <a:prstGeom prst="rect">
            <a:avLst/>
          </a:prstGeom>
          <a:solidFill>
            <a:srgbClr val="FBEEF1"/>
          </a:solidFill>
          <a:ln/>
        </p:spPr>
        <p:txBody>
          <a:bodyPr/>
          <a:lstStyle/>
          <a:p>
            <a:endParaRPr lang="en-GB" sz="1200"/>
          </a:p>
        </p:txBody>
      </p:sp>
      <p:sp>
        <p:nvSpPr>
          <p:cNvPr id="31" name="Shape 29"/>
          <p:cNvSpPr/>
          <p:nvPr/>
        </p:nvSpPr>
        <p:spPr>
          <a:xfrm rot="2700000">
            <a:off x="952500" y="3605709"/>
            <a:ext cx="76200" cy="76200"/>
          </a:xfrm>
          <a:prstGeom prst="roundRect">
            <a:avLst>
              <a:gd name="adj" fmla="val 33333"/>
            </a:avLst>
          </a:prstGeom>
          <a:solidFill>
            <a:srgbClr val="C9748F"/>
          </a:solidFill>
          <a:ln/>
        </p:spPr>
        <p:txBody>
          <a:bodyPr/>
          <a:lstStyle/>
          <a:p>
            <a:endParaRPr lang="en-GB" sz="1200"/>
          </a:p>
        </p:txBody>
      </p:sp>
      <p:sp>
        <p:nvSpPr>
          <p:cNvPr id="32" name="Text 30"/>
          <p:cNvSpPr/>
          <p:nvPr/>
        </p:nvSpPr>
        <p:spPr>
          <a:xfrm>
            <a:off x="1104901" y="3554909"/>
            <a:ext cx="2135015" cy="142782"/>
          </a:xfrm>
          <a:prstGeom prst="rect">
            <a:avLst/>
          </a:prstGeom>
          <a:noFill/>
          <a:ln/>
        </p:spPr>
        <p:txBody>
          <a:bodyPr wrap="square" lIns="16933" tIns="16933" rIns="16933" bIns="16933" rtlCol="0" anchor="t">
            <a:noAutofit/>
          </a:bodyPr>
          <a:lstStyle/>
          <a:p>
            <a:r>
              <a:rPr lang="en-US" sz="1600" b="1" dirty="0">
                <a:solidFill>
                  <a:srgbClr val="C9748F"/>
                </a:solidFill>
                <a:latin typeface="Manrope" pitchFamily="34" charset="0"/>
                <a:ea typeface="Manrope" pitchFamily="34" charset="-122"/>
                <a:cs typeface="Manrope" pitchFamily="34" charset="-120"/>
              </a:rPr>
              <a:t>Representativeness</a:t>
            </a:r>
            <a:endParaRPr lang="en-US" sz="1600" dirty="0"/>
          </a:p>
        </p:txBody>
      </p:sp>
      <p:sp>
        <p:nvSpPr>
          <p:cNvPr id="33" name="Text 31"/>
          <p:cNvSpPr/>
          <p:nvPr/>
        </p:nvSpPr>
        <p:spPr>
          <a:xfrm>
            <a:off x="3441204" y="3561259"/>
            <a:ext cx="3102759" cy="190500"/>
          </a:xfrm>
          <a:prstGeom prst="rect">
            <a:avLst/>
          </a:prstGeom>
          <a:noFill/>
          <a:ln/>
        </p:spPr>
        <p:txBody>
          <a:bodyPr wrap="square" lIns="16933" tIns="16933" rIns="16933" bIns="16933" rtlCol="0" anchor="t">
            <a:noAutofit/>
          </a:bodyPr>
          <a:lstStyle/>
          <a:p>
            <a:r>
              <a:rPr lang="en-US" sz="1200" dirty="0">
                <a:solidFill>
                  <a:srgbClr val="1A1A1A"/>
                </a:solidFill>
                <a:ea typeface="Manrope" pitchFamily="34" charset="-122"/>
                <a:cs typeface="Manrope" pitchFamily="34" charset="-120"/>
              </a:rPr>
              <a:t>Representation ratio</a:t>
            </a:r>
            <a:endParaRPr lang="en-US" sz="1200" dirty="0"/>
          </a:p>
        </p:txBody>
      </p:sp>
      <p:sp>
        <p:nvSpPr>
          <p:cNvPr id="34" name="Shape 32"/>
          <p:cNvSpPr/>
          <p:nvPr/>
        </p:nvSpPr>
        <p:spPr>
          <a:xfrm>
            <a:off x="6261894" y="3526334"/>
            <a:ext cx="583406" cy="234950"/>
          </a:xfrm>
          <a:prstGeom prst="roundRect">
            <a:avLst>
              <a:gd name="adj" fmla="val 50000"/>
            </a:avLst>
          </a:prstGeom>
          <a:solidFill>
            <a:srgbClr val="FBEEF1"/>
          </a:solidFill>
          <a:ln/>
        </p:spPr>
        <p:txBody>
          <a:bodyPr/>
          <a:lstStyle/>
          <a:p>
            <a:endParaRPr lang="en-GB" sz="1200"/>
          </a:p>
        </p:txBody>
      </p:sp>
      <p:sp>
        <p:nvSpPr>
          <p:cNvPr id="35" name="Text 33"/>
          <p:cNvSpPr/>
          <p:nvPr/>
        </p:nvSpPr>
        <p:spPr>
          <a:xfrm>
            <a:off x="6363494" y="3558084"/>
            <a:ext cx="431006" cy="196850"/>
          </a:xfrm>
          <a:prstGeom prst="rect">
            <a:avLst/>
          </a:prstGeom>
          <a:noFill/>
          <a:ln/>
        </p:spPr>
        <p:txBody>
          <a:bodyPr wrap="square" lIns="16933" tIns="16933" rIns="16933" bIns="16933" rtlCol="0" anchor="t">
            <a:normAutofit fontScale="92500" lnSpcReduction="10000"/>
          </a:bodyPr>
          <a:lstStyle/>
          <a:p>
            <a:r>
              <a:rPr lang="en-US" sz="950" b="1" dirty="0">
                <a:solidFill>
                  <a:srgbClr val="1A1A1A"/>
                </a:solidFill>
                <a:latin typeface="Manrope" pitchFamily="34" charset="0"/>
                <a:ea typeface="Manrope" pitchFamily="34" charset="-122"/>
                <a:cs typeface="Manrope" pitchFamily="34" charset="-120"/>
              </a:rPr>
              <a:t>≥ </a:t>
            </a:r>
            <a:r>
              <a:rPr lang="en-US" sz="1200" b="1" dirty="0">
                <a:solidFill>
                  <a:srgbClr val="1A1A1A"/>
                </a:solidFill>
                <a:latin typeface="Manrope" pitchFamily="34" charset="0"/>
                <a:ea typeface="Manrope" pitchFamily="34" charset="-122"/>
                <a:cs typeface="Manrope" pitchFamily="34" charset="-120"/>
              </a:rPr>
              <a:t>0.80</a:t>
            </a:r>
            <a:endParaRPr lang="en-US" sz="1200" dirty="0"/>
          </a:p>
        </p:txBody>
      </p:sp>
      <p:sp>
        <p:nvSpPr>
          <p:cNvPr id="36" name="Text 34"/>
          <p:cNvSpPr/>
          <p:nvPr/>
        </p:nvSpPr>
        <p:spPr>
          <a:xfrm>
            <a:off x="7921030" y="3569593"/>
            <a:ext cx="3650317" cy="173931"/>
          </a:xfrm>
          <a:prstGeom prst="rect">
            <a:avLst/>
          </a:prstGeom>
          <a:noFill/>
          <a:ln/>
        </p:spPr>
        <p:txBody>
          <a:bodyPr wrap="square" lIns="16933" tIns="16933" rIns="16933" bIns="16933" rtlCol="0" anchor="t">
            <a:noAutofit/>
          </a:bodyPr>
          <a:lstStyle/>
          <a:p>
            <a:pPr>
              <a:lnSpc>
                <a:spcPct val="97500"/>
              </a:lnSpc>
            </a:pPr>
            <a:r>
              <a:rPr lang="en-US" sz="1200" dirty="0">
                <a:solidFill>
                  <a:srgbClr val="666666"/>
                </a:solidFill>
                <a:ea typeface="Manrope" pitchFamily="34" charset="-122"/>
                <a:cs typeface="Manrope" pitchFamily="34" charset="-120"/>
              </a:rPr>
              <a:t>Adapted from the four-fifths rule</a:t>
            </a:r>
            <a:endParaRPr lang="en-US" sz="1200" dirty="0"/>
          </a:p>
        </p:txBody>
      </p:sp>
      <p:sp>
        <p:nvSpPr>
          <p:cNvPr id="37" name="Shape 35"/>
          <p:cNvSpPr/>
          <p:nvPr/>
        </p:nvSpPr>
        <p:spPr>
          <a:xfrm>
            <a:off x="698500" y="4013200"/>
            <a:ext cx="10795000" cy="732433"/>
          </a:xfrm>
          <a:prstGeom prst="rect">
            <a:avLst/>
          </a:prstGeom>
          <a:solidFill>
            <a:srgbClr val="FBEEF1"/>
          </a:solidFill>
          <a:ln/>
        </p:spPr>
        <p:txBody>
          <a:bodyPr/>
          <a:lstStyle/>
          <a:p>
            <a:endParaRPr lang="en-GB" sz="1200"/>
          </a:p>
        </p:txBody>
      </p:sp>
      <p:sp>
        <p:nvSpPr>
          <p:cNvPr id="38" name="Shape 36"/>
          <p:cNvSpPr/>
          <p:nvPr/>
        </p:nvSpPr>
        <p:spPr>
          <a:xfrm>
            <a:off x="698500" y="4739283"/>
            <a:ext cx="10795000" cy="6350"/>
          </a:xfrm>
          <a:prstGeom prst="rect">
            <a:avLst/>
          </a:prstGeom>
          <a:solidFill>
            <a:srgbClr val="FBEEF1"/>
          </a:solidFill>
          <a:ln/>
        </p:spPr>
        <p:txBody>
          <a:bodyPr/>
          <a:lstStyle/>
          <a:p>
            <a:endParaRPr lang="en-GB" sz="1200"/>
          </a:p>
        </p:txBody>
      </p:sp>
      <p:sp>
        <p:nvSpPr>
          <p:cNvPr id="39" name="Shape 37"/>
          <p:cNvSpPr/>
          <p:nvPr/>
        </p:nvSpPr>
        <p:spPr>
          <a:xfrm rot="2700000">
            <a:off x="952500" y="4338141"/>
            <a:ext cx="76200" cy="76200"/>
          </a:xfrm>
          <a:prstGeom prst="roundRect">
            <a:avLst>
              <a:gd name="adj" fmla="val 33333"/>
            </a:avLst>
          </a:prstGeom>
          <a:solidFill>
            <a:srgbClr val="C9748F"/>
          </a:solidFill>
          <a:ln/>
        </p:spPr>
        <p:txBody>
          <a:bodyPr/>
          <a:lstStyle/>
          <a:p>
            <a:endParaRPr lang="en-GB" sz="1200"/>
          </a:p>
        </p:txBody>
      </p:sp>
      <p:sp>
        <p:nvSpPr>
          <p:cNvPr id="40" name="Text 38"/>
          <p:cNvSpPr/>
          <p:nvPr/>
        </p:nvSpPr>
        <p:spPr>
          <a:xfrm>
            <a:off x="1104900" y="4287341"/>
            <a:ext cx="1328929" cy="142782"/>
          </a:xfrm>
          <a:prstGeom prst="rect">
            <a:avLst/>
          </a:prstGeom>
          <a:noFill/>
          <a:ln/>
        </p:spPr>
        <p:txBody>
          <a:bodyPr wrap="square" lIns="16933" tIns="16933" rIns="16933" bIns="16933" rtlCol="0" anchor="t">
            <a:noAutofit/>
          </a:bodyPr>
          <a:lstStyle/>
          <a:p>
            <a:r>
              <a:rPr lang="en-US" sz="1600" b="1" dirty="0">
                <a:solidFill>
                  <a:srgbClr val="C9748F"/>
                </a:solidFill>
                <a:latin typeface="Manrope" pitchFamily="34" charset="0"/>
                <a:ea typeface="Manrope" pitchFamily="34" charset="-122"/>
                <a:cs typeface="Manrope" pitchFamily="34" charset="-120"/>
              </a:rPr>
              <a:t>Consistency</a:t>
            </a:r>
            <a:endParaRPr lang="en-US" sz="1600" dirty="0"/>
          </a:p>
        </p:txBody>
      </p:sp>
      <p:sp>
        <p:nvSpPr>
          <p:cNvPr id="41" name="Text 39"/>
          <p:cNvSpPr/>
          <p:nvPr/>
        </p:nvSpPr>
        <p:spPr>
          <a:xfrm>
            <a:off x="3441204" y="4293691"/>
            <a:ext cx="3102759" cy="190500"/>
          </a:xfrm>
          <a:prstGeom prst="rect">
            <a:avLst/>
          </a:prstGeom>
          <a:noFill/>
          <a:ln/>
        </p:spPr>
        <p:txBody>
          <a:bodyPr wrap="square" lIns="16933" tIns="16933" rIns="16933" bIns="16933" rtlCol="0" anchor="t">
            <a:noAutofit/>
          </a:bodyPr>
          <a:lstStyle/>
          <a:p>
            <a:r>
              <a:rPr lang="en-US" sz="1200" dirty="0">
                <a:solidFill>
                  <a:srgbClr val="1A1A1A"/>
                </a:solidFill>
                <a:ea typeface="Manrope" pitchFamily="34" charset="-122"/>
                <a:cs typeface="Manrope" pitchFamily="34" charset="-120"/>
              </a:rPr>
              <a:t>Instability under perturbation</a:t>
            </a:r>
            <a:endParaRPr lang="en-US" sz="1200" dirty="0"/>
          </a:p>
        </p:txBody>
      </p:sp>
      <p:sp>
        <p:nvSpPr>
          <p:cNvPr id="42" name="Shape 40"/>
          <p:cNvSpPr/>
          <p:nvPr/>
        </p:nvSpPr>
        <p:spPr>
          <a:xfrm>
            <a:off x="6261894" y="4261941"/>
            <a:ext cx="484882" cy="228600"/>
          </a:xfrm>
          <a:prstGeom prst="roundRect">
            <a:avLst>
              <a:gd name="adj" fmla="val 50000"/>
            </a:avLst>
          </a:prstGeom>
          <a:solidFill>
            <a:srgbClr val="FBEEF1"/>
          </a:solidFill>
          <a:ln/>
        </p:spPr>
        <p:txBody>
          <a:bodyPr/>
          <a:lstStyle/>
          <a:p>
            <a:endParaRPr lang="en-GB" sz="1200"/>
          </a:p>
        </p:txBody>
      </p:sp>
      <p:sp>
        <p:nvSpPr>
          <p:cNvPr id="43" name="Text 41"/>
          <p:cNvSpPr/>
          <p:nvPr/>
        </p:nvSpPr>
        <p:spPr>
          <a:xfrm>
            <a:off x="6363494" y="4293691"/>
            <a:ext cx="431006" cy="228600"/>
          </a:xfrm>
          <a:prstGeom prst="rect">
            <a:avLst/>
          </a:prstGeom>
          <a:noFill/>
          <a:ln/>
        </p:spPr>
        <p:txBody>
          <a:bodyPr wrap="square" lIns="16933" tIns="16933" rIns="16933" bIns="16933" rtlCol="0" anchor="t">
            <a:noAutofit/>
          </a:bodyPr>
          <a:lstStyle/>
          <a:p>
            <a:r>
              <a:rPr lang="en-US" sz="1200" b="1" dirty="0">
                <a:solidFill>
                  <a:srgbClr val="1A1A1A"/>
                </a:solidFill>
                <a:ea typeface="Manrope" pitchFamily="34" charset="-122"/>
                <a:cs typeface="Manrope" pitchFamily="34" charset="-120"/>
              </a:rPr>
              <a:t>&lt; 5%</a:t>
            </a:r>
            <a:endParaRPr lang="en-US" sz="1200" dirty="0"/>
          </a:p>
        </p:txBody>
      </p:sp>
      <p:sp>
        <p:nvSpPr>
          <p:cNvPr id="44" name="Text 42"/>
          <p:cNvSpPr/>
          <p:nvPr/>
        </p:nvSpPr>
        <p:spPr>
          <a:xfrm>
            <a:off x="7921030" y="4301927"/>
            <a:ext cx="3650317" cy="173931"/>
          </a:xfrm>
          <a:prstGeom prst="rect">
            <a:avLst/>
          </a:prstGeom>
          <a:noFill/>
          <a:ln/>
        </p:spPr>
        <p:txBody>
          <a:bodyPr wrap="square" lIns="16933" tIns="16933" rIns="16933" bIns="16933" rtlCol="0" anchor="t">
            <a:noAutofit/>
          </a:bodyPr>
          <a:lstStyle/>
          <a:p>
            <a:pPr>
              <a:lnSpc>
                <a:spcPct val="97500"/>
              </a:lnSpc>
            </a:pPr>
            <a:r>
              <a:rPr lang="en-US" sz="1200" dirty="0">
                <a:solidFill>
                  <a:srgbClr val="666666"/>
                </a:solidFill>
                <a:ea typeface="Manrope" pitchFamily="34" charset="-122"/>
                <a:cs typeface="Manrope" pitchFamily="34" charset="-120"/>
              </a:rPr>
              <a:t>Researcher-defined benchmark</a:t>
            </a:r>
            <a:endParaRPr lang="en-US" sz="1200" dirty="0"/>
          </a:p>
        </p:txBody>
      </p:sp>
      <p:sp>
        <p:nvSpPr>
          <p:cNvPr id="45" name="Shape 43"/>
          <p:cNvSpPr/>
          <p:nvPr/>
        </p:nvSpPr>
        <p:spPr>
          <a:xfrm>
            <a:off x="698500" y="4745633"/>
            <a:ext cx="10795000" cy="732333"/>
          </a:xfrm>
          <a:prstGeom prst="rect">
            <a:avLst/>
          </a:prstGeom>
          <a:solidFill>
            <a:srgbClr val="FFFFFF"/>
          </a:solidFill>
          <a:ln/>
        </p:spPr>
        <p:txBody>
          <a:bodyPr/>
          <a:lstStyle/>
          <a:p>
            <a:endParaRPr lang="en-GB" sz="1200"/>
          </a:p>
        </p:txBody>
      </p:sp>
      <p:sp>
        <p:nvSpPr>
          <p:cNvPr id="46" name="Shape 44"/>
          <p:cNvSpPr/>
          <p:nvPr/>
        </p:nvSpPr>
        <p:spPr>
          <a:xfrm>
            <a:off x="698500" y="5471617"/>
            <a:ext cx="10795000" cy="6350"/>
          </a:xfrm>
          <a:prstGeom prst="rect">
            <a:avLst/>
          </a:prstGeom>
          <a:solidFill>
            <a:srgbClr val="FBEEF1"/>
          </a:solidFill>
          <a:ln/>
        </p:spPr>
        <p:txBody>
          <a:bodyPr/>
          <a:lstStyle/>
          <a:p>
            <a:endParaRPr lang="en-GB" sz="1200"/>
          </a:p>
        </p:txBody>
      </p:sp>
      <p:sp>
        <p:nvSpPr>
          <p:cNvPr id="47" name="Shape 45"/>
          <p:cNvSpPr/>
          <p:nvPr/>
        </p:nvSpPr>
        <p:spPr>
          <a:xfrm rot="2700000">
            <a:off x="952500" y="5070475"/>
            <a:ext cx="76200" cy="76200"/>
          </a:xfrm>
          <a:prstGeom prst="roundRect">
            <a:avLst>
              <a:gd name="adj" fmla="val 33333"/>
            </a:avLst>
          </a:prstGeom>
          <a:solidFill>
            <a:srgbClr val="C9748F"/>
          </a:solidFill>
          <a:ln/>
        </p:spPr>
        <p:txBody>
          <a:bodyPr/>
          <a:lstStyle/>
          <a:p>
            <a:endParaRPr lang="en-GB" sz="1200"/>
          </a:p>
        </p:txBody>
      </p:sp>
      <p:sp>
        <p:nvSpPr>
          <p:cNvPr id="48" name="Text 46"/>
          <p:cNvSpPr/>
          <p:nvPr/>
        </p:nvSpPr>
        <p:spPr>
          <a:xfrm>
            <a:off x="1104900" y="5019675"/>
            <a:ext cx="1481220" cy="142782"/>
          </a:xfrm>
          <a:prstGeom prst="rect">
            <a:avLst/>
          </a:prstGeom>
          <a:noFill/>
          <a:ln/>
        </p:spPr>
        <p:txBody>
          <a:bodyPr wrap="square" lIns="16933" tIns="16933" rIns="16933" bIns="16933" rtlCol="0" anchor="t">
            <a:noAutofit/>
          </a:bodyPr>
          <a:lstStyle/>
          <a:p>
            <a:r>
              <a:rPr lang="en-US" sz="1600" b="1" dirty="0">
                <a:solidFill>
                  <a:srgbClr val="C9748F"/>
                </a:solidFill>
                <a:latin typeface="Manrope" pitchFamily="34" charset="0"/>
                <a:ea typeface="Manrope" pitchFamily="34" charset="-122"/>
                <a:cs typeface="Manrope" pitchFamily="34" charset="-120"/>
              </a:rPr>
              <a:t>Correctability</a:t>
            </a:r>
            <a:endParaRPr lang="en-US" sz="1600" dirty="0"/>
          </a:p>
        </p:txBody>
      </p:sp>
      <p:sp>
        <p:nvSpPr>
          <p:cNvPr id="49" name="Text 47"/>
          <p:cNvSpPr/>
          <p:nvPr/>
        </p:nvSpPr>
        <p:spPr>
          <a:xfrm>
            <a:off x="3441204" y="5026025"/>
            <a:ext cx="3102759" cy="190500"/>
          </a:xfrm>
          <a:prstGeom prst="rect">
            <a:avLst/>
          </a:prstGeom>
          <a:noFill/>
          <a:ln/>
        </p:spPr>
        <p:txBody>
          <a:bodyPr wrap="square" lIns="16933" tIns="16933" rIns="16933" bIns="16933" rtlCol="0" anchor="t">
            <a:noAutofit/>
          </a:bodyPr>
          <a:lstStyle/>
          <a:p>
            <a:r>
              <a:rPr lang="en-US" sz="1200" dirty="0">
                <a:solidFill>
                  <a:srgbClr val="1A1A1A"/>
                </a:solidFill>
                <a:ea typeface="Manrope" pitchFamily="34" charset="-122"/>
                <a:cs typeface="Manrope" pitchFamily="34" charset="-120"/>
              </a:rPr>
              <a:t>Correctability checklist</a:t>
            </a:r>
            <a:endParaRPr lang="en-US" sz="1200" dirty="0"/>
          </a:p>
        </p:txBody>
      </p:sp>
      <p:sp>
        <p:nvSpPr>
          <p:cNvPr id="50" name="Shape 48"/>
          <p:cNvSpPr/>
          <p:nvPr/>
        </p:nvSpPr>
        <p:spPr>
          <a:xfrm>
            <a:off x="6261894" y="4991100"/>
            <a:ext cx="832445" cy="234950"/>
          </a:xfrm>
          <a:prstGeom prst="roundRect">
            <a:avLst>
              <a:gd name="adj" fmla="val 50000"/>
            </a:avLst>
          </a:prstGeom>
          <a:solidFill>
            <a:srgbClr val="FBEEF1"/>
          </a:solidFill>
          <a:ln/>
        </p:spPr>
        <p:txBody>
          <a:bodyPr/>
          <a:lstStyle/>
          <a:p>
            <a:endParaRPr lang="en-GB" sz="1200"/>
          </a:p>
        </p:txBody>
      </p:sp>
      <p:sp>
        <p:nvSpPr>
          <p:cNvPr id="51" name="Text 49"/>
          <p:cNvSpPr/>
          <p:nvPr/>
        </p:nvSpPr>
        <p:spPr>
          <a:xfrm>
            <a:off x="6373745" y="5014768"/>
            <a:ext cx="1007160" cy="139607"/>
          </a:xfrm>
          <a:prstGeom prst="rect">
            <a:avLst/>
          </a:prstGeom>
          <a:noFill/>
          <a:ln/>
        </p:spPr>
        <p:txBody>
          <a:bodyPr wrap="square" lIns="16933" tIns="16933" rIns="16933" bIns="16933" rtlCol="0" anchor="t">
            <a:noAutofit/>
          </a:bodyPr>
          <a:lstStyle/>
          <a:p>
            <a:r>
              <a:rPr lang="en-US" sz="1200" b="1" dirty="0">
                <a:solidFill>
                  <a:srgbClr val="1A1A1A"/>
                </a:solidFill>
                <a:ea typeface="Manrope" pitchFamily="34" charset="-122"/>
                <a:cs typeface="Manrope" pitchFamily="34" charset="-120"/>
              </a:rPr>
              <a:t>≥ 80% met</a:t>
            </a:r>
            <a:endParaRPr lang="en-US" sz="1200" dirty="0"/>
          </a:p>
        </p:txBody>
      </p:sp>
      <p:sp>
        <p:nvSpPr>
          <p:cNvPr id="52" name="Text 50"/>
          <p:cNvSpPr/>
          <p:nvPr/>
        </p:nvSpPr>
        <p:spPr>
          <a:xfrm>
            <a:off x="7921030" y="5034359"/>
            <a:ext cx="3650317" cy="173931"/>
          </a:xfrm>
          <a:prstGeom prst="rect">
            <a:avLst/>
          </a:prstGeom>
          <a:noFill/>
          <a:ln/>
        </p:spPr>
        <p:txBody>
          <a:bodyPr wrap="square" lIns="16933" tIns="16933" rIns="16933" bIns="16933" rtlCol="0" anchor="t">
            <a:noAutofit/>
          </a:bodyPr>
          <a:lstStyle/>
          <a:p>
            <a:pPr>
              <a:lnSpc>
                <a:spcPct val="97500"/>
              </a:lnSpc>
            </a:pPr>
            <a:r>
              <a:rPr lang="en-US" sz="1200" dirty="0">
                <a:solidFill>
                  <a:srgbClr val="666666"/>
                </a:solidFill>
                <a:ea typeface="Manrope" pitchFamily="34" charset="-122"/>
                <a:cs typeface="Manrope" pitchFamily="34" charset="-120"/>
              </a:rPr>
              <a:t>Researcher-defined benchmark</a:t>
            </a:r>
            <a:endParaRPr lang="en-US" sz="1200" dirty="0"/>
          </a:p>
        </p:txBody>
      </p:sp>
      <p:sp>
        <p:nvSpPr>
          <p:cNvPr id="53" name="Shape 51"/>
          <p:cNvSpPr/>
          <p:nvPr/>
        </p:nvSpPr>
        <p:spPr>
          <a:xfrm>
            <a:off x="698500" y="5477967"/>
            <a:ext cx="10795000" cy="732333"/>
          </a:xfrm>
          <a:prstGeom prst="rect">
            <a:avLst/>
          </a:prstGeom>
          <a:solidFill>
            <a:srgbClr val="FBEEF1"/>
          </a:solidFill>
          <a:ln/>
        </p:spPr>
        <p:txBody>
          <a:bodyPr/>
          <a:lstStyle/>
          <a:p>
            <a:endParaRPr lang="en-GB" sz="1200"/>
          </a:p>
        </p:txBody>
      </p:sp>
      <p:sp>
        <p:nvSpPr>
          <p:cNvPr id="54" name="Shape 52"/>
          <p:cNvSpPr/>
          <p:nvPr/>
        </p:nvSpPr>
        <p:spPr>
          <a:xfrm>
            <a:off x="698500" y="6203950"/>
            <a:ext cx="10795000" cy="6350"/>
          </a:xfrm>
          <a:prstGeom prst="rect">
            <a:avLst/>
          </a:prstGeom>
          <a:solidFill>
            <a:srgbClr val="FBEEF1"/>
          </a:solidFill>
          <a:ln/>
        </p:spPr>
        <p:txBody>
          <a:bodyPr/>
          <a:lstStyle/>
          <a:p>
            <a:endParaRPr lang="en-GB" sz="1200"/>
          </a:p>
        </p:txBody>
      </p:sp>
      <p:sp>
        <p:nvSpPr>
          <p:cNvPr id="55" name="Shape 53"/>
          <p:cNvSpPr/>
          <p:nvPr/>
        </p:nvSpPr>
        <p:spPr>
          <a:xfrm rot="2700000">
            <a:off x="952500" y="5802809"/>
            <a:ext cx="76200" cy="76200"/>
          </a:xfrm>
          <a:prstGeom prst="roundRect">
            <a:avLst>
              <a:gd name="adj" fmla="val 33333"/>
            </a:avLst>
          </a:prstGeom>
          <a:solidFill>
            <a:srgbClr val="C9748F"/>
          </a:solidFill>
          <a:ln/>
        </p:spPr>
        <p:txBody>
          <a:bodyPr/>
          <a:lstStyle/>
          <a:p>
            <a:endParaRPr lang="en-GB" sz="1200"/>
          </a:p>
        </p:txBody>
      </p:sp>
      <p:sp>
        <p:nvSpPr>
          <p:cNvPr id="56" name="Text 54"/>
          <p:cNvSpPr/>
          <p:nvPr/>
        </p:nvSpPr>
        <p:spPr>
          <a:xfrm>
            <a:off x="1104901" y="5752009"/>
            <a:ext cx="992524" cy="142782"/>
          </a:xfrm>
          <a:prstGeom prst="rect">
            <a:avLst/>
          </a:prstGeom>
          <a:noFill/>
          <a:ln/>
        </p:spPr>
        <p:txBody>
          <a:bodyPr wrap="square" lIns="16933" tIns="16933" rIns="16933" bIns="16933" rtlCol="0" anchor="t">
            <a:noAutofit/>
          </a:bodyPr>
          <a:lstStyle/>
          <a:p>
            <a:r>
              <a:rPr lang="en-US" sz="1600" b="1" dirty="0">
                <a:solidFill>
                  <a:srgbClr val="C9748F"/>
                </a:solidFill>
                <a:latin typeface="Manrope" pitchFamily="34" charset="0"/>
                <a:ea typeface="Manrope" pitchFamily="34" charset="-122"/>
                <a:cs typeface="Manrope" pitchFamily="34" charset="-120"/>
              </a:rPr>
              <a:t>Ethicality</a:t>
            </a:r>
            <a:endParaRPr lang="en-US" sz="1600" dirty="0"/>
          </a:p>
        </p:txBody>
      </p:sp>
      <p:sp>
        <p:nvSpPr>
          <p:cNvPr id="57" name="Text 55"/>
          <p:cNvSpPr/>
          <p:nvPr/>
        </p:nvSpPr>
        <p:spPr>
          <a:xfrm>
            <a:off x="3441204" y="5758359"/>
            <a:ext cx="3102759" cy="190500"/>
          </a:xfrm>
          <a:prstGeom prst="rect">
            <a:avLst/>
          </a:prstGeom>
          <a:noFill/>
          <a:ln/>
        </p:spPr>
        <p:txBody>
          <a:bodyPr wrap="square" lIns="16933" tIns="16933" rIns="16933" bIns="16933" rtlCol="0" anchor="t">
            <a:noAutofit/>
          </a:bodyPr>
          <a:lstStyle/>
          <a:p>
            <a:r>
              <a:rPr lang="en-US" sz="1200" dirty="0">
                <a:solidFill>
                  <a:srgbClr val="1A1A1A"/>
                </a:solidFill>
                <a:ea typeface="Manrope" pitchFamily="34" charset="-122"/>
                <a:cs typeface="Manrope" pitchFamily="34" charset="-120"/>
              </a:rPr>
              <a:t>Ethics &amp; legal checklist</a:t>
            </a:r>
            <a:endParaRPr lang="en-US" sz="1200" dirty="0"/>
          </a:p>
        </p:txBody>
      </p:sp>
      <p:sp>
        <p:nvSpPr>
          <p:cNvPr id="58" name="Shape 56"/>
          <p:cNvSpPr/>
          <p:nvPr/>
        </p:nvSpPr>
        <p:spPr>
          <a:xfrm>
            <a:off x="6261894" y="5723434"/>
            <a:ext cx="832445" cy="234950"/>
          </a:xfrm>
          <a:prstGeom prst="roundRect">
            <a:avLst>
              <a:gd name="adj" fmla="val 50000"/>
            </a:avLst>
          </a:prstGeom>
          <a:solidFill>
            <a:srgbClr val="FBEEF1"/>
          </a:solidFill>
          <a:ln/>
        </p:spPr>
        <p:txBody>
          <a:bodyPr/>
          <a:lstStyle/>
          <a:p>
            <a:endParaRPr lang="en-GB" sz="1200"/>
          </a:p>
        </p:txBody>
      </p:sp>
      <p:sp>
        <p:nvSpPr>
          <p:cNvPr id="59" name="Text 57"/>
          <p:cNvSpPr/>
          <p:nvPr/>
        </p:nvSpPr>
        <p:spPr>
          <a:xfrm>
            <a:off x="6307254" y="5826919"/>
            <a:ext cx="969864" cy="185440"/>
          </a:xfrm>
          <a:prstGeom prst="rect">
            <a:avLst/>
          </a:prstGeom>
          <a:noFill/>
          <a:ln/>
        </p:spPr>
        <p:txBody>
          <a:bodyPr wrap="square" lIns="16933" tIns="16933" rIns="16933" bIns="16933" rtlCol="0" anchor="t">
            <a:noAutofit/>
          </a:bodyPr>
          <a:lstStyle/>
          <a:p>
            <a:r>
              <a:rPr lang="en-US" sz="1200" b="1" dirty="0">
                <a:solidFill>
                  <a:srgbClr val="1A1A1A"/>
                </a:solidFill>
                <a:ea typeface="Manrope" pitchFamily="34" charset="-122"/>
                <a:cs typeface="Manrope" pitchFamily="34" charset="-120"/>
              </a:rPr>
              <a:t>≥ 80% met</a:t>
            </a:r>
            <a:endParaRPr lang="en-US" sz="1200" dirty="0"/>
          </a:p>
        </p:txBody>
      </p:sp>
      <p:sp>
        <p:nvSpPr>
          <p:cNvPr id="60" name="Text 58"/>
          <p:cNvSpPr/>
          <p:nvPr/>
        </p:nvSpPr>
        <p:spPr>
          <a:xfrm>
            <a:off x="7921030" y="5766693"/>
            <a:ext cx="3650317" cy="173931"/>
          </a:xfrm>
          <a:prstGeom prst="rect">
            <a:avLst/>
          </a:prstGeom>
          <a:noFill/>
          <a:ln/>
        </p:spPr>
        <p:txBody>
          <a:bodyPr wrap="square" lIns="16933" tIns="16933" rIns="16933" bIns="16933" rtlCol="0" anchor="t">
            <a:noAutofit/>
          </a:bodyPr>
          <a:lstStyle/>
          <a:p>
            <a:pPr>
              <a:lnSpc>
                <a:spcPct val="97500"/>
              </a:lnSpc>
            </a:pPr>
            <a:r>
              <a:rPr lang="en-US" sz="1200" dirty="0">
                <a:solidFill>
                  <a:srgbClr val="666666"/>
                </a:solidFill>
                <a:ea typeface="Manrope" pitchFamily="34" charset="-122"/>
                <a:cs typeface="Manrope" pitchFamily="34" charset="-120"/>
              </a:rPr>
              <a:t>Researcher-defined benchmark</a:t>
            </a:r>
            <a:endParaRPr lang="en-US" sz="1200" dirty="0"/>
          </a:p>
        </p:txBody>
      </p:sp>
      <p:sp>
        <p:nvSpPr>
          <p:cNvPr id="61" name="Text 59"/>
          <p:cNvSpPr/>
          <p:nvPr/>
        </p:nvSpPr>
        <p:spPr>
          <a:xfrm>
            <a:off x="698500" y="6337300"/>
            <a:ext cx="1514108" cy="165100"/>
          </a:xfrm>
          <a:prstGeom prst="rect">
            <a:avLst/>
          </a:prstGeom>
          <a:noFill/>
          <a:ln/>
        </p:spPr>
        <p:txBody>
          <a:bodyPr wrap="square" lIns="16933" tIns="16933" rIns="16933" bIns="16933" rtlCol="0" anchor="t">
            <a:normAutofit/>
          </a:bodyPr>
          <a:lstStyle/>
          <a:p>
            <a:r>
              <a:rPr lang="en-US" sz="800" b="1" dirty="0">
                <a:solidFill>
                  <a:srgbClr val="999999"/>
                </a:solidFill>
                <a:latin typeface="Manrope" pitchFamily="34" charset="0"/>
                <a:ea typeface="Manrope" pitchFamily="34" charset="-122"/>
                <a:cs typeface="Manrope" pitchFamily="34" charset="-120"/>
              </a:rPr>
              <a:t>Model Evaluation Framework</a:t>
            </a:r>
            <a:endParaRPr lang="en-US" sz="800" dirty="0"/>
          </a:p>
        </p:txBody>
      </p:sp>
      <p:sp>
        <p:nvSpPr>
          <p:cNvPr id="62" name="Text 60"/>
          <p:cNvSpPr/>
          <p:nvPr/>
        </p:nvSpPr>
        <p:spPr>
          <a:xfrm>
            <a:off x="11385352" y="6337300"/>
            <a:ext cx="158949" cy="165100"/>
          </a:xfrm>
          <a:prstGeom prst="rect">
            <a:avLst/>
          </a:prstGeom>
          <a:noFill/>
          <a:ln/>
        </p:spPr>
        <p:txBody>
          <a:bodyPr wrap="square" lIns="16933" tIns="16933" rIns="16933" bIns="16933" rtlCol="0" anchor="t">
            <a:normAutofit/>
          </a:bodyPr>
          <a:lstStyle/>
          <a:p>
            <a:r>
              <a:rPr lang="en-US" sz="800" b="1" dirty="0">
                <a:solidFill>
                  <a:srgbClr val="999999"/>
                </a:solidFill>
                <a:latin typeface="Manrope" pitchFamily="34" charset="0"/>
                <a:ea typeface="Manrope" pitchFamily="34" charset="-122"/>
                <a:cs typeface="Manrope" pitchFamily="34" charset="-120"/>
              </a:rPr>
              <a:t>01</a:t>
            </a:r>
            <a:endParaRPr lang="en-US" sz="800" dirty="0"/>
          </a:p>
        </p:txBody>
      </p:sp>
      <p:sp>
        <p:nvSpPr>
          <p:cNvPr id="64" name="TextBox 63">
            <a:extLst>
              <a:ext uri="{FF2B5EF4-FFF2-40B4-BE49-F238E27FC236}">
                <a16:creationId xmlns:a16="http://schemas.microsoft.com/office/drawing/2014/main" id="{A3F54AAB-8FFA-051F-DE54-8F36CA9DC5F2}"/>
              </a:ext>
            </a:extLst>
          </p:cNvPr>
          <p:cNvSpPr txBox="1"/>
          <p:nvPr/>
        </p:nvSpPr>
        <p:spPr>
          <a:xfrm>
            <a:off x="685800" y="384048"/>
            <a:ext cx="9144000" cy="320040"/>
          </a:xfrm>
          <a:prstGeom prst="rect">
            <a:avLst/>
          </a:prstGeom>
          <a:noFill/>
        </p:spPr>
        <p:txBody>
          <a:bodyPr wrap="square" lIns="0" tIns="0" rIns="0" bIns="0" anchor="t">
            <a:spAutoFit/>
          </a:bodyPr>
          <a:lstStyle/>
          <a:p>
            <a:pPr algn="l">
              <a:lnSpc>
                <a:spcPct val="100000"/>
              </a:lnSpc>
            </a:pPr>
            <a:r>
              <a:rPr sz="1300" b="1" i="0" dirty="0">
                <a:solidFill>
                  <a:srgbClr val="C9748F"/>
                </a:solidFill>
                <a:latin typeface="Calibri"/>
              </a:rPr>
              <a:t>METHODOLOGY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8F9"/>
        </a:solidFill>
        <a:effectLst/>
      </p:bgPr>
    </p:bg>
    <p:spTree>
      <p:nvGrpSpPr>
        <p:cNvPr id="1" name=""/>
        <p:cNvGrpSpPr/>
        <p:nvPr/>
      </p:nvGrpSpPr>
      <p:grpSpPr>
        <a:xfrm>
          <a:off x="0" y="0"/>
          <a:ext cx="0" cy="0"/>
          <a:chOff x="0" y="0"/>
          <a:chExt cx="0" cy="0"/>
        </a:xfrm>
      </p:grpSpPr>
      <p:sp>
        <p:nvSpPr>
          <p:cNvPr id="2" name="TextBox 1"/>
          <p:cNvSpPr txBox="1"/>
          <p:nvPr/>
        </p:nvSpPr>
        <p:spPr>
          <a:xfrm>
            <a:off x="685800" y="384048"/>
            <a:ext cx="9144000" cy="320040"/>
          </a:xfrm>
          <a:prstGeom prst="rect">
            <a:avLst/>
          </a:prstGeom>
          <a:noFill/>
        </p:spPr>
        <p:txBody>
          <a:bodyPr wrap="square" lIns="0" tIns="0" rIns="0" bIns="0" anchor="t">
            <a:spAutoFit/>
          </a:bodyPr>
          <a:lstStyle/>
          <a:p>
            <a:pPr algn="l">
              <a:lnSpc>
                <a:spcPct val="100000"/>
              </a:lnSpc>
            </a:pPr>
            <a:r>
              <a:rPr sz="1300" b="1" i="0" dirty="0">
                <a:solidFill>
                  <a:srgbClr val="C9748F"/>
                </a:solidFill>
                <a:latin typeface="Calibri"/>
              </a:rPr>
              <a:t>METHODOLOGY</a:t>
            </a:r>
          </a:p>
        </p:txBody>
      </p:sp>
      <p:sp>
        <p:nvSpPr>
          <p:cNvPr id="3" name="TextBox 2"/>
          <p:cNvSpPr txBox="1"/>
          <p:nvPr/>
        </p:nvSpPr>
        <p:spPr>
          <a:xfrm>
            <a:off x="685800" y="658368"/>
            <a:ext cx="10789920" cy="914400"/>
          </a:xfrm>
          <a:prstGeom prst="rect">
            <a:avLst/>
          </a:prstGeom>
          <a:noFill/>
        </p:spPr>
        <p:txBody>
          <a:bodyPr wrap="square" lIns="0" tIns="0" rIns="0" bIns="0" anchor="t">
            <a:spAutoFit/>
          </a:bodyPr>
          <a:lstStyle/>
          <a:p>
            <a:pPr algn="l">
              <a:lnSpc>
                <a:spcPct val="102000"/>
              </a:lnSpc>
            </a:pPr>
            <a:r>
              <a:rPr sz="3000" b="1" i="0">
                <a:solidFill>
                  <a:srgbClr val="1A1A1A"/>
                </a:solidFill>
                <a:latin typeface="Georgia"/>
              </a:rPr>
              <a:t>The Model and the Pipeline</a:t>
            </a:r>
          </a:p>
        </p:txBody>
      </p:sp>
      <p:sp>
        <p:nvSpPr>
          <p:cNvPr id="4" name="Rounded Rectangle 3"/>
          <p:cNvSpPr/>
          <p:nvPr/>
        </p:nvSpPr>
        <p:spPr>
          <a:xfrm>
            <a:off x="685800" y="1691640"/>
            <a:ext cx="2587752" cy="1051560"/>
          </a:xfrm>
          <a:prstGeom prst="roundRect">
            <a:avLst>
              <a:gd name="adj" fmla="val 8000"/>
            </a:avLst>
          </a:prstGeom>
          <a:solidFill>
            <a:srgbClr val="F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86968" y="1856232"/>
            <a:ext cx="2221992" cy="320040"/>
          </a:xfrm>
          <a:prstGeom prst="rect">
            <a:avLst/>
          </a:prstGeom>
          <a:noFill/>
        </p:spPr>
        <p:txBody>
          <a:bodyPr wrap="square" lIns="0" tIns="0" rIns="0" bIns="0" anchor="t">
            <a:spAutoFit/>
          </a:bodyPr>
          <a:lstStyle/>
          <a:p>
            <a:pPr algn="l">
              <a:lnSpc>
                <a:spcPct val="100000"/>
              </a:lnSpc>
            </a:pPr>
            <a:r>
              <a:rPr sz="1050" b="1" i="0">
                <a:solidFill>
                  <a:srgbClr val="C9748F"/>
                </a:solidFill>
                <a:latin typeface="Calibri"/>
              </a:rPr>
              <a:t>ALGORITHM</a:t>
            </a:r>
          </a:p>
        </p:txBody>
      </p:sp>
      <p:sp>
        <p:nvSpPr>
          <p:cNvPr id="6" name="TextBox 5"/>
          <p:cNvSpPr txBox="1"/>
          <p:nvPr/>
        </p:nvSpPr>
        <p:spPr>
          <a:xfrm>
            <a:off x="886968" y="2176272"/>
            <a:ext cx="2221992" cy="502920"/>
          </a:xfrm>
          <a:prstGeom prst="rect">
            <a:avLst/>
          </a:prstGeom>
          <a:noFill/>
        </p:spPr>
        <p:txBody>
          <a:bodyPr wrap="square" lIns="0" tIns="0" rIns="0" bIns="0" anchor="t">
            <a:spAutoFit/>
          </a:bodyPr>
          <a:lstStyle/>
          <a:p>
            <a:pPr algn="l">
              <a:lnSpc>
                <a:spcPct val="100000"/>
              </a:lnSpc>
            </a:pPr>
            <a:r>
              <a:rPr sz="1250" b="1" i="0">
                <a:solidFill>
                  <a:srgbClr val="1A1A1A"/>
                </a:solidFill>
                <a:latin typeface="Calibri"/>
              </a:rPr>
              <a:t>Logistic regression classifier</a:t>
            </a:r>
          </a:p>
        </p:txBody>
      </p:sp>
      <p:sp>
        <p:nvSpPr>
          <p:cNvPr id="7" name="Rounded Rectangle 6"/>
          <p:cNvSpPr/>
          <p:nvPr/>
        </p:nvSpPr>
        <p:spPr>
          <a:xfrm>
            <a:off x="3410712" y="1691640"/>
            <a:ext cx="2587752" cy="1051560"/>
          </a:xfrm>
          <a:prstGeom prst="roundRect">
            <a:avLst>
              <a:gd name="adj" fmla="val 8000"/>
            </a:avLst>
          </a:prstGeom>
          <a:solidFill>
            <a:srgbClr val="F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11880" y="1856232"/>
            <a:ext cx="2221992" cy="320040"/>
          </a:xfrm>
          <a:prstGeom prst="rect">
            <a:avLst/>
          </a:prstGeom>
          <a:noFill/>
        </p:spPr>
        <p:txBody>
          <a:bodyPr wrap="square" lIns="0" tIns="0" rIns="0" bIns="0" anchor="t">
            <a:spAutoFit/>
          </a:bodyPr>
          <a:lstStyle/>
          <a:p>
            <a:pPr algn="l">
              <a:lnSpc>
                <a:spcPct val="100000"/>
              </a:lnSpc>
            </a:pPr>
            <a:r>
              <a:rPr sz="1050" b="1" i="0">
                <a:solidFill>
                  <a:srgbClr val="C9748F"/>
                </a:solidFill>
                <a:latin typeface="Calibri"/>
              </a:rPr>
              <a:t>DATA</a:t>
            </a:r>
          </a:p>
        </p:txBody>
      </p:sp>
      <p:sp>
        <p:nvSpPr>
          <p:cNvPr id="9" name="TextBox 8"/>
          <p:cNvSpPr txBox="1"/>
          <p:nvPr/>
        </p:nvSpPr>
        <p:spPr>
          <a:xfrm>
            <a:off x="3611880" y="2176272"/>
            <a:ext cx="2221992" cy="502920"/>
          </a:xfrm>
          <a:prstGeom prst="rect">
            <a:avLst/>
          </a:prstGeom>
          <a:noFill/>
        </p:spPr>
        <p:txBody>
          <a:bodyPr wrap="square" lIns="0" tIns="0" rIns="0" bIns="0" anchor="t">
            <a:spAutoFit/>
          </a:bodyPr>
          <a:lstStyle/>
          <a:p>
            <a:pPr algn="l">
              <a:lnSpc>
                <a:spcPct val="100000"/>
              </a:lnSpc>
            </a:pPr>
            <a:r>
              <a:rPr sz="1250" b="1" i="0">
                <a:solidFill>
                  <a:srgbClr val="1A1A1A"/>
                </a:solidFill>
                <a:latin typeface="Calibri"/>
              </a:rPr>
              <a:t>UCI Heart Disease — 918 records</a:t>
            </a:r>
          </a:p>
        </p:txBody>
      </p:sp>
      <p:sp>
        <p:nvSpPr>
          <p:cNvPr id="10" name="Rounded Rectangle 9"/>
          <p:cNvSpPr/>
          <p:nvPr/>
        </p:nvSpPr>
        <p:spPr>
          <a:xfrm>
            <a:off x="6135624" y="1691640"/>
            <a:ext cx="2587752" cy="1051560"/>
          </a:xfrm>
          <a:prstGeom prst="roundRect">
            <a:avLst>
              <a:gd name="adj" fmla="val 8000"/>
            </a:avLst>
          </a:prstGeom>
          <a:solidFill>
            <a:srgbClr val="F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36792" y="1856232"/>
            <a:ext cx="2221992" cy="320040"/>
          </a:xfrm>
          <a:prstGeom prst="rect">
            <a:avLst/>
          </a:prstGeom>
          <a:noFill/>
        </p:spPr>
        <p:txBody>
          <a:bodyPr wrap="square" lIns="0" tIns="0" rIns="0" bIns="0" anchor="t">
            <a:spAutoFit/>
          </a:bodyPr>
          <a:lstStyle/>
          <a:p>
            <a:pPr algn="l">
              <a:lnSpc>
                <a:spcPct val="100000"/>
              </a:lnSpc>
            </a:pPr>
            <a:r>
              <a:rPr sz="1050" b="1" i="0">
                <a:solidFill>
                  <a:srgbClr val="C9748F"/>
                </a:solidFill>
                <a:latin typeface="Calibri"/>
              </a:rPr>
              <a:t>SPLIT</a:t>
            </a:r>
          </a:p>
        </p:txBody>
      </p:sp>
      <p:sp>
        <p:nvSpPr>
          <p:cNvPr id="12" name="TextBox 11"/>
          <p:cNvSpPr txBox="1"/>
          <p:nvPr/>
        </p:nvSpPr>
        <p:spPr>
          <a:xfrm>
            <a:off x="6336792" y="2176272"/>
            <a:ext cx="2221992" cy="502920"/>
          </a:xfrm>
          <a:prstGeom prst="rect">
            <a:avLst/>
          </a:prstGeom>
          <a:noFill/>
        </p:spPr>
        <p:txBody>
          <a:bodyPr wrap="square" lIns="0" tIns="0" rIns="0" bIns="0" anchor="t">
            <a:spAutoFit/>
          </a:bodyPr>
          <a:lstStyle/>
          <a:p>
            <a:pPr algn="l">
              <a:lnSpc>
                <a:spcPct val="100000"/>
              </a:lnSpc>
            </a:pPr>
            <a:r>
              <a:rPr sz="1250" b="1" i="0">
                <a:solidFill>
                  <a:srgbClr val="1A1A1A"/>
                </a:solidFill>
                <a:latin typeface="Calibri"/>
              </a:rPr>
              <a:t>734 / 184, stratified 80/20</a:t>
            </a:r>
          </a:p>
        </p:txBody>
      </p:sp>
      <p:sp>
        <p:nvSpPr>
          <p:cNvPr id="13" name="Rounded Rectangle 12"/>
          <p:cNvSpPr/>
          <p:nvPr/>
        </p:nvSpPr>
        <p:spPr>
          <a:xfrm>
            <a:off x="8860536" y="1691640"/>
            <a:ext cx="2587752" cy="1051560"/>
          </a:xfrm>
          <a:prstGeom prst="roundRect">
            <a:avLst>
              <a:gd name="adj" fmla="val 8000"/>
            </a:avLst>
          </a:prstGeom>
          <a:solidFill>
            <a:srgbClr val="F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061704" y="1856232"/>
            <a:ext cx="2221992" cy="320040"/>
          </a:xfrm>
          <a:prstGeom prst="rect">
            <a:avLst/>
          </a:prstGeom>
          <a:noFill/>
        </p:spPr>
        <p:txBody>
          <a:bodyPr wrap="square" lIns="0" tIns="0" rIns="0" bIns="0" anchor="t">
            <a:spAutoFit/>
          </a:bodyPr>
          <a:lstStyle/>
          <a:p>
            <a:pPr algn="l">
              <a:lnSpc>
                <a:spcPct val="100000"/>
              </a:lnSpc>
            </a:pPr>
            <a:r>
              <a:rPr sz="1050" b="1" i="0">
                <a:solidFill>
                  <a:srgbClr val="C9748F"/>
                </a:solidFill>
                <a:latin typeface="Calibri"/>
              </a:rPr>
              <a:t>PREDICTS</a:t>
            </a:r>
          </a:p>
        </p:txBody>
      </p:sp>
      <p:sp>
        <p:nvSpPr>
          <p:cNvPr id="15" name="TextBox 14"/>
          <p:cNvSpPr txBox="1"/>
          <p:nvPr/>
        </p:nvSpPr>
        <p:spPr>
          <a:xfrm>
            <a:off x="9061704" y="2176272"/>
            <a:ext cx="2221992" cy="502920"/>
          </a:xfrm>
          <a:prstGeom prst="rect">
            <a:avLst/>
          </a:prstGeom>
          <a:noFill/>
        </p:spPr>
        <p:txBody>
          <a:bodyPr wrap="square" lIns="0" tIns="0" rIns="0" bIns="0" anchor="t">
            <a:spAutoFit/>
          </a:bodyPr>
          <a:lstStyle/>
          <a:p>
            <a:pPr algn="l">
              <a:lnSpc>
                <a:spcPct val="100000"/>
              </a:lnSpc>
            </a:pPr>
            <a:r>
              <a:rPr sz="1250" b="1" i="0">
                <a:solidFill>
                  <a:srgbClr val="1A1A1A"/>
                </a:solidFill>
                <a:latin typeface="Calibri"/>
              </a:rPr>
              <a:t>Presence of heart disease</a:t>
            </a:r>
          </a:p>
        </p:txBody>
      </p:sp>
      <p:sp>
        <p:nvSpPr>
          <p:cNvPr id="16" name="TextBox 15"/>
          <p:cNvSpPr txBox="1"/>
          <p:nvPr/>
        </p:nvSpPr>
        <p:spPr>
          <a:xfrm>
            <a:off x="685800" y="2926080"/>
            <a:ext cx="5486400" cy="320040"/>
          </a:xfrm>
          <a:prstGeom prst="rect">
            <a:avLst/>
          </a:prstGeom>
          <a:noFill/>
        </p:spPr>
        <p:txBody>
          <a:bodyPr wrap="square" lIns="0" tIns="0" rIns="0" bIns="0" anchor="t">
            <a:spAutoFit/>
          </a:bodyPr>
          <a:lstStyle/>
          <a:p>
            <a:pPr algn="l">
              <a:lnSpc>
                <a:spcPct val="100000"/>
              </a:lnSpc>
            </a:pPr>
            <a:r>
              <a:rPr sz="1250" b="1" i="0">
                <a:solidFill>
                  <a:srgbClr val="C9748F"/>
                </a:solidFill>
                <a:latin typeface="Calibri"/>
              </a:rPr>
              <a:t>THE PIPELINE</a:t>
            </a:r>
          </a:p>
        </p:txBody>
      </p:sp>
      <p:sp>
        <p:nvSpPr>
          <p:cNvPr id="17" name="Rounded Rectangle 16"/>
          <p:cNvSpPr/>
          <p:nvPr/>
        </p:nvSpPr>
        <p:spPr>
          <a:xfrm>
            <a:off x="685800" y="3383280"/>
            <a:ext cx="1874519" cy="96012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3547872"/>
            <a:ext cx="1691639" cy="685800"/>
          </a:xfrm>
          <a:prstGeom prst="rect">
            <a:avLst/>
          </a:prstGeom>
          <a:noFill/>
        </p:spPr>
        <p:txBody>
          <a:bodyPr wrap="square" lIns="0" tIns="0" rIns="0" bIns="0" anchor="ctr">
            <a:spAutoFit/>
          </a:bodyPr>
          <a:lstStyle/>
          <a:p>
            <a:pPr algn="ctr">
              <a:lnSpc>
                <a:spcPct val="115000"/>
              </a:lnSpc>
            </a:pPr>
            <a:r>
              <a:rPr sz="1200" b="1" i="0">
                <a:solidFill>
                  <a:srgbClr val="1A1A1A"/>
                </a:solidFill>
                <a:latin typeface="Calibri"/>
              </a:rPr>
              <a:t>918 patient</a:t>
            </a:r>
          </a:p>
          <a:p>
            <a:pPr algn="ctr">
              <a:lnSpc>
                <a:spcPct val="115000"/>
              </a:lnSpc>
            </a:pPr>
            <a:r>
              <a:rPr sz="1200" b="1" i="0">
                <a:solidFill>
                  <a:srgbClr val="1A1A1A"/>
                </a:solidFill>
                <a:latin typeface="Calibri"/>
              </a:rPr>
              <a:t>records</a:t>
            </a:r>
          </a:p>
        </p:txBody>
      </p:sp>
      <p:sp>
        <p:nvSpPr>
          <p:cNvPr id="19" name="TextBox 18"/>
          <p:cNvSpPr txBox="1"/>
          <p:nvPr/>
        </p:nvSpPr>
        <p:spPr>
          <a:xfrm>
            <a:off x="2560320" y="3520440"/>
            <a:ext cx="292608" cy="731520"/>
          </a:xfrm>
          <a:prstGeom prst="rect">
            <a:avLst/>
          </a:prstGeom>
          <a:noFill/>
        </p:spPr>
        <p:txBody>
          <a:bodyPr wrap="square" lIns="0" tIns="0" rIns="0" bIns="0" anchor="ctr">
            <a:spAutoFit/>
          </a:bodyPr>
          <a:lstStyle/>
          <a:p>
            <a:pPr algn="ctr">
              <a:lnSpc>
                <a:spcPct val="100000"/>
              </a:lnSpc>
            </a:pPr>
            <a:r>
              <a:rPr sz="2000" b="0" i="0">
                <a:solidFill>
                  <a:srgbClr val="C9748F"/>
                </a:solidFill>
                <a:latin typeface="Calibri"/>
              </a:rPr>
              <a:t>→</a:t>
            </a:r>
          </a:p>
        </p:txBody>
      </p:sp>
      <p:sp>
        <p:nvSpPr>
          <p:cNvPr id="20" name="Rounded Rectangle 19"/>
          <p:cNvSpPr/>
          <p:nvPr/>
        </p:nvSpPr>
        <p:spPr>
          <a:xfrm>
            <a:off x="2852927" y="3383280"/>
            <a:ext cx="1874519" cy="96012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944368" y="3547872"/>
            <a:ext cx="1691639" cy="685800"/>
          </a:xfrm>
          <a:prstGeom prst="rect">
            <a:avLst/>
          </a:prstGeom>
          <a:noFill/>
        </p:spPr>
        <p:txBody>
          <a:bodyPr wrap="square" lIns="0" tIns="0" rIns="0" bIns="0" anchor="ctr">
            <a:spAutoFit/>
          </a:bodyPr>
          <a:lstStyle/>
          <a:p>
            <a:pPr algn="ctr">
              <a:lnSpc>
                <a:spcPct val="115000"/>
              </a:lnSpc>
            </a:pPr>
            <a:r>
              <a:rPr sz="1200" b="1" i="0">
                <a:solidFill>
                  <a:srgbClr val="1A1A1A"/>
                </a:solidFill>
                <a:latin typeface="Calibri"/>
              </a:rPr>
              <a:t>734 train /</a:t>
            </a:r>
          </a:p>
          <a:p>
            <a:pPr algn="ctr">
              <a:lnSpc>
                <a:spcPct val="115000"/>
              </a:lnSpc>
            </a:pPr>
            <a:r>
              <a:rPr sz="1200" b="1" i="0">
                <a:solidFill>
                  <a:srgbClr val="1A1A1A"/>
                </a:solidFill>
                <a:latin typeface="Calibri"/>
              </a:rPr>
              <a:t>184 test</a:t>
            </a:r>
          </a:p>
        </p:txBody>
      </p:sp>
      <p:sp>
        <p:nvSpPr>
          <p:cNvPr id="22" name="TextBox 21"/>
          <p:cNvSpPr txBox="1"/>
          <p:nvPr/>
        </p:nvSpPr>
        <p:spPr>
          <a:xfrm>
            <a:off x="4727448" y="3520440"/>
            <a:ext cx="292608" cy="731520"/>
          </a:xfrm>
          <a:prstGeom prst="rect">
            <a:avLst/>
          </a:prstGeom>
          <a:noFill/>
        </p:spPr>
        <p:txBody>
          <a:bodyPr wrap="square" lIns="0" tIns="0" rIns="0" bIns="0" anchor="ctr">
            <a:spAutoFit/>
          </a:bodyPr>
          <a:lstStyle/>
          <a:p>
            <a:pPr algn="ctr">
              <a:lnSpc>
                <a:spcPct val="100000"/>
              </a:lnSpc>
            </a:pPr>
            <a:r>
              <a:rPr sz="2000" b="0" i="0">
                <a:solidFill>
                  <a:srgbClr val="C9748F"/>
                </a:solidFill>
                <a:latin typeface="Calibri"/>
              </a:rPr>
              <a:t>→</a:t>
            </a:r>
          </a:p>
        </p:txBody>
      </p:sp>
      <p:sp>
        <p:nvSpPr>
          <p:cNvPr id="23" name="Rounded Rectangle 22"/>
          <p:cNvSpPr/>
          <p:nvPr/>
        </p:nvSpPr>
        <p:spPr>
          <a:xfrm>
            <a:off x="5020055" y="3383280"/>
            <a:ext cx="1874519" cy="96012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111495" y="3547872"/>
            <a:ext cx="1691639" cy="685800"/>
          </a:xfrm>
          <a:prstGeom prst="rect">
            <a:avLst/>
          </a:prstGeom>
          <a:noFill/>
        </p:spPr>
        <p:txBody>
          <a:bodyPr wrap="square" lIns="0" tIns="0" rIns="0" bIns="0" anchor="ctr">
            <a:spAutoFit/>
          </a:bodyPr>
          <a:lstStyle/>
          <a:p>
            <a:pPr algn="ctr">
              <a:lnSpc>
                <a:spcPct val="115000"/>
              </a:lnSpc>
            </a:pPr>
            <a:r>
              <a:rPr sz="1200" b="1" i="0">
                <a:solidFill>
                  <a:srgbClr val="1A1A1A"/>
                </a:solidFill>
                <a:latin typeface="Calibri"/>
              </a:rPr>
              <a:t>6 criteria</a:t>
            </a:r>
          </a:p>
          <a:p>
            <a:pPr algn="ctr">
              <a:lnSpc>
                <a:spcPct val="115000"/>
              </a:lnSpc>
            </a:pPr>
            <a:r>
              <a:rPr sz="1200" b="1" i="0">
                <a:solidFill>
                  <a:srgbClr val="1A1A1A"/>
                </a:solidFill>
                <a:latin typeface="Calibri"/>
              </a:rPr>
              <a:t>tested</a:t>
            </a:r>
          </a:p>
        </p:txBody>
      </p:sp>
      <p:sp>
        <p:nvSpPr>
          <p:cNvPr id="25" name="TextBox 24"/>
          <p:cNvSpPr txBox="1"/>
          <p:nvPr/>
        </p:nvSpPr>
        <p:spPr>
          <a:xfrm>
            <a:off x="6894575" y="3520440"/>
            <a:ext cx="292608" cy="731520"/>
          </a:xfrm>
          <a:prstGeom prst="rect">
            <a:avLst/>
          </a:prstGeom>
          <a:noFill/>
        </p:spPr>
        <p:txBody>
          <a:bodyPr wrap="square" lIns="0" tIns="0" rIns="0" bIns="0" anchor="ctr">
            <a:spAutoFit/>
          </a:bodyPr>
          <a:lstStyle/>
          <a:p>
            <a:pPr algn="ctr">
              <a:lnSpc>
                <a:spcPct val="100000"/>
              </a:lnSpc>
            </a:pPr>
            <a:r>
              <a:rPr sz="2000" b="0" i="0">
                <a:solidFill>
                  <a:srgbClr val="C9748F"/>
                </a:solidFill>
                <a:latin typeface="Calibri"/>
              </a:rPr>
              <a:t>→</a:t>
            </a:r>
          </a:p>
        </p:txBody>
      </p:sp>
      <p:sp>
        <p:nvSpPr>
          <p:cNvPr id="26" name="Rounded Rectangle 25"/>
          <p:cNvSpPr/>
          <p:nvPr/>
        </p:nvSpPr>
        <p:spPr>
          <a:xfrm>
            <a:off x="7187183" y="3383280"/>
            <a:ext cx="1874519" cy="96012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278623" y="3547872"/>
            <a:ext cx="1691639" cy="685800"/>
          </a:xfrm>
          <a:prstGeom prst="rect">
            <a:avLst/>
          </a:prstGeom>
          <a:noFill/>
        </p:spPr>
        <p:txBody>
          <a:bodyPr wrap="square" lIns="0" tIns="0" rIns="0" bIns="0" anchor="ctr">
            <a:spAutoFit/>
          </a:bodyPr>
          <a:lstStyle/>
          <a:p>
            <a:pPr algn="ctr">
              <a:lnSpc>
                <a:spcPct val="115000"/>
              </a:lnSpc>
            </a:pPr>
            <a:r>
              <a:rPr sz="1200" b="1" i="0">
                <a:solidFill>
                  <a:srgbClr val="1A1A1A"/>
                </a:solidFill>
                <a:latin typeface="Calibri"/>
              </a:rPr>
              <a:t>2 mitigations</a:t>
            </a:r>
          </a:p>
          <a:p>
            <a:pPr algn="ctr">
              <a:lnSpc>
                <a:spcPct val="115000"/>
              </a:lnSpc>
            </a:pPr>
            <a:r>
              <a:rPr sz="1200" b="1" i="0">
                <a:solidFill>
                  <a:srgbClr val="1A1A1A"/>
                </a:solidFill>
                <a:latin typeface="Calibri"/>
              </a:rPr>
              <a:t>applied</a:t>
            </a:r>
          </a:p>
        </p:txBody>
      </p:sp>
      <p:sp>
        <p:nvSpPr>
          <p:cNvPr id="28" name="TextBox 27"/>
          <p:cNvSpPr txBox="1"/>
          <p:nvPr/>
        </p:nvSpPr>
        <p:spPr>
          <a:xfrm>
            <a:off x="9061704" y="3520440"/>
            <a:ext cx="292608" cy="731520"/>
          </a:xfrm>
          <a:prstGeom prst="rect">
            <a:avLst/>
          </a:prstGeom>
          <a:noFill/>
        </p:spPr>
        <p:txBody>
          <a:bodyPr wrap="square" lIns="0" tIns="0" rIns="0" bIns="0" anchor="ctr">
            <a:spAutoFit/>
          </a:bodyPr>
          <a:lstStyle/>
          <a:p>
            <a:pPr algn="ctr">
              <a:lnSpc>
                <a:spcPct val="100000"/>
              </a:lnSpc>
            </a:pPr>
            <a:r>
              <a:rPr sz="2000" b="0" i="0">
                <a:solidFill>
                  <a:srgbClr val="C9748F"/>
                </a:solidFill>
                <a:latin typeface="Calibri"/>
              </a:rPr>
              <a:t>→</a:t>
            </a:r>
          </a:p>
        </p:txBody>
      </p:sp>
      <p:sp>
        <p:nvSpPr>
          <p:cNvPr id="29" name="Rounded Rectangle 28"/>
          <p:cNvSpPr/>
          <p:nvPr/>
        </p:nvSpPr>
        <p:spPr>
          <a:xfrm>
            <a:off x="9354311" y="3383280"/>
            <a:ext cx="1874519" cy="96012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445751" y="3547872"/>
            <a:ext cx="1691639" cy="685800"/>
          </a:xfrm>
          <a:prstGeom prst="rect">
            <a:avLst/>
          </a:prstGeom>
          <a:noFill/>
        </p:spPr>
        <p:txBody>
          <a:bodyPr wrap="square" lIns="0" tIns="0" rIns="0" bIns="0" anchor="ctr">
            <a:spAutoFit/>
          </a:bodyPr>
          <a:lstStyle/>
          <a:p>
            <a:pPr algn="ctr">
              <a:lnSpc>
                <a:spcPct val="115000"/>
              </a:lnSpc>
            </a:pPr>
            <a:r>
              <a:rPr sz="1200" b="1" i="0">
                <a:solidFill>
                  <a:srgbClr val="1A1A1A"/>
                </a:solidFill>
                <a:latin typeface="Calibri"/>
              </a:rPr>
              <a:t>Re-tested</a:t>
            </a:r>
          </a:p>
          <a:p>
            <a:pPr algn="ctr">
              <a:lnSpc>
                <a:spcPct val="115000"/>
              </a:lnSpc>
            </a:pPr>
            <a:r>
              <a:rPr sz="1200" b="1" i="0">
                <a:solidFill>
                  <a:srgbClr val="1A1A1A"/>
                </a:solidFill>
                <a:latin typeface="Calibri"/>
              </a:rPr>
              <a:t>on all 6</a:t>
            </a:r>
          </a:p>
        </p:txBody>
      </p:sp>
      <p:sp>
        <p:nvSpPr>
          <p:cNvPr id="35" name="TextBox 34"/>
          <p:cNvSpPr txBox="1"/>
          <p:nvPr/>
        </p:nvSpPr>
        <p:spPr>
          <a:xfrm>
            <a:off x="685800" y="6510528"/>
            <a:ext cx="6400800" cy="274320"/>
          </a:xfrm>
          <a:prstGeom prst="rect">
            <a:avLst/>
          </a:prstGeom>
          <a:noFill/>
        </p:spPr>
        <p:txBody>
          <a:bodyPr wrap="square" lIns="0" tIns="0" rIns="0" bIns="0" anchor="t">
            <a:spAutoFit/>
          </a:bodyPr>
          <a:lstStyle/>
          <a:p>
            <a:pPr algn="l">
              <a:lnSpc>
                <a:spcPct val="100000"/>
              </a:lnSpc>
            </a:pPr>
            <a:r>
              <a:rPr sz="950" b="0" i="0">
                <a:solidFill>
                  <a:srgbClr val="999999"/>
                </a:solidFill>
                <a:latin typeface="Calibri"/>
              </a:rPr>
              <a:t>Procedural Fairness in Healthcare AI</a:t>
            </a:r>
          </a:p>
        </p:txBody>
      </p:sp>
      <p:sp>
        <p:nvSpPr>
          <p:cNvPr id="36" name="TextBox 35"/>
          <p:cNvSpPr txBox="1"/>
          <p:nvPr/>
        </p:nvSpPr>
        <p:spPr>
          <a:xfrm>
            <a:off x="11521440" y="6510528"/>
            <a:ext cx="457200" cy="274320"/>
          </a:xfrm>
          <a:prstGeom prst="rect">
            <a:avLst/>
          </a:prstGeom>
          <a:noFill/>
        </p:spPr>
        <p:txBody>
          <a:bodyPr wrap="square" lIns="0" tIns="0" rIns="0" bIns="0" anchor="t">
            <a:spAutoFit/>
          </a:bodyPr>
          <a:lstStyle/>
          <a:p>
            <a:pPr algn="r">
              <a:lnSpc>
                <a:spcPct val="100000"/>
              </a:lnSpc>
            </a:pPr>
            <a:r>
              <a:rPr sz="950" b="0" i="0">
                <a:solidFill>
                  <a:srgbClr val="999999"/>
                </a:solidFill>
                <a:latin typeface="Calibri"/>
              </a:rPr>
              <a:t>4</a:t>
            </a:r>
          </a:p>
        </p:txBody>
      </p:sp>
      <p:sp>
        <p:nvSpPr>
          <p:cNvPr id="38" name="Rounded Rectangle 30">
            <a:extLst>
              <a:ext uri="{FF2B5EF4-FFF2-40B4-BE49-F238E27FC236}">
                <a16:creationId xmlns:a16="http://schemas.microsoft.com/office/drawing/2014/main" id="{9298A441-5498-A30A-74CE-82DEAA880F73}"/>
              </a:ext>
            </a:extLst>
          </p:cNvPr>
          <p:cNvSpPr/>
          <p:nvPr/>
        </p:nvSpPr>
        <p:spPr>
          <a:xfrm>
            <a:off x="685800" y="4800600"/>
            <a:ext cx="10789920" cy="10058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a:extLst>
              <a:ext uri="{FF2B5EF4-FFF2-40B4-BE49-F238E27FC236}">
                <a16:creationId xmlns:a16="http://schemas.microsoft.com/office/drawing/2014/main" id="{BAB82A3F-7BE6-9C54-3CEC-0F52D901D1D3}"/>
              </a:ext>
            </a:extLst>
          </p:cNvPr>
          <p:cNvSpPr/>
          <p:nvPr/>
        </p:nvSpPr>
        <p:spPr>
          <a:xfrm>
            <a:off x="685800" y="4800600"/>
            <a:ext cx="64008" cy="1005840"/>
          </a:xfrm>
          <a:prstGeom prst="rect">
            <a:avLst/>
          </a:prstGeom>
          <a:solidFill>
            <a:srgbClr val="C97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a:extLst>
              <a:ext uri="{FF2B5EF4-FFF2-40B4-BE49-F238E27FC236}">
                <a16:creationId xmlns:a16="http://schemas.microsoft.com/office/drawing/2014/main" id="{19242092-C994-F2DD-9C46-6BF023BF61F6}"/>
              </a:ext>
            </a:extLst>
          </p:cNvPr>
          <p:cNvSpPr txBox="1"/>
          <p:nvPr/>
        </p:nvSpPr>
        <p:spPr>
          <a:xfrm>
            <a:off x="960120" y="4956048"/>
            <a:ext cx="10241280" cy="200055"/>
          </a:xfrm>
          <a:prstGeom prst="rect">
            <a:avLst/>
          </a:prstGeom>
          <a:noFill/>
        </p:spPr>
        <p:txBody>
          <a:bodyPr wrap="square" lIns="0" tIns="0" rIns="0" bIns="0" anchor="t">
            <a:spAutoFit/>
          </a:bodyPr>
          <a:lstStyle/>
          <a:p>
            <a:pPr algn="l">
              <a:lnSpc>
                <a:spcPct val="100000"/>
              </a:lnSpc>
            </a:pPr>
            <a:r>
              <a:rPr lang="en-GB" sz="1300" b="1" i="0" dirty="0">
                <a:solidFill>
                  <a:srgbClr val="1A1A1A"/>
                </a:solidFill>
                <a:latin typeface="Calibri"/>
              </a:rPr>
              <a:t>Why a logistic model</a:t>
            </a:r>
            <a:r>
              <a:rPr sz="1300" b="1" i="0" dirty="0">
                <a:solidFill>
                  <a:srgbClr val="1A1A1A"/>
                </a:solidFill>
                <a:latin typeface="Calibri"/>
              </a:rPr>
              <a:t>?</a:t>
            </a:r>
          </a:p>
        </p:txBody>
      </p:sp>
      <p:sp>
        <p:nvSpPr>
          <p:cNvPr id="44" name="TextBox 43">
            <a:extLst>
              <a:ext uri="{FF2B5EF4-FFF2-40B4-BE49-F238E27FC236}">
                <a16:creationId xmlns:a16="http://schemas.microsoft.com/office/drawing/2014/main" id="{2381FAE8-7926-6B2E-08C1-BE6EC1CA1ED8}"/>
              </a:ext>
            </a:extLst>
          </p:cNvPr>
          <p:cNvSpPr txBox="1"/>
          <p:nvPr/>
        </p:nvSpPr>
        <p:spPr>
          <a:xfrm>
            <a:off x="960120" y="5257800"/>
            <a:ext cx="10241280" cy="444609"/>
          </a:xfrm>
          <a:prstGeom prst="rect">
            <a:avLst/>
          </a:prstGeom>
          <a:noFill/>
        </p:spPr>
        <p:txBody>
          <a:bodyPr wrap="square" lIns="0" tIns="0" rIns="0" bIns="0" anchor="t">
            <a:spAutoFit/>
          </a:bodyPr>
          <a:lstStyle/>
          <a:p>
            <a:pPr>
              <a:lnSpc>
                <a:spcPct val="125000"/>
              </a:lnSpc>
            </a:pPr>
            <a:r>
              <a:rPr lang="en-GB" sz="1200" dirty="0">
                <a:solidFill>
                  <a:schemeClr val="tx1">
                    <a:lumMod val="65000"/>
                    <a:lumOff val="35000"/>
                  </a:schemeClr>
                </a:solidFill>
              </a:rPr>
              <a:t>It was chosen deliberately for this fairness audit because its decisions are easier to interpret. This transparency makes it possible to better understand where bias may be coming from and how the model is treating different groups.</a:t>
            </a:r>
            <a:endParaRPr sz="1200" b="0" i="0" dirty="0">
              <a:solidFill>
                <a:schemeClr val="tx1">
                  <a:lumMod val="65000"/>
                  <a:lumOff val="35000"/>
                </a:schemeClr>
              </a:solidFill>
              <a:latin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8F9"/>
        </a:solidFill>
        <a:effectLst/>
      </p:bgPr>
    </p:bg>
    <p:spTree>
      <p:nvGrpSpPr>
        <p:cNvPr id="1" name="">
          <a:extLst>
            <a:ext uri="{FF2B5EF4-FFF2-40B4-BE49-F238E27FC236}">
              <a16:creationId xmlns:a16="http://schemas.microsoft.com/office/drawing/2014/main" id="{2F3FA5F2-3482-5AEA-AF85-D1E49946F5B4}"/>
            </a:ext>
          </a:extLst>
        </p:cNvPr>
        <p:cNvGrpSpPr/>
        <p:nvPr/>
      </p:nvGrpSpPr>
      <p:grpSpPr>
        <a:xfrm>
          <a:off x="0" y="0"/>
          <a:ext cx="0" cy="0"/>
          <a:chOff x="0" y="0"/>
          <a:chExt cx="0" cy="0"/>
        </a:xfrm>
      </p:grpSpPr>
      <p:sp>
        <p:nvSpPr>
          <p:cNvPr id="34" name="Rectangle: Rounded Corners 33">
            <a:extLst>
              <a:ext uri="{FF2B5EF4-FFF2-40B4-BE49-F238E27FC236}">
                <a16:creationId xmlns:a16="http://schemas.microsoft.com/office/drawing/2014/main" id="{DE5A8D5A-9770-D503-941B-19E22027D53D}"/>
              </a:ext>
            </a:extLst>
          </p:cNvPr>
          <p:cNvSpPr>
            <a:spLocks noGrp="1" noRot="1" noMove="1" noResize="1" noEditPoints="1" noAdjustHandles="1" noChangeArrowheads="1" noChangeShapeType="1"/>
          </p:cNvSpPr>
          <p:nvPr/>
        </p:nvSpPr>
        <p:spPr>
          <a:xfrm>
            <a:off x="434340" y="3449310"/>
            <a:ext cx="11157296" cy="1179946"/>
          </a:xfrm>
          <a:prstGeom prst="roundRect">
            <a:avLst/>
          </a:prstGeom>
          <a:solidFill>
            <a:schemeClr val="bg1"/>
          </a:solidFill>
          <a:ln>
            <a:solidFill>
              <a:srgbClr val="C974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9" name="Rectangle: Rounded Corners 38">
            <a:extLst>
              <a:ext uri="{FF2B5EF4-FFF2-40B4-BE49-F238E27FC236}">
                <a16:creationId xmlns:a16="http://schemas.microsoft.com/office/drawing/2014/main" id="{81017542-FD03-81A6-8705-BF7F37E7614D}"/>
              </a:ext>
            </a:extLst>
          </p:cNvPr>
          <p:cNvSpPr/>
          <p:nvPr/>
        </p:nvSpPr>
        <p:spPr>
          <a:xfrm>
            <a:off x="434340" y="4844496"/>
            <a:ext cx="11157296" cy="1179946"/>
          </a:xfrm>
          <a:prstGeom prst="roundRect">
            <a:avLst/>
          </a:prstGeom>
          <a:solidFill>
            <a:schemeClr val="bg1"/>
          </a:solidFill>
          <a:ln>
            <a:solidFill>
              <a:srgbClr val="C974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2" name="Rectangle: Rounded Corners 31">
            <a:extLst>
              <a:ext uri="{FF2B5EF4-FFF2-40B4-BE49-F238E27FC236}">
                <a16:creationId xmlns:a16="http://schemas.microsoft.com/office/drawing/2014/main" id="{7F4FB858-8B1B-A185-49AE-92DD2E39DF72}"/>
              </a:ext>
            </a:extLst>
          </p:cNvPr>
          <p:cNvSpPr/>
          <p:nvPr/>
        </p:nvSpPr>
        <p:spPr>
          <a:xfrm>
            <a:off x="463436" y="2054124"/>
            <a:ext cx="11157296" cy="1179946"/>
          </a:xfrm>
          <a:prstGeom prst="roundRect">
            <a:avLst/>
          </a:prstGeom>
          <a:solidFill>
            <a:schemeClr val="bg1"/>
          </a:solidFill>
          <a:ln>
            <a:solidFill>
              <a:srgbClr val="C974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EE63CE42-DF5C-E8DF-D0FB-EBD180CE4597}"/>
              </a:ext>
            </a:extLst>
          </p:cNvPr>
          <p:cNvSpPr txBox="1"/>
          <p:nvPr/>
        </p:nvSpPr>
        <p:spPr>
          <a:xfrm>
            <a:off x="685800" y="384048"/>
            <a:ext cx="9144000" cy="320040"/>
          </a:xfrm>
          <a:prstGeom prst="rect">
            <a:avLst/>
          </a:prstGeom>
          <a:noFill/>
        </p:spPr>
        <p:txBody>
          <a:bodyPr wrap="square" lIns="0" tIns="0" rIns="0" bIns="0" anchor="t">
            <a:spAutoFit/>
          </a:bodyPr>
          <a:lstStyle/>
          <a:p>
            <a:pPr algn="l">
              <a:lnSpc>
                <a:spcPct val="100000"/>
              </a:lnSpc>
            </a:pPr>
            <a:r>
              <a:rPr sz="1300" b="1" i="0">
                <a:solidFill>
                  <a:srgbClr val="C9748F"/>
                </a:solidFill>
                <a:latin typeface="Calibri"/>
              </a:rPr>
              <a:t>METHODOLOGY</a:t>
            </a:r>
          </a:p>
        </p:txBody>
      </p:sp>
      <p:sp>
        <p:nvSpPr>
          <p:cNvPr id="3" name="TextBox 2">
            <a:extLst>
              <a:ext uri="{FF2B5EF4-FFF2-40B4-BE49-F238E27FC236}">
                <a16:creationId xmlns:a16="http://schemas.microsoft.com/office/drawing/2014/main" id="{93830912-702C-BFC9-A76F-4188EB9FE1F2}"/>
              </a:ext>
            </a:extLst>
          </p:cNvPr>
          <p:cNvSpPr txBox="1"/>
          <p:nvPr/>
        </p:nvSpPr>
        <p:spPr>
          <a:xfrm>
            <a:off x="685800" y="658368"/>
            <a:ext cx="10789920" cy="442237"/>
          </a:xfrm>
          <a:prstGeom prst="rect">
            <a:avLst/>
          </a:prstGeom>
          <a:noFill/>
        </p:spPr>
        <p:txBody>
          <a:bodyPr wrap="square" lIns="0" tIns="0" rIns="0" bIns="0" anchor="t">
            <a:spAutoFit/>
          </a:bodyPr>
          <a:lstStyle/>
          <a:p>
            <a:pPr algn="l">
              <a:lnSpc>
                <a:spcPct val="102000"/>
              </a:lnSpc>
            </a:pPr>
            <a:r>
              <a:rPr lang="en-GB" sz="3000" b="1" i="0" dirty="0">
                <a:solidFill>
                  <a:srgbClr val="1A1A1A"/>
                </a:solidFill>
                <a:latin typeface="Georgia"/>
              </a:rPr>
              <a:t>Design Decisions </a:t>
            </a:r>
            <a:endParaRPr sz="3000" b="1" i="0" dirty="0">
              <a:solidFill>
                <a:srgbClr val="1A1A1A"/>
              </a:solidFill>
              <a:latin typeface="Georgia"/>
            </a:endParaRPr>
          </a:p>
        </p:txBody>
      </p:sp>
      <p:sp>
        <p:nvSpPr>
          <p:cNvPr id="35" name="TextBox 34">
            <a:extLst>
              <a:ext uri="{FF2B5EF4-FFF2-40B4-BE49-F238E27FC236}">
                <a16:creationId xmlns:a16="http://schemas.microsoft.com/office/drawing/2014/main" id="{FE618041-C0D7-5843-E2D7-5B758CC1F536}"/>
              </a:ext>
            </a:extLst>
          </p:cNvPr>
          <p:cNvSpPr txBox="1"/>
          <p:nvPr/>
        </p:nvSpPr>
        <p:spPr>
          <a:xfrm>
            <a:off x="685800" y="6510528"/>
            <a:ext cx="6400800" cy="274320"/>
          </a:xfrm>
          <a:prstGeom prst="rect">
            <a:avLst/>
          </a:prstGeom>
          <a:noFill/>
        </p:spPr>
        <p:txBody>
          <a:bodyPr wrap="square" lIns="0" tIns="0" rIns="0" bIns="0" anchor="t">
            <a:spAutoFit/>
          </a:bodyPr>
          <a:lstStyle/>
          <a:p>
            <a:pPr algn="l">
              <a:lnSpc>
                <a:spcPct val="100000"/>
              </a:lnSpc>
            </a:pPr>
            <a:r>
              <a:rPr sz="950" b="0" i="0">
                <a:solidFill>
                  <a:srgbClr val="999999"/>
                </a:solidFill>
                <a:latin typeface="Calibri"/>
              </a:rPr>
              <a:t>Procedural Fairness in Healthcare AI</a:t>
            </a:r>
          </a:p>
        </p:txBody>
      </p:sp>
      <p:sp>
        <p:nvSpPr>
          <p:cNvPr id="36" name="TextBox 35">
            <a:extLst>
              <a:ext uri="{FF2B5EF4-FFF2-40B4-BE49-F238E27FC236}">
                <a16:creationId xmlns:a16="http://schemas.microsoft.com/office/drawing/2014/main" id="{17B871D9-C431-76D3-C3F8-E54553FEDF76}"/>
              </a:ext>
            </a:extLst>
          </p:cNvPr>
          <p:cNvSpPr txBox="1"/>
          <p:nvPr/>
        </p:nvSpPr>
        <p:spPr>
          <a:xfrm>
            <a:off x="11521440" y="6510528"/>
            <a:ext cx="457200" cy="274320"/>
          </a:xfrm>
          <a:prstGeom prst="rect">
            <a:avLst/>
          </a:prstGeom>
          <a:noFill/>
        </p:spPr>
        <p:txBody>
          <a:bodyPr wrap="square" lIns="0" tIns="0" rIns="0" bIns="0" anchor="t">
            <a:spAutoFit/>
          </a:bodyPr>
          <a:lstStyle/>
          <a:p>
            <a:pPr algn="r">
              <a:lnSpc>
                <a:spcPct val="100000"/>
              </a:lnSpc>
            </a:pPr>
            <a:r>
              <a:rPr sz="950" b="0" i="0">
                <a:solidFill>
                  <a:srgbClr val="999999"/>
                </a:solidFill>
                <a:latin typeface="Calibri"/>
              </a:rPr>
              <a:t>4</a:t>
            </a:r>
          </a:p>
        </p:txBody>
      </p:sp>
      <p:sp>
        <p:nvSpPr>
          <p:cNvPr id="31" name="TextBox 30">
            <a:extLst>
              <a:ext uri="{FF2B5EF4-FFF2-40B4-BE49-F238E27FC236}">
                <a16:creationId xmlns:a16="http://schemas.microsoft.com/office/drawing/2014/main" id="{A407134F-5D04-70D0-9C96-30EF70E76BD8}"/>
              </a:ext>
            </a:extLst>
          </p:cNvPr>
          <p:cNvSpPr txBox="1"/>
          <p:nvPr/>
        </p:nvSpPr>
        <p:spPr>
          <a:xfrm>
            <a:off x="487218" y="2074930"/>
            <a:ext cx="11292840" cy="3970318"/>
          </a:xfrm>
          <a:prstGeom prst="rect">
            <a:avLst/>
          </a:prstGeom>
          <a:noFill/>
          <a:ln>
            <a:noFill/>
          </a:ln>
        </p:spPr>
        <p:txBody>
          <a:bodyPr wrap="square" rtlCol="0">
            <a:spAutoFit/>
          </a:bodyPr>
          <a:lstStyle/>
          <a:p>
            <a:pPr marL="342900" indent="-342900">
              <a:buAutoNum type="arabicPeriod"/>
            </a:pPr>
            <a:r>
              <a:rPr lang="en-GB" b="1" dirty="0">
                <a:solidFill>
                  <a:srgbClr val="C9748F"/>
                </a:solidFill>
              </a:rPr>
              <a:t>No data leakage</a:t>
            </a:r>
          </a:p>
          <a:p>
            <a:endParaRPr lang="en-GB" b="1" dirty="0"/>
          </a:p>
          <a:p>
            <a:r>
              <a:rPr lang="en-GB" dirty="0"/>
              <a:t>Missing values were filled in, and the data was scaled using only the training set, so the model never saw anything about the test patients before it was evaluated.</a:t>
            </a:r>
          </a:p>
          <a:p>
            <a:endParaRPr lang="en-GB" dirty="0"/>
          </a:p>
          <a:p>
            <a:r>
              <a:rPr lang="en-GB" b="1" dirty="0">
                <a:solidFill>
                  <a:srgbClr val="C9748F"/>
                </a:solidFill>
              </a:rPr>
              <a:t>2. A split that protects the smallest group</a:t>
            </a:r>
          </a:p>
          <a:p>
            <a:br>
              <a:rPr lang="en-GB" dirty="0"/>
            </a:br>
            <a:r>
              <a:rPr lang="en-GB" dirty="0"/>
              <a:t>The train/test split was balanced on both outcome and sex, so the test set was guaranteed a fair share of female patients instead of leaving it to chance.</a:t>
            </a:r>
          </a:p>
          <a:p>
            <a:endParaRPr lang="en-GB" dirty="0">
              <a:solidFill>
                <a:srgbClr val="C9748F"/>
              </a:solidFill>
            </a:endParaRPr>
          </a:p>
          <a:p>
            <a:r>
              <a:rPr lang="en-GB" b="1" dirty="0">
                <a:solidFill>
                  <a:srgbClr val="C9748F"/>
                </a:solidFill>
              </a:rPr>
              <a:t>3. Sex and age kept in on purpose</a:t>
            </a:r>
          </a:p>
          <a:p>
            <a:br>
              <a:rPr lang="en-GB" dirty="0"/>
            </a:br>
            <a:r>
              <a:rPr lang="en-GB" dirty="0"/>
              <a:t>Removing them would not stop the model picking up those patterns through related measurements, so keeping them in lets the effect be measured openly rather than hidden.</a:t>
            </a:r>
          </a:p>
        </p:txBody>
      </p:sp>
    </p:spTree>
    <p:extLst>
      <p:ext uri="{BB962C8B-B14F-4D97-AF65-F5344CB8AC3E}">
        <p14:creationId xmlns:p14="http://schemas.microsoft.com/office/powerpoint/2010/main" val="42564285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8F9"/>
        </a:solidFill>
        <a:effectLst/>
      </p:bgPr>
    </p:bg>
    <p:spTree>
      <p:nvGrpSpPr>
        <p:cNvPr id="1" name=""/>
        <p:cNvGrpSpPr/>
        <p:nvPr/>
      </p:nvGrpSpPr>
      <p:grpSpPr>
        <a:xfrm>
          <a:off x="0" y="0"/>
          <a:ext cx="0" cy="0"/>
          <a:chOff x="0" y="0"/>
          <a:chExt cx="0" cy="0"/>
        </a:xfrm>
      </p:grpSpPr>
      <p:sp>
        <p:nvSpPr>
          <p:cNvPr id="2" name="TextBox 1"/>
          <p:cNvSpPr txBox="1"/>
          <p:nvPr/>
        </p:nvSpPr>
        <p:spPr>
          <a:xfrm>
            <a:off x="685800" y="384048"/>
            <a:ext cx="9144000" cy="320040"/>
          </a:xfrm>
          <a:prstGeom prst="rect">
            <a:avLst/>
          </a:prstGeom>
          <a:noFill/>
        </p:spPr>
        <p:txBody>
          <a:bodyPr wrap="square" lIns="0" tIns="0" rIns="0" bIns="0" anchor="t">
            <a:spAutoFit/>
          </a:bodyPr>
          <a:lstStyle/>
          <a:p>
            <a:pPr algn="l">
              <a:lnSpc>
                <a:spcPct val="100000"/>
              </a:lnSpc>
            </a:pPr>
            <a:r>
              <a:rPr sz="1300" b="1" i="0">
                <a:solidFill>
                  <a:srgbClr val="C9748F"/>
                </a:solidFill>
                <a:latin typeface="Calibri"/>
              </a:rPr>
              <a:t>BASELINE RESULTS</a:t>
            </a:r>
          </a:p>
        </p:txBody>
      </p:sp>
      <p:sp>
        <p:nvSpPr>
          <p:cNvPr id="3" name="TextBox 2"/>
          <p:cNvSpPr txBox="1"/>
          <p:nvPr/>
        </p:nvSpPr>
        <p:spPr>
          <a:xfrm>
            <a:off x="685800" y="658368"/>
            <a:ext cx="10789920" cy="442237"/>
          </a:xfrm>
          <a:prstGeom prst="rect">
            <a:avLst/>
          </a:prstGeom>
          <a:noFill/>
        </p:spPr>
        <p:txBody>
          <a:bodyPr wrap="square" lIns="0" tIns="0" rIns="0" bIns="0" anchor="t">
            <a:spAutoFit/>
          </a:bodyPr>
          <a:lstStyle/>
          <a:p>
            <a:pPr algn="l">
              <a:lnSpc>
                <a:spcPct val="102000"/>
              </a:lnSpc>
            </a:pPr>
            <a:r>
              <a:rPr sz="3000" b="1" i="0" dirty="0">
                <a:solidFill>
                  <a:srgbClr val="1A1A1A"/>
                </a:solidFill>
                <a:latin typeface="Georgia"/>
              </a:rPr>
              <a:t>A Strong Model</a:t>
            </a:r>
            <a:r>
              <a:rPr lang="en-GB" sz="3000" b="1" i="0" dirty="0">
                <a:solidFill>
                  <a:srgbClr val="1A1A1A"/>
                </a:solidFill>
                <a:latin typeface="Georgia"/>
              </a:rPr>
              <a:t>…</a:t>
            </a:r>
            <a:r>
              <a:rPr sz="3000" b="1" i="0" dirty="0">
                <a:solidFill>
                  <a:srgbClr val="1A1A1A"/>
                </a:solidFill>
                <a:latin typeface="Georgia"/>
              </a:rPr>
              <a:t>On the Surface</a:t>
            </a:r>
          </a:p>
        </p:txBody>
      </p:sp>
      <p:sp>
        <p:nvSpPr>
          <p:cNvPr id="4" name="Rounded Rectangle 3"/>
          <p:cNvSpPr/>
          <p:nvPr/>
        </p:nvSpPr>
        <p:spPr>
          <a:xfrm>
            <a:off x="3535680" y="1641980"/>
            <a:ext cx="5120640" cy="1874519"/>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810000" y="2057649"/>
            <a:ext cx="4572000" cy="830997"/>
          </a:xfrm>
          <a:prstGeom prst="rect">
            <a:avLst/>
          </a:prstGeom>
          <a:noFill/>
        </p:spPr>
        <p:txBody>
          <a:bodyPr wrap="square" lIns="0" tIns="0" rIns="0" bIns="0" anchor="t">
            <a:spAutoFit/>
          </a:bodyPr>
          <a:lstStyle/>
          <a:p>
            <a:r>
              <a:rPr sz="5200" b="1" i="0" dirty="0">
                <a:solidFill>
                  <a:srgbClr val="C9748F"/>
                </a:solidFill>
                <a:latin typeface="Georgia"/>
              </a:rPr>
              <a:t>0.957</a:t>
            </a:r>
            <a:r>
              <a:rPr lang="en-GB" sz="5200" b="1" i="0" dirty="0">
                <a:solidFill>
                  <a:srgbClr val="C9748F"/>
                </a:solidFill>
                <a:latin typeface="Georgia"/>
              </a:rPr>
              <a:t> </a:t>
            </a:r>
            <a:r>
              <a:rPr lang="en-GB" sz="5400" b="1" dirty="0">
                <a:solidFill>
                  <a:srgbClr val="C9748F"/>
                </a:solidFill>
                <a:latin typeface="Georgia" panose="02040502050405020303" pitchFamily="18" charset="0"/>
              </a:rPr>
              <a:t>≥ 0.80</a:t>
            </a:r>
            <a:endParaRPr sz="5200" b="1" i="0" dirty="0">
              <a:solidFill>
                <a:srgbClr val="C9748F"/>
              </a:solidFill>
              <a:latin typeface="Georgia"/>
            </a:endParaRPr>
          </a:p>
        </p:txBody>
      </p:sp>
      <p:sp>
        <p:nvSpPr>
          <p:cNvPr id="6" name="TextBox 5"/>
          <p:cNvSpPr txBox="1"/>
          <p:nvPr/>
        </p:nvSpPr>
        <p:spPr>
          <a:xfrm>
            <a:off x="5255267" y="3230922"/>
            <a:ext cx="1864346" cy="200055"/>
          </a:xfrm>
          <a:prstGeom prst="rect">
            <a:avLst/>
          </a:prstGeom>
          <a:noFill/>
        </p:spPr>
        <p:txBody>
          <a:bodyPr wrap="square" lIns="0" tIns="0" rIns="0" bIns="0" anchor="t">
            <a:spAutoFit/>
          </a:bodyPr>
          <a:lstStyle/>
          <a:p>
            <a:r>
              <a:rPr sz="1300" b="0" i="0" dirty="0">
                <a:solidFill>
                  <a:srgbClr val="666666"/>
                </a:solidFill>
                <a:latin typeface="Calibri"/>
              </a:rPr>
              <a:t>AUC-ROC </a:t>
            </a:r>
            <a:r>
              <a:rPr lang="en-GB" sz="1300" dirty="0">
                <a:solidFill>
                  <a:srgbClr val="666666"/>
                </a:solidFill>
              </a:rPr>
              <a:t>threshold</a:t>
            </a:r>
            <a:endParaRPr sz="1300" b="0" i="0" dirty="0">
              <a:solidFill>
                <a:srgbClr val="666666"/>
              </a:solidFill>
              <a:latin typeface="Calibri"/>
            </a:endParaRPr>
          </a:p>
        </p:txBody>
      </p:sp>
      <p:sp>
        <p:nvSpPr>
          <p:cNvPr id="10" name="TextBox 9"/>
          <p:cNvSpPr txBox="1"/>
          <p:nvPr/>
        </p:nvSpPr>
        <p:spPr>
          <a:xfrm>
            <a:off x="685800" y="4160520"/>
            <a:ext cx="10058400" cy="365760"/>
          </a:xfrm>
          <a:prstGeom prst="rect">
            <a:avLst/>
          </a:prstGeom>
          <a:noFill/>
        </p:spPr>
        <p:txBody>
          <a:bodyPr wrap="square" lIns="0" tIns="0" rIns="0" bIns="0" anchor="t">
            <a:spAutoFit/>
          </a:bodyPr>
          <a:lstStyle/>
          <a:p>
            <a:pPr algn="l">
              <a:lnSpc>
                <a:spcPct val="100000"/>
              </a:lnSpc>
            </a:pPr>
            <a:r>
              <a:rPr sz="1300" b="1" i="0">
                <a:solidFill>
                  <a:srgbClr val="1A1A1A"/>
                </a:solidFill>
                <a:latin typeface="Calibri"/>
              </a:rPr>
              <a:t>3 OF 6 PROCEDURAL FAIRNESS CRITERIA PASSED AT BASELINE</a:t>
            </a:r>
          </a:p>
        </p:txBody>
      </p:sp>
      <p:sp>
        <p:nvSpPr>
          <p:cNvPr id="11" name="Oval 10"/>
          <p:cNvSpPr/>
          <p:nvPr/>
        </p:nvSpPr>
        <p:spPr>
          <a:xfrm>
            <a:off x="1097280" y="4937759"/>
            <a:ext cx="274320" cy="274320"/>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4340" y="5276088"/>
            <a:ext cx="1600200" cy="457200"/>
          </a:xfrm>
          <a:prstGeom prst="rect">
            <a:avLst/>
          </a:prstGeom>
          <a:noFill/>
        </p:spPr>
        <p:txBody>
          <a:bodyPr wrap="square" lIns="0" tIns="0" rIns="0" bIns="0" anchor="t">
            <a:spAutoFit/>
          </a:bodyPr>
          <a:lstStyle/>
          <a:p>
            <a:pPr algn="ctr">
              <a:lnSpc>
                <a:spcPct val="100000"/>
              </a:lnSpc>
            </a:pPr>
            <a:r>
              <a:rPr sz="1200" b="0" i="0">
                <a:solidFill>
                  <a:srgbClr val="666666"/>
                </a:solidFill>
                <a:latin typeface="Calibri"/>
              </a:rPr>
              <a:t>Accuracy</a:t>
            </a:r>
          </a:p>
        </p:txBody>
      </p:sp>
      <p:sp>
        <p:nvSpPr>
          <p:cNvPr id="13" name="Oval 12"/>
          <p:cNvSpPr/>
          <p:nvPr/>
        </p:nvSpPr>
        <p:spPr>
          <a:xfrm>
            <a:off x="2788920" y="4937759"/>
            <a:ext cx="274320" cy="274320"/>
          </a:xfrm>
          <a:prstGeom prst="ellipse">
            <a:avLst/>
          </a:prstGeom>
          <a:noFill/>
          <a:ln w="30480">
            <a:solidFill>
              <a:srgbClr val="9D02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125980" y="5276088"/>
            <a:ext cx="1600200" cy="457200"/>
          </a:xfrm>
          <a:prstGeom prst="rect">
            <a:avLst/>
          </a:prstGeom>
          <a:noFill/>
        </p:spPr>
        <p:txBody>
          <a:bodyPr wrap="square" lIns="0" tIns="0" rIns="0" bIns="0" anchor="t">
            <a:spAutoFit/>
          </a:bodyPr>
          <a:lstStyle/>
          <a:p>
            <a:pPr algn="ctr">
              <a:lnSpc>
                <a:spcPct val="100000"/>
              </a:lnSpc>
            </a:pPr>
            <a:r>
              <a:rPr sz="1200" b="0" i="0">
                <a:solidFill>
                  <a:srgbClr val="666666"/>
                </a:solidFill>
                <a:latin typeface="Calibri"/>
              </a:rPr>
              <a:t>Bias</a:t>
            </a:r>
          </a:p>
          <a:p>
            <a:pPr algn="ctr">
              <a:lnSpc>
                <a:spcPct val="100000"/>
              </a:lnSpc>
            </a:pPr>
            <a:r>
              <a:rPr sz="1200" b="0" i="0">
                <a:solidFill>
                  <a:srgbClr val="666666"/>
                </a:solidFill>
                <a:latin typeface="Calibri"/>
              </a:rPr>
              <a:t>Suppression</a:t>
            </a:r>
          </a:p>
        </p:txBody>
      </p:sp>
      <p:sp>
        <p:nvSpPr>
          <p:cNvPr id="15" name="Oval 14"/>
          <p:cNvSpPr/>
          <p:nvPr/>
        </p:nvSpPr>
        <p:spPr>
          <a:xfrm>
            <a:off x="4480560" y="4937759"/>
            <a:ext cx="274320" cy="274320"/>
          </a:xfrm>
          <a:prstGeom prst="ellipse">
            <a:avLst/>
          </a:prstGeom>
          <a:noFill/>
          <a:ln w="30480">
            <a:solidFill>
              <a:srgbClr val="9D02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817620" y="5276088"/>
            <a:ext cx="1600200" cy="457200"/>
          </a:xfrm>
          <a:prstGeom prst="rect">
            <a:avLst/>
          </a:prstGeom>
          <a:noFill/>
        </p:spPr>
        <p:txBody>
          <a:bodyPr wrap="square" lIns="0" tIns="0" rIns="0" bIns="0" anchor="t">
            <a:spAutoFit/>
          </a:bodyPr>
          <a:lstStyle/>
          <a:p>
            <a:pPr algn="ctr">
              <a:lnSpc>
                <a:spcPct val="100000"/>
              </a:lnSpc>
            </a:pPr>
            <a:r>
              <a:rPr sz="1200" b="0" i="0">
                <a:solidFill>
                  <a:srgbClr val="666666"/>
                </a:solidFill>
                <a:latin typeface="Calibri"/>
              </a:rPr>
              <a:t>Representativeness</a:t>
            </a:r>
          </a:p>
        </p:txBody>
      </p:sp>
      <p:sp>
        <p:nvSpPr>
          <p:cNvPr id="17" name="Oval 16"/>
          <p:cNvSpPr/>
          <p:nvPr/>
        </p:nvSpPr>
        <p:spPr>
          <a:xfrm>
            <a:off x="6172200" y="4937759"/>
            <a:ext cx="274320" cy="274320"/>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509260" y="5276088"/>
            <a:ext cx="1600200" cy="457200"/>
          </a:xfrm>
          <a:prstGeom prst="rect">
            <a:avLst/>
          </a:prstGeom>
          <a:noFill/>
        </p:spPr>
        <p:txBody>
          <a:bodyPr wrap="square" lIns="0" tIns="0" rIns="0" bIns="0" anchor="t">
            <a:spAutoFit/>
          </a:bodyPr>
          <a:lstStyle/>
          <a:p>
            <a:pPr algn="ctr">
              <a:lnSpc>
                <a:spcPct val="100000"/>
              </a:lnSpc>
            </a:pPr>
            <a:r>
              <a:rPr sz="1200" b="0" i="0">
                <a:solidFill>
                  <a:srgbClr val="666666"/>
                </a:solidFill>
                <a:latin typeface="Calibri"/>
              </a:rPr>
              <a:t>Consistency</a:t>
            </a:r>
          </a:p>
        </p:txBody>
      </p:sp>
      <p:sp>
        <p:nvSpPr>
          <p:cNvPr id="19" name="Oval 18"/>
          <p:cNvSpPr/>
          <p:nvPr/>
        </p:nvSpPr>
        <p:spPr>
          <a:xfrm>
            <a:off x="7863840" y="4937759"/>
            <a:ext cx="274320" cy="274320"/>
          </a:xfrm>
          <a:prstGeom prst="ellipse">
            <a:avLst/>
          </a:prstGeom>
          <a:noFill/>
          <a:ln w="30480">
            <a:solidFill>
              <a:srgbClr val="9D02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200900" y="5276088"/>
            <a:ext cx="1600200" cy="457200"/>
          </a:xfrm>
          <a:prstGeom prst="rect">
            <a:avLst/>
          </a:prstGeom>
          <a:noFill/>
        </p:spPr>
        <p:txBody>
          <a:bodyPr wrap="square" lIns="0" tIns="0" rIns="0" bIns="0" anchor="t">
            <a:spAutoFit/>
          </a:bodyPr>
          <a:lstStyle/>
          <a:p>
            <a:pPr algn="ctr">
              <a:lnSpc>
                <a:spcPct val="100000"/>
              </a:lnSpc>
            </a:pPr>
            <a:r>
              <a:rPr sz="1200" b="0" i="0">
                <a:solidFill>
                  <a:srgbClr val="666666"/>
                </a:solidFill>
                <a:latin typeface="Calibri"/>
              </a:rPr>
              <a:t>Correctability</a:t>
            </a:r>
          </a:p>
        </p:txBody>
      </p:sp>
      <p:sp>
        <p:nvSpPr>
          <p:cNvPr id="21" name="Oval 20"/>
          <p:cNvSpPr/>
          <p:nvPr/>
        </p:nvSpPr>
        <p:spPr>
          <a:xfrm>
            <a:off x="9555480" y="4937759"/>
            <a:ext cx="274320" cy="274320"/>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892540" y="5276088"/>
            <a:ext cx="1600200" cy="457200"/>
          </a:xfrm>
          <a:prstGeom prst="rect">
            <a:avLst/>
          </a:prstGeom>
          <a:noFill/>
        </p:spPr>
        <p:txBody>
          <a:bodyPr wrap="square" lIns="0" tIns="0" rIns="0" bIns="0" anchor="t">
            <a:spAutoFit/>
          </a:bodyPr>
          <a:lstStyle/>
          <a:p>
            <a:pPr algn="ctr">
              <a:lnSpc>
                <a:spcPct val="100000"/>
              </a:lnSpc>
            </a:pPr>
            <a:r>
              <a:rPr sz="1200" b="0" i="0">
                <a:solidFill>
                  <a:srgbClr val="666666"/>
                </a:solidFill>
                <a:latin typeface="Calibri"/>
              </a:rPr>
              <a:t>Ethicality</a:t>
            </a:r>
          </a:p>
        </p:txBody>
      </p:sp>
      <p:sp>
        <p:nvSpPr>
          <p:cNvPr id="23" name="TextBox 22"/>
          <p:cNvSpPr txBox="1"/>
          <p:nvPr/>
        </p:nvSpPr>
        <p:spPr>
          <a:xfrm>
            <a:off x="685800" y="6510528"/>
            <a:ext cx="6400800" cy="274320"/>
          </a:xfrm>
          <a:prstGeom prst="rect">
            <a:avLst/>
          </a:prstGeom>
          <a:noFill/>
        </p:spPr>
        <p:txBody>
          <a:bodyPr wrap="square" lIns="0" tIns="0" rIns="0" bIns="0" anchor="t">
            <a:spAutoFit/>
          </a:bodyPr>
          <a:lstStyle/>
          <a:p>
            <a:pPr algn="l">
              <a:lnSpc>
                <a:spcPct val="100000"/>
              </a:lnSpc>
            </a:pPr>
            <a:r>
              <a:rPr sz="950" b="0" i="0">
                <a:solidFill>
                  <a:srgbClr val="999999"/>
                </a:solidFill>
                <a:latin typeface="Calibri"/>
              </a:rPr>
              <a:t>Procedural Fairness in Healthcare AI</a:t>
            </a:r>
          </a:p>
        </p:txBody>
      </p:sp>
      <p:sp>
        <p:nvSpPr>
          <p:cNvPr id="24" name="TextBox 23"/>
          <p:cNvSpPr txBox="1"/>
          <p:nvPr/>
        </p:nvSpPr>
        <p:spPr>
          <a:xfrm>
            <a:off x="11521440" y="6510528"/>
            <a:ext cx="457200" cy="274320"/>
          </a:xfrm>
          <a:prstGeom prst="rect">
            <a:avLst/>
          </a:prstGeom>
          <a:noFill/>
        </p:spPr>
        <p:txBody>
          <a:bodyPr wrap="square" lIns="0" tIns="0" rIns="0" bIns="0" anchor="t">
            <a:spAutoFit/>
          </a:bodyPr>
          <a:lstStyle/>
          <a:p>
            <a:pPr algn="r">
              <a:lnSpc>
                <a:spcPct val="100000"/>
              </a:lnSpc>
            </a:pPr>
            <a:r>
              <a:rPr sz="950" b="0" i="0">
                <a:solidFill>
                  <a:srgbClr val="999999"/>
                </a:solidFill>
                <a:latin typeface="Calibri"/>
              </a:rPr>
              <a:t>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DF8F9"/>
        </a:solidFill>
        <a:effectLst/>
      </p:bgPr>
    </p:bg>
    <p:spTree>
      <p:nvGrpSpPr>
        <p:cNvPr id="1" name=""/>
        <p:cNvGrpSpPr/>
        <p:nvPr/>
      </p:nvGrpSpPr>
      <p:grpSpPr>
        <a:xfrm>
          <a:off x="0" y="0"/>
          <a:ext cx="0" cy="0"/>
          <a:chOff x="0" y="0"/>
          <a:chExt cx="0" cy="0"/>
        </a:xfrm>
      </p:grpSpPr>
      <p:sp>
        <p:nvSpPr>
          <p:cNvPr id="2" name="TextBox 1"/>
          <p:cNvSpPr txBox="1"/>
          <p:nvPr/>
        </p:nvSpPr>
        <p:spPr>
          <a:xfrm>
            <a:off x="685800" y="384048"/>
            <a:ext cx="9144000" cy="320040"/>
          </a:xfrm>
          <a:prstGeom prst="rect">
            <a:avLst/>
          </a:prstGeom>
          <a:noFill/>
        </p:spPr>
        <p:txBody>
          <a:bodyPr wrap="square" lIns="0" tIns="0" rIns="0" bIns="0" anchor="t">
            <a:spAutoFit/>
          </a:bodyPr>
          <a:lstStyle/>
          <a:p>
            <a:pPr algn="l">
              <a:lnSpc>
                <a:spcPct val="100000"/>
              </a:lnSpc>
            </a:pPr>
            <a:r>
              <a:rPr sz="1300" b="1" i="0">
                <a:solidFill>
                  <a:srgbClr val="C9748F"/>
                </a:solidFill>
                <a:latin typeface="Calibri"/>
              </a:rPr>
              <a:t>FAIRNESS PROBLEMS · 1 OF 2</a:t>
            </a:r>
          </a:p>
        </p:txBody>
      </p:sp>
      <p:sp>
        <p:nvSpPr>
          <p:cNvPr id="3" name="TextBox 2"/>
          <p:cNvSpPr txBox="1"/>
          <p:nvPr/>
        </p:nvSpPr>
        <p:spPr>
          <a:xfrm>
            <a:off x="685800" y="658368"/>
            <a:ext cx="10789920" cy="914400"/>
          </a:xfrm>
          <a:prstGeom prst="rect">
            <a:avLst/>
          </a:prstGeom>
          <a:noFill/>
        </p:spPr>
        <p:txBody>
          <a:bodyPr wrap="square" lIns="0" tIns="0" rIns="0" bIns="0" anchor="t">
            <a:spAutoFit/>
          </a:bodyPr>
          <a:lstStyle/>
          <a:p>
            <a:pPr algn="l">
              <a:lnSpc>
                <a:spcPct val="102000"/>
              </a:lnSpc>
            </a:pPr>
            <a:r>
              <a:rPr sz="3000" b="1" i="0">
                <a:solidFill>
                  <a:srgbClr val="1A1A1A"/>
                </a:solidFill>
                <a:latin typeface="Georgia"/>
              </a:rPr>
              <a:t>Female Patients Were Missed More Often</a:t>
            </a:r>
          </a:p>
        </p:txBody>
      </p:sp>
      <p:sp>
        <p:nvSpPr>
          <p:cNvPr id="5" name="TextBox 4"/>
          <p:cNvSpPr txBox="1"/>
          <p:nvPr/>
        </p:nvSpPr>
        <p:spPr>
          <a:xfrm>
            <a:off x="685800" y="5074920"/>
            <a:ext cx="10789920" cy="365760"/>
          </a:xfrm>
          <a:prstGeom prst="rect">
            <a:avLst/>
          </a:prstGeom>
          <a:noFill/>
        </p:spPr>
        <p:txBody>
          <a:bodyPr wrap="square" lIns="0" tIns="0" rIns="0" bIns="0" anchor="t">
            <a:spAutoFit/>
          </a:bodyPr>
          <a:lstStyle/>
          <a:p>
            <a:pPr algn="ctr">
              <a:lnSpc>
                <a:spcPct val="100000"/>
              </a:lnSpc>
            </a:pPr>
            <a:r>
              <a:rPr sz="1250" b="0" i="1">
                <a:solidFill>
                  <a:srgbClr val="666666"/>
                </a:solidFill>
                <a:latin typeface="Calibri"/>
              </a:rPr>
              <a:t>Recall by sex, heart-disease-present class — the percentage of actual cases the model correctly identified.</a:t>
            </a:r>
          </a:p>
        </p:txBody>
      </p:sp>
      <p:sp>
        <p:nvSpPr>
          <p:cNvPr id="6" name="Rounded Rectangle 5"/>
          <p:cNvSpPr/>
          <p:nvPr/>
        </p:nvSpPr>
        <p:spPr>
          <a:xfrm>
            <a:off x="2194560" y="5532120"/>
            <a:ext cx="7772400" cy="594360"/>
          </a:xfrm>
          <a:prstGeom prst="roundRect">
            <a:avLst>
              <a:gd name="adj" fmla="val 50000"/>
            </a:avLst>
          </a:prstGeom>
          <a:solidFill>
            <a:srgbClr val="FF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194560" y="5669280"/>
            <a:ext cx="7772400" cy="365760"/>
          </a:xfrm>
          <a:prstGeom prst="rect">
            <a:avLst/>
          </a:prstGeom>
          <a:noFill/>
        </p:spPr>
        <p:txBody>
          <a:bodyPr wrap="square" lIns="0" tIns="0" rIns="0" bIns="0" anchor="t">
            <a:spAutoFit/>
          </a:bodyPr>
          <a:lstStyle/>
          <a:p>
            <a:pPr algn="ctr">
              <a:lnSpc>
                <a:spcPct val="100000"/>
              </a:lnSpc>
            </a:pPr>
            <a:r>
              <a:rPr sz="1250" b="1" i="0">
                <a:solidFill>
                  <a:srgbClr val="9D0208"/>
                </a:solidFill>
                <a:latin typeface="Calibri"/>
              </a:rPr>
              <a:t>Equalised odds diff: 0.235   ·   Demographic parity diff: 0.457   —   both exceed the ±0.10 threshold</a:t>
            </a:r>
          </a:p>
        </p:txBody>
      </p:sp>
      <p:sp>
        <p:nvSpPr>
          <p:cNvPr id="8" name="TextBox 7"/>
          <p:cNvSpPr txBox="1"/>
          <p:nvPr/>
        </p:nvSpPr>
        <p:spPr>
          <a:xfrm>
            <a:off x="685800" y="6510528"/>
            <a:ext cx="6400800" cy="274320"/>
          </a:xfrm>
          <a:prstGeom prst="rect">
            <a:avLst/>
          </a:prstGeom>
          <a:noFill/>
        </p:spPr>
        <p:txBody>
          <a:bodyPr wrap="square" lIns="0" tIns="0" rIns="0" bIns="0" anchor="t">
            <a:spAutoFit/>
          </a:bodyPr>
          <a:lstStyle/>
          <a:p>
            <a:pPr algn="l">
              <a:lnSpc>
                <a:spcPct val="100000"/>
              </a:lnSpc>
            </a:pPr>
            <a:r>
              <a:rPr sz="950" b="0" i="0">
                <a:solidFill>
                  <a:srgbClr val="999999"/>
                </a:solidFill>
                <a:latin typeface="Calibri"/>
              </a:rPr>
              <a:t>Procedural Fairness in Healthcare AI</a:t>
            </a:r>
          </a:p>
        </p:txBody>
      </p:sp>
      <p:sp>
        <p:nvSpPr>
          <p:cNvPr id="9" name="TextBox 8"/>
          <p:cNvSpPr txBox="1"/>
          <p:nvPr/>
        </p:nvSpPr>
        <p:spPr>
          <a:xfrm>
            <a:off x="11521440" y="6510528"/>
            <a:ext cx="457200" cy="274320"/>
          </a:xfrm>
          <a:prstGeom prst="rect">
            <a:avLst/>
          </a:prstGeom>
          <a:noFill/>
        </p:spPr>
        <p:txBody>
          <a:bodyPr wrap="square" lIns="0" tIns="0" rIns="0" bIns="0" anchor="t">
            <a:spAutoFit/>
          </a:bodyPr>
          <a:lstStyle/>
          <a:p>
            <a:pPr algn="r">
              <a:lnSpc>
                <a:spcPct val="100000"/>
              </a:lnSpc>
            </a:pPr>
            <a:r>
              <a:rPr sz="950" b="0" i="0">
                <a:solidFill>
                  <a:srgbClr val="999999"/>
                </a:solidFill>
                <a:latin typeface="Calibri"/>
              </a:rPr>
              <a:t>6</a:t>
            </a:r>
          </a:p>
        </p:txBody>
      </p:sp>
      <p:sp>
        <p:nvSpPr>
          <p:cNvPr id="13" name="TextBox 12">
            <a:extLst>
              <a:ext uri="{FF2B5EF4-FFF2-40B4-BE49-F238E27FC236}">
                <a16:creationId xmlns:a16="http://schemas.microsoft.com/office/drawing/2014/main" id="{090CDDD8-AB98-702F-0217-56DFB5C94D1B}"/>
              </a:ext>
            </a:extLst>
          </p:cNvPr>
          <p:cNvSpPr txBox="1"/>
          <p:nvPr/>
        </p:nvSpPr>
        <p:spPr>
          <a:xfrm>
            <a:off x="3047163" y="3246846"/>
            <a:ext cx="6094324" cy="369332"/>
          </a:xfrm>
          <a:prstGeom prst="rect">
            <a:avLst/>
          </a:prstGeom>
          <a:noFill/>
        </p:spPr>
        <p:txBody>
          <a:bodyPr wrap="square">
            <a:spAutoFit/>
          </a:bodyPr>
          <a:lstStyle/>
          <a:p>
            <a:endParaRPr lang="en-GB" dirty="0"/>
          </a:p>
        </p:txBody>
      </p:sp>
      <p:pic>
        <p:nvPicPr>
          <p:cNvPr id="19" name="Picture 18">
            <a:extLst>
              <a:ext uri="{FF2B5EF4-FFF2-40B4-BE49-F238E27FC236}">
                <a16:creationId xmlns:a16="http://schemas.microsoft.com/office/drawing/2014/main" id="{1472DF24-4992-6CB6-E621-14104C8B28B7}"/>
              </a:ext>
            </a:extLst>
          </p:cNvPr>
          <p:cNvPicPr>
            <a:picLocks noChangeAspect="1"/>
          </p:cNvPicPr>
          <p:nvPr/>
        </p:nvPicPr>
        <p:blipFill>
          <a:blip r:embed="rId3"/>
          <a:stretch>
            <a:fillRect/>
          </a:stretch>
        </p:blipFill>
        <p:spPr>
          <a:xfrm>
            <a:off x="2476072" y="1333025"/>
            <a:ext cx="6318607" cy="365045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DF8F9"/>
        </a:solidFill>
        <a:effectLst/>
      </p:bgPr>
    </p:bg>
    <p:spTree>
      <p:nvGrpSpPr>
        <p:cNvPr id="1" name=""/>
        <p:cNvGrpSpPr/>
        <p:nvPr/>
      </p:nvGrpSpPr>
      <p:grpSpPr>
        <a:xfrm>
          <a:off x="0" y="0"/>
          <a:ext cx="0" cy="0"/>
          <a:chOff x="0" y="0"/>
          <a:chExt cx="0" cy="0"/>
        </a:xfrm>
      </p:grpSpPr>
      <p:sp>
        <p:nvSpPr>
          <p:cNvPr id="2" name="TextBox 1"/>
          <p:cNvSpPr txBox="1"/>
          <p:nvPr/>
        </p:nvSpPr>
        <p:spPr>
          <a:xfrm>
            <a:off x="685800" y="384048"/>
            <a:ext cx="9144000" cy="320040"/>
          </a:xfrm>
          <a:prstGeom prst="rect">
            <a:avLst/>
          </a:prstGeom>
          <a:noFill/>
        </p:spPr>
        <p:txBody>
          <a:bodyPr wrap="square" lIns="0" tIns="0" rIns="0" bIns="0" anchor="t">
            <a:spAutoFit/>
          </a:bodyPr>
          <a:lstStyle/>
          <a:p>
            <a:pPr algn="l">
              <a:lnSpc>
                <a:spcPct val="100000"/>
              </a:lnSpc>
            </a:pPr>
            <a:r>
              <a:rPr sz="1300" b="1" i="0">
                <a:solidFill>
                  <a:srgbClr val="C9748F"/>
                </a:solidFill>
                <a:latin typeface="Calibri"/>
              </a:rPr>
              <a:t>FAIRNESS PROBLEMS · 2 OF 2</a:t>
            </a:r>
          </a:p>
        </p:txBody>
      </p:sp>
      <p:sp>
        <p:nvSpPr>
          <p:cNvPr id="3" name="TextBox 2"/>
          <p:cNvSpPr txBox="1"/>
          <p:nvPr/>
        </p:nvSpPr>
        <p:spPr>
          <a:xfrm>
            <a:off x="685800" y="658368"/>
            <a:ext cx="10789920" cy="914400"/>
          </a:xfrm>
          <a:prstGeom prst="rect">
            <a:avLst/>
          </a:prstGeom>
          <a:noFill/>
        </p:spPr>
        <p:txBody>
          <a:bodyPr wrap="square" lIns="0" tIns="0" rIns="0" bIns="0" anchor="t">
            <a:spAutoFit/>
          </a:bodyPr>
          <a:lstStyle/>
          <a:p>
            <a:pPr algn="l">
              <a:lnSpc>
                <a:spcPct val="102000"/>
              </a:lnSpc>
            </a:pPr>
            <a:r>
              <a:rPr sz="3000" b="1" i="0">
                <a:solidFill>
                  <a:srgbClr val="1A1A1A"/>
                </a:solidFill>
                <a:latin typeface="Georgia"/>
              </a:rPr>
              <a:t>Two More Gaps: Data and Oversight</a:t>
            </a:r>
          </a:p>
        </p:txBody>
      </p:sp>
      <p:pic>
        <p:nvPicPr>
          <p:cNvPr id="4" name="Picture 3" descr="representativeness.png"/>
          <p:cNvPicPr>
            <a:picLocks noChangeAspect="1"/>
          </p:cNvPicPr>
          <p:nvPr/>
        </p:nvPicPr>
        <p:blipFill>
          <a:blip r:embed="rId3"/>
          <a:stretch>
            <a:fillRect/>
          </a:stretch>
        </p:blipFill>
        <p:spPr>
          <a:xfrm>
            <a:off x="685800" y="2057400"/>
            <a:ext cx="5486400" cy="3000374"/>
          </a:xfrm>
          <a:prstGeom prst="rect">
            <a:avLst/>
          </a:prstGeom>
        </p:spPr>
      </p:pic>
      <p:sp>
        <p:nvSpPr>
          <p:cNvPr id="11" name="TextBox 10"/>
          <p:cNvSpPr txBox="1"/>
          <p:nvPr/>
        </p:nvSpPr>
        <p:spPr>
          <a:xfrm>
            <a:off x="685800" y="6510528"/>
            <a:ext cx="6400800" cy="274320"/>
          </a:xfrm>
          <a:prstGeom prst="rect">
            <a:avLst/>
          </a:prstGeom>
          <a:noFill/>
        </p:spPr>
        <p:txBody>
          <a:bodyPr wrap="square" lIns="0" tIns="0" rIns="0" bIns="0" anchor="t">
            <a:spAutoFit/>
          </a:bodyPr>
          <a:lstStyle/>
          <a:p>
            <a:pPr algn="l">
              <a:lnSpc>
                <a:spcPct val="100000"/>
              </a:lnSpc>
            </a:pPr>
            <a:r>
              <a:rPr sz="950" b="0" i="0">
                <a:solidFill>
                  <a:srgbClr val="999999"/>
                </a:solidFill>
                <a:latin typeface="Calibri"/>
              </a:rPr>
              <a:t>Procedural Fairness in Healthcare AI</a:t>
            </a:r>
          </a:p>
        </p:txBody>
      </p:sp>
      <p:sp>
        <p:nvSpPr>
          <p:cNvPr id="12" name="TextBox 11"/>
          <p:cNvSpPr txBox="1"/>
          <p:nvPr/>
        </p:nvSpPr>
        <p:spPr>
          <a:xfrm>
            <a:off x="11521440" y="6510528"/>
            <a:ext cx="457200" cy="274320"/>
          </a:xfrm>
          <a:prstGeom prst="rect">
            <a:avLst/>
          </a:prstGeom>
          <a:noFill/>
        </p:spPr>
        <p:txBody>
          <a:bodyPr wrap="square" lIns="0" tIns="0" rIns="0" bIns="0" anchor="t">
            <a:spAutoFit/>
          </a:bodyPr>
          <a:lstStyle/>
          <a:p>
            <a:pPr algn="r">
              <a:lnSpc>
                <a:spcPct val="100000"/>
              </a:lnSpc>
            </a:pPr>
            <a:r>
              <a:rPr sz="950" b="0" i="0">
                <a:solidFill>
                  <a:srgbClr val="999999"/>
                </a:solidFill>
                <a:latin typeface="Calibri"/>
              </a:rPr>
              <a:t>7</a:t>
            </a:r>
          </a:p>
        </p:txBody>
      </p:sp>
      <p:grpSp>
        <p:nvGrpSpPr>
          <p:cNvPr id="16" name="Group 15">
            <a:extLst>
              <a:ext uri="{FF2B5EF4-FFF2-40B4-BE49-F238E27FC236}">
                <a16:creationId xmlns:a16="http://schemas.microsoft.com/office/drawing/2014/main" id="{2F2C8000-5FC1-3176-CD57-629DAC115E2C}"/>
              </a:ext>
            </a:extLst>
          </p:cNvPr>
          <p:cNvGrpSpPr/>
          <p:nvPr/>
        </p:nvGrpSpPr>
        <p:grpSpPr>
          <a:xfrm>
            <a:off x="6537960" y="1508760"/>
            <a:ext cx="4983480" cy="4690872"/>
            <a:chOff x="6537960" y="1508760"/>
            <a:chExt cx="4983480" cy="4690872"/>
          </a:xfrm>
        </p:grpSpPr>
        <p:sp>
          <p:nvSpPr>
            <p:cNvPr id="5" name="Rounded Rectangle 4"/>
            <p:cNvSpPr/>
            <p:nvPr/>
          </p:nvSpPr>
          <p:spPr>
            <a:xfrm>
              <a:off x="6537960" y="1508760"/>
              <a:ext cx="4983480" cy="469087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 name="Rectangle 5"/>
            <p:cNvSpPr/>
            <p:nvPr/>
          </p:nvSpPr>
          <p:spPr>
            <a:xfrm>
              <a:off x="6537960" y="1508760"/>
              <a:ext cx="4983480" cy="82296"/>
            </a:xfrm>
            <a:prstGeom prst="rect">
              <a:avLst/>
            </a:prstGeom>
            <a:solidFill>
              <a:srgbClr val="9D02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0" y="1828800"/>
              <a:ext cx="4389120" cy="320040"/>
            </a:xfrm>
            <a:prstGeom prst="rect">
              <a:avLst/>
            </a:prstGeom>
            <a:noFill/>
          </p:spPr>
          <p:txBody>
            <a:bodyPr wrap="square" lIns="0" tIns="0" rIns="0" bIns="0" anchor="t">
              <a:spAutoFit/>
            </a:bodyPr>
            <a:lstStyle/>
            <a:p>
              <a:pPr algn="l">
                <a:lnSpc>
                  <a:spcPct val="100000"/>
                </a:lnSpc>
              </a:pPr>
              <a:r>
                <a:rPr sz="1300" b="1" i="0">
                  <a:solidFill>
                    <a:srgbClr val="C9748F"/>
                  </a:solidFill>
                  <a:latin typeface="Calibri"/>
                </a:rPr>
                <a:t>CORRECTABILITY</a:t>
              </a:r>
            </a:p>
          </p:txBody>
        </p:sp>
        <p:sp>
          <p:nvSpPr>
            <p:cNvPr id="8" name="TextBox 7"/>
            <p:cNvSpPr txBox="1"/>
            <p:nvPr/>
          </p:nvSpPr>
          <p:spPr>
            <a:xfrm>
              <a:off x="6858000" y="1938528"/>
              <a:ext cx="4389120" cy="914400"/>
            </a:xfrm>
            <a:prstGeom prst="rect">
              <a:avLst/>
            </a:prstGeom>
            <a:noFill/>
          </p:spPr>
          <p:txBody>
            <a:bodyPr wrap="square" lIns="0" tIns="0" rIns="0" bIns="0" anchor="t">
              <a:spAutoFit/>
            </a:bodyPr>
            <a:lstStyle/>
            <a:p>
              <a:pPr algn="l">
                <a:lnSpc>
                  <a:spcPct val="100000"/>
                </a:lnSpc>
              </a:pPr>
              <a:r>
                <a:rPr sz="4400" b="1" i="0" dirty="0">
                  <a:solidFill>
                    <a:srgbClr val="9D0208"/>
                  </a:solidFill>
                  <a:latin typeface="Georgia"/>
                </a:rPr>
                <a:t>3 of 7</a:t>
              </a:r>
            </a:p>
          </p:txBody>
        </p:sp>
        <p:sp>
          <p:nvSpPr>
            <p:cNvPr id="9" name="TextBox 8"/>
            <p:cNvSpPr txBox="1"/>
            <p:nvPr/>
          </p:nvSpPr>
          <p:spPr>
            <a:xfrm>
              <a:off x="6858000" y="2715768"/>
              <a:ext cx="4389120" cy="365760"/>
            </a:xfrm>
            <a:prstGeom prst="rect">
              <a:avLst/>
            </a:prstGeom>
            <a:noFill/>
          </p:spPr>
          <p:txBody>
            <a:bodyPr wrap="square" lIns="0" tIns="0" rIns="0" bIns="0" anchor="t">
              <a:spAutoFit/>
            </a:bodyPr>
            <a:lstStyle/>
            <a:p>
              <a:pPr algn="l">
                <a:lnSpc>
                  <a:spcPct val="100000"/>
                </a:lnSpc>
              </a:pPr>
              <a:r>
                <a:rPr sz="1250" b="0" i="0">
                  <a:solidFill>
                    <a:srgbClr val="666666"/>
                  </a:solidFill>
                  <a:latin typeface="Calibri"/>
                </a:rPr>
                <a:t>checklist criteria met  (threshold: ≥ 80%)</a:t>
              </a:r>
            </a:p>
          </p:txBody>
        </p:sp>
        <p:sp>
          <p:nvSpPr>
            <p:cNvPr id="15" name="TextBox 14">
              <a:extLst>
                <a:ext uri="{FF2B5EF4-FFF2-40B4-BE49-F238E27FC236}">
                  <a16:creationId xmlns:a16="http://schemas.microsoft.com/office/drawing/2014/main" id="{E7F52278-6AEA-B59E-3416-9EAA0F146E8B}"/>
                </a:ext>
              </a:extLst>
            </p:cNvPr>
            <p:cNvSpPr txBox="1"/>
            <p:nvPr/>
          </p:nvSpPr>
          <p:spPr>
            <a:xfrm>
              <a:off x="6700241" y="2916852"/>
              <a:ext cx="4479052" cy="3231654"/>
            </a:xfrm>
            <a:prstGeom prst="rect">
              <a:avLst/>
            </a:prstGeom>
            <a:noFill/>
          </p:spPr>
          <p:txBody>
            <a:bodyPr wrap="square">
              <a:spAutoFit/>
            </a:bodyPr>
            <a:lstStyle/>
            <a:p>
              <a:pPr indent="0" algn="l">
                <a:spcAft>
                  <a:spcPts val="1200"/>
                </a:spcAft>
                <a:buNone/>
              </a:pPr>
              <a:r>
                <a:rPr lang="en-GB" sz="1600" b="0" i="0" dirty="0">
                  <a:solidFill>
                    <a:schemeClr val="tx1">
                      <a:lumMod val="65000"/>
                      <a:lumOff val="35000"/>
                    </a:schemeClr>
                  </a:solidFill>
                  <a:effectLst/>
                  <a:latin typeface="Source Sans"/>
                </a:rPr>
                <a:t>✅ Prediction outputs are visible and interpretable</a:t>
              </a:r>
            </a:p>
            <a:p>
              <a:pPr indent="0" algn="l">
                <a:spcAft>
                  <a:spcPts val="1200"/>
                </a:spcAft>
                <a:buNone/>
              </a:pPr>
              <a:r>
                <a:rPr lang="en-GB" sz="1600" b="0" i="0" dirty="0">
                  <a:solidFill>
                    <a:schemeClr val="tx1">
                      <a:lumMod val="65000"/>
                      <a:lumOff val="35000"/>
                    </a:schemeClr>
                  </a:solidFill>
                  <a:effectLst/>
                  <a:latin typeface="Source Sans"/>
                </a:rPr>
                <a:t>✅ Confidence scores are provided with predictions</a:t>
              </a:r>
            </a:p>
            <a:p>
              <a:pPr indent="0" algn="l">
                <a:spcAft>
                  <a:spcPts val="1200"/>
                </a:spcAft>
                <a:buNone/>
              </a:pPr>
              <a:r>
                <a:rPr lang="en-GB" sz="1600" b="0" i="0" dirty="0">
                  <a:solidFill>
                    <a:schemeClr val="tx1">
                      <a:lumMod val="65000"/>
                      <a:lumOff val="35000"/>
                    </a:schemeClr>
                  </a:solidFill>
                  <a:effectLst/>
                  <a:latin typeface="Source Sans"/>
                </a:rPr>
                <a:t>❌ Clinician override</a:t>
              </a:r>
            </a:p>
            <a:p>
              <a:pPr indent="0" algn="l">
                <a:spcAft>
                  <a:spcPts val="1200"/>
                </a:spcAft>
                <a:buNone/>
              </a:pPr>
              <a:r>
                <a:rPr lang="en-GB" sz="1600" b="0" i="0" dirty="0">
                  <a:solidFill>
                    <a:schemeClr val="tx1">
                      <a:lumMod val="65000"/>
                      <a:lumOff val="35000"/>
                    </a:schemeClr>
                  </a:solidFill>
                  <a:effectLst/>
                  <a:latin typeface="Source Sans"/>
                </a:rPr>
                <a:t>❌ Patient challenge mechanism</a:t>
              </a:r>
            </a:p>
            <a:p>
              <a:pPr indent="0" algn="l">
                <a:spcAft>
                  <a:spcPts val="1200"/>
                </a:spcAft>
                <a:buNone/>
              </a:pPr>
              <a:r>
                <a:rPr lang="en-GB" sz="1600" b="0" i="0" dirty="0">
                  <a:solidFill>
                    <a:schemeClr val="tx1">
                      <a:lumMod val="65000"/>
                      <a:lumOff val="35000"/>
                    </a:schemeClr>
                  </a:solidFill>
                  <a:effectLst/>
                  <a:latin typeface="Source Sans"/>
                </a:rPr>
                <a:t>❌ Audit trail of predictions</a:t>
              </a:r>
            </a:p>
            <a:p>
              <a:pPr indent="0" algn="l">
                <a:spcAft>
                  <a:spcPts val="1200"/>
                </a:spcAft>
                <a:buNone/>
              </a:pPr>
              <a:r>
                <a:rPr lang="en-GB" sz="1600" b="0" i="0" dirty="0">
                  <a:solidFill>
                    <a:schemeClr val="tx1">
                      <a:lumMod val="65000"/>
                      <a:lumOff val="35000"/>
                    </a:schemeClr>
                  </a:solidFill>
                  <a:effectLst/>
                  <a:latin typeface="Source Sans"/>
                </a:rPr>
                <a:t>❌ Model version history is recorded</a:t>
              </a:r>
            </a:p>
            <a:p>
              <a:pPr indent="0" algn="l">
                <a:spcAft>
                  <a:spcPts val="1200"/>
                </a:spcAft>
                <a:buNone/>
              </a:pPr>
              <a:r>
                <a:rPr lang="en-GB" sz="1600" b="0" i="0" dirty="0">
                  <a:solidFill>
                    <a:schemeClr val="tx1">
                      <a:lumMod val="65000"/>
                      <a:lumOff val="35000"/>
                    </a:schemeClr>
                  </a:solidFill>
                  <a:effectLst/>
                  <a:latin typeface="Source Sans"/>
                </a:rPr>
                <a:t>✅ Dashboard communicates uncertainty to stakeholders</a:t>
              </a:r>
            </a:p>
          </p:txBody>
        </p:sp>
      </p:grpSp>
      <p:sp>
        <p:nvSpPr>
          <p:cNvPr id="17" name="TextBox 16">
            <a:extLst>
              <a:ext uri="{FF2B5EF4-FFF2-40B4-BE49-F238E27FC236}">
                <a16:creationId xmlns:a16="http://schemas.microsoft.com/office/drawing/2014/main" id="{E1501399-01CD-10BB-27BB-ED1C9B32151B}"/>
              </a:ext>
            </a:extLst>
          </p:cNvPr>
          <p:cNvSpPr txBox="1"/>
          <p:nvPr/>
        </p:nvSpPr>
        <p:spPr>
          <a:xfrm>
            <a:off x="863655" y="4698068"/>
            <a:ext cx="1095773" cy="261610"/>
          </a:xfrm>
          <a:prstGeom prst="rect">
            <a:avLst/>
          </a:prstGeom>
          <a:noFill/>
        </p:spPr>
        <p:txBody>
          <a:bodyPr wrap="square" rtlCol="0">
            <a:spAutoFit/>
          </a:bodyPr>
          <a:lstStyle/>
          <a:p>
            <a:r>
              <a:rPr lang="en-GB" sz="1100" dirty="0">
                <a:solidFill>
                  <a:schemeClr val="tx1">
                    <a:lumMod val="75000"/>
                    <a:lumOff val="25000"/>
                  </a:schemeClr>
                </a:solidFill>
              </a:rPr>
              <a:t>(female share)</a:t>
            </a:r>
          </a:p>
        </p:txBody>
      </p:sp>
      <p:pic>
        <p:nvPicPr>
          <p:cNvPr id="13" name="Graphic 12" descr="Checkbox Checked with solid fill">
            <a:extLst>
              <a:ext uri="{FF2B5EF4-FFF2-40B4-BE49-F238E27FC236}">
                <a16:creationId xmlns:a16="http://schemas.microsoft.com/office/drawing/2014/main" id="{6B7DC9CC-3A74-E456-042B-7D018733F87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38800" y="2971800"/>
            <a:ext cx="914400" cy="914400"/>
          </a:xfrm>
          <a:prstGeom prst="rect">
            <a:avLst/>
          </a:prstGeom>
        </p:spPr>
      </p:pic>
      <p:pic>
        <p:nvPicPr>
          <p:cNvPr id="18" name="Graphic 17" descr="Badge Cross with solid fill">
            <a:extLst>
              <a:ext uri="{FF2B5EF4-FFF2-40B4-BE49-F238E27FC236}">
                <a16:creationId xmlns:a16="http://schemas.microsoft.com/office/drawing/2014/main" id="{BFE6523E-C4F0-FB95-F515-CAAE5809FF1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360013" y="3895278"/>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ppt_x"/>
                                          </p:val>
                                        </p:tav>
                                        <p:tav tm="100000">
                                          <p:val>
                                            <p:strVal val="#ppt_x"/>
                                          </p:val>
                                        </p:tav>
                                      </p:tavLst>
                                    </p:anim>
                                    <p:anim calcmode="lin" valueType="num">
                                      <p:cBhvr additive="base">
                                        <p:cTn id="1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DF8F9"/>
        </a:solidFill>
        <a:effectLst/>
      </p:bgPr>
    </p:bg>
    <p:spTree>
      <p:nvGrpSpPr>
        <p:cNvPr id="1" name=""/>
        <p:cNvGrpSpPr/>
        <p:nvPr/>
      </p:nvGrpSpPr>
      <p:grpSpPr>
        <a:xfrm>
          <a:off x="0" y="0"/>
          <a:ext cx="0" cy="0"/>
          <a:chOff x="0" y="0"/>
          <a:chExt cx="0" cy="0"/>
        </a:xfrm>
      </p:grpSpPr>
      <p:sp>
        <p:nvSpPr>
          <p:cNvPr id="2" name="TextBox 1"/>
          <p:cNvSpPr txBox="1"/>
          <p:nvPr/>
        </p:nvSpPr>
        <p:spPr>
          <a:xfrm>
            <a:off x="685800" y="384048"/>
            <a:ext cx="9144000" cy="320040"/>
          </a:xfrm>
          <a:prstGeom prst="rect">
            <a:avLst/>
          </a:prstGeom>
          <a:noFill/>
        </p:spPr>
        <p:txBody>
          <a:bodyPr wrap="square" lIns="0" tIns="0" rIns="0" bIns="0" anchor="t">
            <a:spAutoFit/>
          </a:bodyPr>
          <a:lstStyle/>
          <a:p>
            <a:pPr algn="l">
              <a:lnSpc>
                <a:spcPct val="100000"/>
              </a:lnSpc>
            </a:pPr>
            <a:r>
              <a:rPr sz="1300" b="1" i="0">
                <a:solidFill>
                  <a:srgbClr val="C9748F"/>
                </a:solidFill>
                <a:latin typeface="Calibri"/>
              </a:rPr>
              <a:t>MITIGATION APPROACH</a:t>
            </a:r>
          </a:p>
        </p:txBody>
      </p:sp>
      <p:sp>
        <p:nvSpPr>
          <p:cNvPr id="3" name="TextBox 2"/>
          <p:cNvSpPr txBox="1"/>
          <p:nvPr/>
        </p:nvSpPr>
        <p:spPr>
          <a:xfrm>
            <a:off x="685800" y="658368"/>
            <a:ext cx="10789920" cy="914400"/>
          </a:xfrm>
          <a:prstGeom prst="rect">
            <a:avLst/>
          </a:prstGeom>
          <a:noFill/>
        </p:spPr>
        <p:txBody>
          <a:bodyPr wrap="square" lIns="0" tIns="0" rIns="0" bIns="0" anchor="t">
            <a:spAutoFit/>
          </a:bodyPr>
          <a:lstStyle/>
          <a:p>
            <a:pPr algn="l">
              <a:lnSpc>
                <a:spcPct val="102000"/>
              </a:lnSpc>
            </a:pPr>
            <a:r>
              <a:rPr sz="3000" b="1" i="0">
                <a:solidFill>
                  <a:srgbClr val="1A1A1A"/>
                </a:solidFill>
                <a:latin typeface="Georgia"/>
              </a:rPr>
              <a:t>Two Targeted Interventions</a:t>
            </a:r>
          </a:p>
        </p:txBody>
      </p:sp>
      <p:sp>
        <p:nvSpPr>
          <p:cNvPr id="4" name="Rounded Rectangle 3"/>
          <p:cNvSpPr/>
          <p:nvPr/>
        </p:nvSpPr>
        <p:spPr>
          <a:xfrm>
            <a:off x="685800" y="1783080"/>
            <a:ext cx="5166360" cy="374903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783080"/>
            <a:ext cx="5166360" cy="82296"/>
          </a:xfrm>
          <a:prstGeom prst="rect">
            <a:avLst/>
          </a:prstGeom>
          <a:solidFill>
            <a:srgbClr val="C97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05840" y="2148840"/>
            <a:ext cx="502920" cy="502920"/>
          </a:xfrm>
          <a:prstGeom prst="ellipse">
            <a:avLst/>
          </a:prstGeom>
          <a:solidFill>
            <a:srgbClr val="C97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2212848"/>
            <a:ext cx="502920" cy="411480"/>
          </a:xfrm>
          <a:prstGeom prst="rect">
            <a:avLst/>
          </a:prstGeom>
          <a:noFill/>
        </p:spPr>
        <p:txBody>
          <a:bodyPr wrap="square" lIns="0" tIns="0" rIns="0" bIns="0" anchor="ctr">
            <a:spAutoFit/>
          </a:bodyPr>
          <a:lstStyle/>
          <a:p>
            <a:pPr algn="ctr">
              <a:lnSpc>
                <a:spcPct val="100000"/>
              </a:lnSpc>
            </a:pPr>
            <a:r>
              <a:rPr sz="1800" b="1" i="0">
                <a:solidFill>
                  <a:srgbClr val="FFFFFF"/>
                </a:solidFill>
                <a:latin typeface="Calibri"/>
              </a:rPr>
              <a:t>1</a:t>
            </a:r>
          </a:p>
        </p:txBody>
      </p:sp>
      <p:sp>
        <p:nvSpPr>
          <p:cNvPr id="8" name="TextBox 7"/>
          <p:cNvSpPr txBox="1"/>
          <p:nvPr/>
        </p:nvSpPr>
        <p:spPr>
          <a:xfrm>
            <a:off x="1691640" y="2167128"/>
            <a:ext cx="3886200" cy="548640"/>
          </a:xfrm>
          <a:prstGeom prst="rect">
            <a:avLst/>
          </a:prstGeom>
          <a:noFill/>
        </p:spPr>
        <p:txBody>
          <a:bodyPr wrap="square" lIns="0" tIns="0" rIns="0" bIns="0" anchor="t">
            <a:spAutoFit/>
          </a:bodyPr>
          <a:lstStyle/>
          <a:p>
            <a:pPr algn="l">
              <a:lnSpc>
                <a:spcPct val="100000"/>
              </a:lnSpc>
            </a:pPr>
            <a:r>
              <a:rPr sz="1900" b="1" i="0">
                <a:solidFill>
                  <a:srgbClr val="1A1A1A"/>
                </a:solidFill>
                <a:latin typeface="Georgia"/>
              </a:rPr>
              <a:t>Fairness-Aware Training</a:t>
            </a:r>
          </a:p>
        </p:txBody>
      </p:sp>
      <p:sp>
        <p:nvSpPr>
          <p:cNvPr id="9" name="Rounded Rectangle 8"/>
          <p:cNvSpPr/>
          <p:nvPr/>
        </p:nvSpPr>
        <p:spPr>
          <a:xfrm>
            <a:off x="1005840" y="2880360"/>
            <a:ext cx="2743200" cy="384048"/>
          </a:xfrm>
          <a:prstGeom prst="roundRect">
            <a:avLst>
              <a:gd name="adj" fmla="val 50000"/>
            </a:avLst>
          </a:prstGeom>
          <a:solidFill>
            <a:srgbClr val="F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2962656"/>
            <a:ext cx="2743200" cy="274320"/>
          </a:xfrm>
          <a:prstGeom prst="rect">
            <a:avLst/>
          </a:prstGeom>
          <a:noFill/>
        </p:spPr>
        <p:txBody>
          <a:bodyPr wrap="square" lIns="0" tIns="0" rIns="0" bIns="0" anchor="t">
            <a:spAutoFit/>
          </a:bodyPr>
          <a:lstStyle/>
          <a:p>
            <a:pPr algn="ctr">
              <a:lnSpc>
                <a:spcPct val="100000"/>
              </a:lnSpc>
            </a:pPr>
            <a:r>
              <a:rPr sz="1000" b="1" i="0">
                <a:solidFill>
                  <a:srgbClr val="C9748F"/>
                </a:solidFill>
                <a:latin typeface="Calibri"/>
              </a:rPr>
              <a:t>ADDRESSES BIAS SUPPRESSION</a:t>
            </a:r>
          </a:p>
        </p:txBody>
      </p:sp>
      <p:sp>
        <p:nvSpPr>
          <p:cNvPr id="11" name="TextBox 10"/>
          <p:cNvSpPr txBox="1"/>
          <p:nvPr/>
        </p:nvSpPr>
        <p:spPr>
          <a:xfrm>
            <a:off x="1005840" y="3520439"/>
            <a:ext cx="4526280" cy="1178464"/>
          </a:xfrm>
          <a:prstGeom prst="rect">
            <a:avLst/>
          </a:prstGeom>
          <a:noFill/>
        </p:spPr>
        <p:txBody>
          <a:bodyPr wrap="square" lIns="0" tIns="0" rIns="0" bIns="0" anchor="t">
            <a:spAutoFit/>
          </a:bodyPr>
          <a:lstStyle/>
          <a:p>
            <a:pPr algn="l">
              <a:lnSpc>
                <a:spcPct val="140000"/>
              </a:lnSpc>
            </a:pPr>
            <a:r>
              <a:rPr sz="1400" b="0" i="0" dirty="0">
                <a:solidFill>
                  <a:schemeClr val="tx1">
                    <a:lumMod val="65000"/>
                    <a:lumOff val="35000"/>
                  </a:schemeClr>
                </a:solidFill>
                <a:latin typeface="Calibri"/>
              </a:rPr>
              <a:t>An </a:t>
            </a:r>
            <a:r>
              <a:rPr sz="1400" b="0" i="0" dirty="0" err="1">
                <a:solidFill>
                  <a:schemeClr val="tx1">
                    <a:lumMod val="65000"/>
                    <a:lumOff val="35000"/>
                  </a:schemeClr>
                </a:solidFill>
                <a:latin typeface="Calibri"/>
              </a:rPr>
              <a:t>ExponentiatedGradient</a:t>
            </a:r>
            <a:r>
              <a:rPr sz="1400" b="0" i="0" dirty="0">
                <a:solidFill>
                  <a:schemeClr val="tx1">
                    <a:lumMod val="65000"/>
                    <a:lumOff val="35000"/>
                  </a:schemeClr>
                </a:solidFill>
                <a:latin typeface="Calibri"/>
              </a:rPr>
              <a:t> algorithm, constrained by </a:t>
            </a:r>
            <a:r>
              <a:rPr sz="1400" b="0" i="0" dirty="0" err="1">
                <a:solidFill>
                  <a:schemeClr val="tx1">
                    <a:lumMod val="65000"/>
                    <a:lumOff val="35000"/>
                  </a:schemeClr>
                </a:solidFill>
                <a:latin typeface="Calibri"/>
              </a:rPr>
              <a:t>Fairlearn's</a:t>
            </a:r>
            <a:r>
              <a:rPr sz="1400" b="0" i="0" dirty="0">
                <a:solidFill>
                  <a:schemeClr val="tx1">
                    <a:lumMod val="65000"/>
                    <a:lumOff val="35000"/>
                  </a:schemeClr>
                </a:solidFill>
                <a:latin typeface="Calibri"/>
              </a:rPr>
              <a:t> </a:t>
            </a:r>
            <a:r>
              <a:rPr sz="1400" b="0" i="0" dirty="0" err="1">
                <a:solidFill>
                  <a:schemeClr val="tx1">
                    <a:lumMod val="65000"/>
                    <a:lumOff val="35000"/>
                  </a:schemeClr>
                </a:solidFill>
                <a:latin typeface="Calibri"/>
              </a:rPr>
              <a:t>EqualizedOdds</a:t>
            </a:r>
            <a:r>
              <a:rPr sz="1400" b="0" i="0" dirty="0">
                <a:solidFill>
                  <a:schemeClr val="tx1">
                    <a:lumMod val="65000"/>
                    <a:lumOff val="35000"/>
                  </a:schemeClr>
                </a:solidFill>
                <a:latin typeface="Calibri"/>
              </a:rPr>
              <a:t> criterion (tolerance 0.01), re-weighted the training data so error rates moved closer together across male and female patients.</a:t>
            </a:r>
          </a:p>
        </p:txBody>
      </p:sp>
      <p:sp>
        <p:nvSpPr>
          <p:cNvPr id="12" name="Rounded Rectangle 11"/>
          <p:cNvSpPr/>
          <p:nvPr/>
        </p:nvSpPr>
        <p:spPr>
          <a:xfrm>
            <a:off x="6309360" y="1783080"/>
            <a:ext cx="5166360" cy="374903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309360" y="1783080"/>
            <a:ext cx="5166360" cy="82296"/>
          </a:xfrm>
          <a:prstGeom prst="rect">
            <a:avLst/>
          </a:prstGeom>
          <a:solidFill>
            <a:srgbClr val="C97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629400" y="2148840"/>
            <a:ext cx="502920" cy="502920"/>
          </a:xfrm>
          <a:prstGeom prst="ellipse">
            <a:avLst/>
          </a:prstGeom>
          <a:solidFill>
            <a:srgbClr val="C97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629400" y="2212848"/>
            <a:ext cx="502920" cy="411480"/>
          </a:xfrm>
          <a:prstGeom prst="rect">
            <a:avLst/>
          </a:prstGeom>
          <a:noFill/>
        </p:spPr>
        <p:txBody>
          <a:bodyPr wrap="square" lIns="0" tIns="0" rIns="0" bIns="0" anchor="ctr">
            <a:spAutoFit/>
          </a:bodyPr>
          <a:lstStyle/>
          <a:p>
            <a:pPr algn="ctr">
              <a:lnSpc>
                <a:spcPct val="100000"/>
              </a:lnSpc>
            </a:pPr>
            <a:r>
              <a:rPr sz="1800" b="1" i="0">
                <a:solidFill>
                  <a:srgbClr val="FFFFFF"/>
                </a:solidFill>
                <a:latin typeface="Calibri"/>
              </a:rPr>
              <a:t>2</a:t>
            </a:r>
          </a:p>
        </p:txBody>
      </p:sp>
      <p:sp>
        <p:nvSpPr>
          <p:cNvPr id="16" name="TextBox 15"/>
          <p:cNvSpPr txBox="1"/>
          <p:nvPr/>
        </p:nvSpPr>
        <p:spPr>
          <a:xfrm>
            <a:off x="7315200" y="2167128"/>
            <a:ext cx="3886200" cy="548640"/>
          </a:xfrm>
          <a:prstGeom prst="rect">
            <a:avLst/>
          </a:prstGeom>
          <a:noFill/>
        </p:spPr>
        <p:txBody>
          <a:bodyPr wrap="square" lIns="0" tIns="0" rIns="0" bIns="0" anchor="t">
            <a:spAutoFit/>
          </a:bodyPr>
          <a:lstStyle/>
          <a:p>
            <a:pPr algn="l">
              <a:lnSpc>
                <a:spcPct val="100000"/>
              </a:lnSpc>
            </a:pPr>
            <a:r>
              <a:rPr sz="1900" b="1" i="0">
                <a:solidFill>
                  <a:srgbClr val="1A1A1A"/>
                </a:solidFill>
                <a:latin typeface="Georgia"/>
              </a:rPr>
              <a:t>Confidence-Based Flagging</a:t>
            </a:r>
          </a:p>
        </p:txBody>
      </p:sp>
      <p:sp>
        <p:nvSpPr>
          <p:cNvPr id="17" name="Rounded Rectangle 16"/>
          <p:cNvSpPr/>
          <p:nvPr/>
        </p:nvSpPr>
        <p:spPr>
          <a:xfrm>
            <a:off x="6629400" y="2880360"/>
            <a:ext cx="2743200" cy="384048"/>
          </a:xfrm>
          <a:prstGeom prst="roundRect">
            <a:avLst>
              <a:gd name="adj" fmla="val 50000"/>
            </a:avLst>
          </a:prstGeom>
          <a:solidFill>
            <a:srgbClr val="F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29400" y="2962656"/>
            <a:ext cx="2743200" cy="153888"/>
          </a:xfrm>
          <a:prstGeom prst="rect">
            <a:avLst/>
          </a:prstGeom>
          <a:noFill/>
        </p:spPr>
        <p:txBody>
          <a:bodyPr wrap="square" lIns="0" tIns="0" rIns="0" bIns="0" anchor="t">
            <a:spAutoFit/>
          </a:bodyPr>
          <a:lstStyle/>
          <a:p>
            <a:pPr algn="ctr">
              <a:lnSpc>
                <a:spcPct val="100000"/>
              </a:lnSpc>
            </a:pPr>
            <a:r>
              <a:rPr lang="en-GB" sz="1000" b="1" i="0" dirty="0">
                <a:solidFill>
                  <a:srgbClr val="C9748F"/>
                </a:solidFill>
                <a:latin typeface="Calibri"/>
              </a:rPr>
              <a:t>PARTIALLY A</a:t>
            </a:r>
            <a:r>
              <a:rPr sz="1000" b="1" i="0" dirty="0">
                <a:solidFill>
                  <a:srgbClr val="C9748F"/>
                </a:solidFill>
                <a:latin typeface="Calibri"/>
              </a:rPr>
              <a:t>DDRESSES CORRECTABILITY</a:t>
            </a:r>
          </a:p>
        </p:txBody>
      </p:sp>
      <p:sp>
        <p:nvSpPr>
          <p:cNvPr id="19" name="TextBox 18"/>
          <p:cNvSpPr txBox="1"/>
          <p:nvPr/>
        </p:nvSpPr>
        <p:spPr>
          <a:xfrm>
            <a:off x="6629400" y="3520439"/>
            <a:ext cx="4526280" cy="1480085"/>
          </a:xfrm>
          <a:prstGeom prst="rect">
            <a:avLst/>
          </a:prstGeom>
          <a:noFill/>
        </p:spPr>
        <p:txBody>
          <a:bodyPr wrap="square" lIns="0" tIns="0" rIns="0" bIns="0" anchor="t">
            <a:spAutoFit/>
          </a:bodyPr>
          <a:lstStyle/>
          <a:p>
            <a:pPr>
              <a:lnSpc>
                <a:spcPct val="140000"/>
              </a:lnSpc>
            </a:pPr>
            <a:r>
              <a:rPr lang="en-GB" sz="1400" dirty="0">
                <a:solidFill>
                  <a:schemeClr val="tx1">
                    <a:lumMod val="65000"/>
                    <a:lumOff val="35000"/>
                  </a:schemeClr>
                </a:solidFill>
              </a:rPr>
              <a:t>Predictions with model confidence between 30% and 70% are automatically flagged for clinician review. This allows for human oversight on the cases the model is least certain about. A first step toward correctability, though not a full override mechanism.</a:t>
            </a:r>
            <a:endParaRPr sz="1350" b="0" i="0" dirty="0">
              <a:solidFill>
                <a:schemeClr val="tx1">
                  <a:lumMod val="65000"/>
                  <a:lumOff val="35000"/>
                </a:schemeClr>
              </a:solidFill>
              <a:latin typeface="Calibri"/>
            </a:endParaRPr>
          </a:p>
        </p:txBody>
      </p:sp>
      <p:sp>
        <p:nvSpPr>
          <p:cNvPr id="20" name="TextBox 19"/>
          <p:cNvSpPr txBox="1"/>
          <p:nvPr/>
        </p:nvSpPr>
        <p:spPr>
          <a:xfrm>
            <a:off x="685800" y="6510528"/>
            <a:ext cx="6400800" cy="274320"/>
          </a:xfrm>
          <a:prstGeom prst="rect">
            <a:avLst/>
          </a:prstGeom>
          <a:noFill/>
        </p:spPr>
        <p:txBody>
          <a:bodyPr wrap="square" lIns="0" tIns="0" rIns="0" bIns="0" anchor="t">
            <a:spAutoFit/>
          </a:bodyPr>
          <a:lstStyle/>
          <a:p>
            <a:pPr algn="l">
              <a:lnSpc>
                <a:spcPct val="100000"/>
              </a:lnSpc>
            </a:pPr>
            <a:r>
              <a:rPr sz="950" b="0" i="0">
                <a:solidFill>
                  <a:srgbClr val="999999"/>
                </a:solidFill>
                <a:latin typeface="Calibri"/>
              </a:rPr>
              <a:t>Procedural Fairness in Healthcare AI</a:t>
            </a:r>
          </a:p>
        </p:txBody>
      </p:sp>
      <p:sp>
        <p:nvSpPr>
          <p:cNvPr id="21" name="TextBox 20"/>
          <p:cNvSpPr txBox="1"/>
          <p:nvPr/>
        </p:nvSpPr>
        <p:spPr>
          <a:xfrm>
            <a:off x="11521440" y="6510528"/>
            <a:ext cx="457200" cy="274320"/>
          </a:xfrm>
          <a:prstGeom prst="rect">
            <a:avLst/>
          </a:prstGeom>
          <a:noFill/>
        </p:spPr>
        <p:txBody>
          <a:bodyPr wrap="square" lIns="0" tIns="0" rIns="0" bIns="0" anchor="t">
            <a:spAutoFit/>
          </a:bodyPr>
          <a:lstStyle/>
          <a:p>
            <a:pPr algn="r">
              <a:lnSpc>
                <a:spcPct val="100000"/>
              </a:lnSpc>
            </a:pPr>
            <a:r>
              <a:rPr sz="950" b="0" i="0">
                <a:solidFill>
                  <a:srgbClr val="999999"/>
                </a:solidFill>
                <a:latin typeface="Calibri"/>
              </a:rPr>
              <a:t>9</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DF8F9"/>
        </a:solidFill>
        <a:effectLst/>
      </p:bgPr>
    </p:bg>
    <p:spTree>
      <p:nvGrpSpPr>
        <p:cNvPr id="1" name=""/>
        <p:cNvGrpSpPr/>
        <p:nvPr/>
      </p:nvGrpSpPr>
      <p:grpSpPr>
        <a:xfrm>
          <a:off x="0" y="0"/>
          <a:ext cx="0" cy="0"/>
          <a:chOff x="0" y="0"/>
          <a:chExt cx="0" cy="0"/>
        </a:xfrm>
      </p:grpSpPr>
      <p:sp>
        <p:nvSpPr>
          <p:cNvPr id="2" name="TextBox 1"/>
          <p:cNvSpPr txBox="1"/>
          <p:nvPr/>
        </p:nvSpPr>
        <p:spPr>
          <a:xfrm>
            <a:off x="685800" y="384048"/>
            <a:ext cx="9144000" cy="320040"/>
          </a:xfrm>
          <a:prstGeom prst="rect">
            <a:avLst/>
          </a:prstGeom>
          <a:noFill/>
        </p:spPr>
        <p:txBody>
          <a:bodyPr wrap="square" lIns="0" tIns="0" rIns="0" bIns="0" anchor="t">
            <a:spAutoFit/>
          </a:bodyPr>
          <a:lstStyle/>
          <a:p>
            <a:pPr algn="l">
              <a:lnSpc>
                <a:spcPct val="100000"/>
              </a:lnSpc>
            </a:pPr>
            <a:r>
              <a:rPr sz="1300" b="1" i="0">
                <a:solidFill>
                  <a:srgbClr val="C9748F"/>
                </a:solidFill>
                <a:latin typeface="Calibri"/>
              </a:rPr>
              <a:t>RESULTS · 1 OF 2</a:t>
            </a:r>
          </a:p>
        </p:txBody>
      </p:sp>
      <p:sp>
        <p:nvSpPr>
          <p:cNvPr id="3" name="TextBox 2"/>
          <p:cNvSpPr txBox="1"/>
          <p:nvPr/>
        </p:nvSpPr>
        <p:spPr>
          <a:xfrm>
            <a:off x="685800" y="658368"/>
            <a:ext cx="10789920" cy="442237"/>
          </a:xfrm>
          <a:prstGeom prst="rect">
            <a:avLst/>
          </a:prstGeom>
          <a:noFill/>
        </p:spPr>
        <p:txBody>
          <a:bodyPr wrap="square" lIns="0" tIns="0" rIns="0" bIns="0" anchor="t">
            <a:spAutoFit/>
          </a:bodyPr>
          <a:lstStyle/>
          <a:p>
            <a:pPr algn="l">
              <a:lnSpc>
                <a:spcPct val="102000"/>
              </a:lnSpc>
            </a:pPr>
            <a:r>
              <a:rPr sz="3000" b="1" i="0" dirty="0">
                <a:solidFill>
                  <a:srgbClr val="1A1A1A"/>
                </a:solidFill>
                <a:latin typeface="Georgia"/>
              </a:rPr>
              <a:t>The Gap Narrowed</a:t>
            </a:r>
            <a:r>
              <a:rPr lang="en-GB" sz="3000" b="1" i="0" dirty="0">
                <a:solidFill>
                  <a:srgbClr val="1A1A1A"/>
                </a:solidFill>
                <a:latin typeface="Georgia"/>
              </a:rPr>
              <a:t>,</a:t>
            </a:r>
            <a:r>
              <a:rPr sz="3000" b="1" i="0" dirty="0">
                <a:solidFill>
                  <a:srgbClr val="1A1A1A"/>
                </a:solidFill>
                <a:latin typeface="Georgia"/>
              </a:rPr>
              <a:t> But Didn't Close</a:t>
            </a:r>
          </a:p>
        </p:txBody>
      </p:sp>
      <p:sp>
        <p:nvSpPr>
          <p:cNvPr id="5" name="Rounded Rectangle 4"/>
          <p:cNvSpPr/>
          <p:nvPr/>
        </p:nvSpPr>
        <p:spPr>
          <a:xfrm>
            <a:off x="2011680" y="5577840"/>
            <a:ext cx="9021410" cy="777240"/>
          </a:xfrm>
          <a:prstGeom prst="roundRect">
            <a:avLst>
              <a:gd name="adj" fmla="val 50000"/>
            </a:avLst>
          </a:prstGeom>
          <a:solidFill>
            <a:srgbClr val="FBF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011680" y="5596731"/>
            <a:ext cx="8747090" cy="758349"/>
          </a:xfrm>
          <a:prstGeom prst="rect">
            <a:avLst/>
          </a:prstGeom>
          <a:noFill/>
        </p:spPr>
        <p:txBody>
          <a:bodyPr wrap="square" lIns="0" tIns="0" rIns="0" bIns="0" anchor="t">
            <a:spAutoFit/>
          </a:bodyPr>
          <a:lstStyle/>
          <a:p>
            <a:pPr algn="ctr">
              <a:lnSpc>
                <a:spcPct val="120000"/>
              </a:lnSpc>
            </a:pPr>
            <a:r>
              <a:rPr lang="en-GB" sz="1400" dirty="0"/>
              <a:t>The visible gap almost closed: female recall rose from 70% to 90%, with no loss for men. But both formal fairness measures improved without clearing the 0.10 limit, so bias suppression reached partial, not a full pass. Overall accuracy barely moved: 0.957 to 0.895</a:t>
            </a:r>
            <a:endParaRPr sz="1250" b="0" i="0" dirty="0">
              <a:solidFill>
                <a:srgbClr val="382B00"/>
              </a:solidFill>
              <a:latin typeface="Calibri"/>
            </a:endParaRPr>
          </a:p>
        </p:txBody>
      </p:sp>
      <p:sp>
        <p:nvSpPr>
          <p:cNvPr id="7" name="TextBox 6"/>
          <p:cNvSpPr txBox="1"/>
          <p:nvPr/>
        </p:nvSpPr>
        <p:spPr>
          <a:xfrm>
            <a:off x="685800" y="6510528"/>
            <a:ext cx="6400800" cy="274320"/>
          </a:xfrm>
          <a:prstGeom prst="rect">
            <a:avLst/>
          </a:prstGeom>
          <a:noFill/>
        </p:spPr>
        <p:txBody>
          <a:bodyPr wrap="square" lIns="0" tIns="0" rIns="0" bIns="0" anchor="t">
            <a:spAutoFit/>
          </a:bodyPr>
          <a:lstStyle/>
          <a:p>
            <a:pPr algn="l">
              <a:lnSpc>
                <a:spcPct val="100000"/>
              </a:lnSpc>
            </a:pPr>
            <a:r>
              <a:rPr sz="950" b="0" i="0">
                <a:solidFill>
                  <a:srgbClr val="999999"/>
                </a:solidFill>
                <a:latin typeface="Calibri"/>
              </a:rPr>
              <a:t>Procedural Fairness in Healthcare AI</a:t>
            </a:r>
          </a:p>
        </p:txBody>
      </p:sp>
      <p:sp>
        <p:nvSpPr>
          <p:cNvPr id="8" name="TextBox 7"/>
          <p:cNvSpPr txBox="1"/>
          <p:nvPr/>
        </p:nvSpPr>
        <p:spPr>
          <a:xfrm>
            <a:off x="11521440" y="6510528"/>
            <a:ext cx="457200" cy="274320"/>
          </a:xfrm>
          <a:prstGeom prst="rect">
            <a:avLst/>
          </a:prstGeom>
          <a:noFill/>
        </p:spPr>
        <p:txBody>
          <a:bodyPr wrap="square" lIns="0" tIns="0" rIns="0" bIns="0" anchor="t">
            <a:spAutoFit/>
          </a:bodyPr>
          <a:lstStyle/>
          <a:p>
            <a:pPr algn="r">
              <a:lnSpc>
                <a:spcPct val="100000"/>
              </a:lnSpc>
            </a:pPr>
            <a:r>
              <a:rPr sz="950" b="0" i="0">
                <a:solidFill>
                  <a:srgbClr val="999999"/>
                </a:solidFill>
                <a:latin typeface="Calibri"/>
              </a:rPr>
              <a:t>10</a:t>
            </a:r>
          </a:p>
        </p:txBody>
      </p:sp>
      <p:pic>
        <p:nvPicPr>
          <p:cNvPr id="14" name="Picture 13">
            <a:extLst>
              <a:ext uri="{FF2B5EF4-FFF2-40B4-BE49-F238E27FC236}">
                <a16:creationId xmlns:a16="http://schemas.microsoft.com/office/drawing/2014/main" id="{BD1043B8-16E6-B445-D78D-B9FC85DB0F00}"/>
              </a:ext>
            </a:extLst>
          </p:cNvPr>
          <p:cNvPicPr>
            <a:picLocks noChangeAspect="1"/>
          </p:cNvPicPr>
          <p:nvPr/>
        </p:nvPicPr>
        <p:blipFill>
          <a:blip r:embed="rId3"/>
          <a:stretch>
            <a:fillRect/>
          </a:stretch>
        </p:blipFill>
        <p:spPr>
          <a:xfrm>
            <a:off x="2711296" y="1179310"/>
            <a:ext cx="6738927" cy="43198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DF8F9"/>
        </a:solidFill>
        <a:effectLst/>
      </p:bgPr>
    </p:bg>
    <p:spTree>
      <p:nvGrpSpPr>
        <p:cNvPr id="1" name=""/>
        <p:cNvGrpSpPr/>
        <p:nvPr/>
      </p:nvGrpSpPr>
      <p:grpSpPr>
        <a:xfrm>
          <a:off x="0" y="0"/>
          <a:ext cx="0" cy="0"/>
          <a:chOff x="0" y="0"/>
          <a:chExt cx="0" cy="0"/>
        </a:xfrm>
      </p:grpSpPr>
      <p:sp>
        <p:nvSpPr>
          <p:cNvPr id="25" name="Rounded Rectangle 3">
            <a:extLst>
              <a:ext uri="{FF2B5EF4-FFF2-40B4-BE49-F238E27FC236}">
                <a16:creationId xmlns:a16="http://schemas.microsoft.com/office/drawing/2014/main" id="{3329DA10-A58E-B03C-8D4B-C325AD752D3F}"/>
              </a:ext>
            </a:extLst>
          </p:cNvPr>
          <p:cNvSpPr/>
          <p:nvPr/>
        </p:nvSpPr>
        <p:spPr>
          <a:xfrm>
            <a:off x="7133107" y="1261324"/>
            <a:ext cx="4863034" cy="2849604"/>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3" name="Rounded Rectangle 3">
            <a:extLst>
              <a:ext uri="{FF2B5EF4-FFF2-40B4-BE49-F238E27FC236}">
                <a16:creationId xmlns:a16="http://schemas.microsoft.com/office/drawing/2014/main" id="{11BF127A-81A3-0247-B914-A49B00A6D734}"/>
              </a:ext>
            </a:extLst>
          </p:cNvPr>
          <p:cNvSpPr/>
          <p:nvPr/>
        </p:nvSpPr>
        <p:spPr>
          <a:xfrm>
            <a:off x="303025" y="1261324"/>
            <a:ext cx="5792975" cy="2849604"/>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 name="TextBox 1"/>
          <p:cNvSpPr txBox="1"/>
          <p:nvPr/>
        </p:nvSpPr>
        <p:spPr>
          <a:xfrm>
            <a:off x="685800" y="384048"/>
            <a:ext cx="9144000" cy="320040"/>
          </a:xfrm>
          <a:prstGeom prst="rect">
            <a:avLst/>
          </a:prstGeom>
          <a:noFill/>
        </p:spPr>
        <p:txBody>
          <a:bodyPr wrap="square" lIns="0" tIns="0" rIns="0" bIns="0" anchor="t">
            <a:spAutoFit/>
          </a:bodyPr>
          <a:lstStyle/>
          <a:p>
            <a:pPr algn="l">
              <a:lnSpc>
                <a:spcPct val="100000"/>
              </a:lnSpc>
            </a:pPr>
            <a:r>
              <a:rPr sz="1300" b="1" i="0">
                <a:solidFill>
                  <a:srgbClr val="C9748F"/>
                </a:solidFill>
                <a:latin typeface="Calibri"/>
              </a:rPr>
              <a:t>RESULTS · 2 OF 2</a:t>
            </a:r>
          </a:p>
        </p:txBody>
      </p:sp>
      <p:sp>
        <p:nvSpPr>
          <p:cNvPr id="3" name="TextBox 2"/>
          <p:cNvSpPr txBox="1"/>
          <p:nvPr/>
        </p:nvSpPr>
        <p:spPr>
          <a:xfrm>
            <a:off x="685800" y="658368"/>
            <a:ext cx="10789920" cy="442237"/>
          </a:xfrm>
          <a:prstGeom prst="rect">
            <a:avLst/>
          </a:prstGeom>
          <a:noFill/>
        </p:spPr>
        <p:txBody>
          <a:bodyPr wrap="square" lIns="0" tIns="0" rIns="0" bIns="0" anchor="t">
            <a:spAutoFit/>
          </a:bodyPr>
          <a:lstStyle/>
          <a:p>
            <a:pPr algn="l">
              <a:lnSpc>
                <a:spcPct val="102000"/>
              </a:lnSpc>
            </a:pPr>
            <a:r>
              <a:rPr sz="3000" b="1" i="0" dirty="0">
                <a:solidFill>
                  <a:srgbClr val="1A1A1A"/>
                </a:solidFill>
                <a:latin typeface="Georgia"/>
              </a:rPr>
              <a:t>Two Criteria Moved</a:t>
            </a:r>
            <a:r>
              <a:rPr lang="en-GB" sz="3000" b="1" dirty="0">
                <a:solidFill>
                  <a:srgbClr val="1A1A1A"/>
                </a:solidFill>
                <a:latin typeface="Georgia"/>
              </a:rPr>
              <a:t> From Fail to Partial </a:t>
            </a:r>
            <a:endParaRPr sz="3000" b="1" i="0" dirty="0">
              <a:solidFill>
                <a:srgbClr val="1A1A1A"/>
              </a:solidFill>
              <a:latin typeface="Georgia"/>
            </a:endParaRPr>
          </a:p>
        </p:txBody>
      </p:sp>
      <p:pic>
        <p:nvPicPr>
          <p:cNvPr id="4" name="Picture 3" descr="fairness_measures_before_after.png"/>
          <p:cNvPicPr>
            <a:picLocks noChangeAspect="1"/>
          </p:cNvPicPr>
          <p:nvPr/>
        </p:nvPicPr>
        <p:blipFill>
          <a:blip r:embed="rId3"/>
          <a:stretch>
            <a:fillRect/>
          </a:stretch>
        </p:blipFill>
        <p:spPr>
          <a:xfrm>
            <a:off x="434340" y="1771451"/>
            <a:ext cx="5631599" cy="2308993"/>
          </a:xfrm>
          <a:prstGeom prst="rect">
            <a:avLst/>
          </a:prstGeom>
        </p:spPr>
      </p:pic>
      <p:pic>
        <p:nvPicPr>
          <p:cNvPr id="5" name="Picture 4" descr="correctability_before_after.png"/>
          <p:cNvPicPr>
            <a:picLocks noChangeAspect="1"/>
          </p:cNvPicPr>
          <p:nvPr/>
        </p:nvPicPr>
        <p:blipFill>
          <a:blip r:embed="rId4"/>
          <a:stretch>
            <a:fillRect/>
          </a:stretch>
        </p:blipFill>
        <p:spPr>
          <a:xfrm>
            <a:off x="7266417" y="1842516"/>
            <a:ext cx="4596414" cy="1965960"/>
          </a:xfrm>
          <a:prstGeom prst="rect">
            <a:avLst/>
          </a:prstGeom>
        </p:spPr>
      </p:pic>
      <p:sp>
        <p:nvSpPr>
          <p:cNvPr id="6" name="TextBox 5"/>
          <p:cNvSpPr txBox="1"/>
          <p:nvPr/>
        </p:nvSpPr>
        <p:spPr>
          <a:xfrm>
            <a:off x="3356650" y="4401050"/>
            <a:ext cx="6767164" cy="184666"/>
          </a:xfrm>
          <a:prstGeom prst="rect">
            <a:avLst/>
          </a:prstGeom>
          <a:noFill/>
        </p:spPr>
        <p:txBody>
          <a:bodyPr wrap="square" lIns="0" tIns="0" rIns="0" bIns="0" anchor="t">
            <a:spAutoFit/>
          </a:bodyPr>
          <a:lstStyle/>
          <a:p>
            <a:pPr algn="l">
              <a:lnSpc>
                <a:spcPct val="100000"/>
              </a:lnSpc>
            </a:pPr>
            <a:r>
              <a:rPr sz="1200" b="0" i="1" dirty="0">
                <a:solidFill>
                  <a:srgbClr val="666666"/>
                </a:solidFill>
                <a:latin typeface="Calibri"/>
              </a:rPr>
              <a:t>Representativeness stayed at 0.64</a:t>
            </a:r>
            <a:r>
              <a:rPr lang="en-GB" sz="1200" b="0" i="1" dirty="0">
                <a:solidFill>
                  <a:srgbClr val="666666"/>
                </a:solidFill>
                <a:latin typeface="Calibri"/>
              </a:rPr>
              <a:t>: </a:t>
            </a:r>
            <a:r>
              <a:rPr sz="1200" b="0" i="1" dirty="0">
                <a:solidFill>
                  <a:srgbClr val="666666"/>
                </a:solidFill>
                <a:latin typeface="Calibri"/>
              </a:rPr>
              <a:t>unchanged, because mitigation cannot fix a data problem.</a:t>
            </a:r>
          </a:p>
        </p:txBody>
      </p:sp>
      <p:sp>
        <p:nvSpPr>
          <p:cNvPr id="7" name="TextBox 6"/>
          <p:cNvSpPr txBox="1"/>
          <p:nvPr/>
        </p:nvSpPr>
        <p:spPr>
          <a:xfrm>
            <a:off x="685800" y="4892040"/>
            <a:ext cx="7315200" cy="320040"/>
          </a:xfrm>
          <a:prstGeom prst="rect">
            <a:avLst/>
          </a:prstGeom>
          <a:noFill/>
        </p:spPr>
        <p:txBody>
          <a:bodyPr wrap="square" lIns="0" tIns="0" rIns="0" bIns="0" anchor="t">
            <a:spAutoFit/>
          </a:bodyPr>
          <a:lstStyle/>
          <a:p>
            <a:pPr algn="l">
              <a:lnSpc>
                <a:spcPct val="100000"/>
              </a:lnSpc>
            </a:pPr>
            <a:r>
              <a:rPr sz="1250" b="1" i="0">
                <a:solidFill>
                  <a:srgbClr val="1A1A1A"/>
                </a:solidFill>
                <a:latin typeface="Calibri"/>
              </a:rPr>
              <a:t>AFTER MITIGATION: 3 PASS · 2 PARTIAL · 1 FAIL</a:t>
            </a:r>
          </a:p>
        </p:txBody>
      </p:sp>
      <p:sp>
        <p:nvSpPr>
          <p:cNvPr id="8" name="Oval 7"/>
          <p:cNvSpPr/>
          <p:nvPr/>
        </p:nvSpPr>
        <p:spPr>
          <a:xfrm>
            <a:off x="1106424" y="5495544"/>
            <a:ext cx="256032" cy="256032"/>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34340" y="5824728"/>
            <a:ext cx="1600200" cy="457200"/>
          </a:xfrm>
          <a:prstGeom prst="rect">
            <a:avLst/>
          </a:prstGeom>
          <a:noFill/>
        </p:spPr>
        <p:txBody>
          <a:bodyPr wrap="square" lIns="0" tIns="0" rIns="0" bIns="0" anchor="t">
            <a:spAutoFit/>
          </a:bodyPr>
          <a:lstStyle/>
          <a:p>
            <a:pPr algn="ctr">
              <a:lnSpc>
                <a:spcPct val="100000"/>
              </a:lnSpc>
            </a:pPr>
            <a:r>
              <a:rPr sz="1100" b="0" i="0">
                <a:solidFill>
                  <a:srgbClr val="666666"/>
                </a:solidFill>
                <a:latin typeface="Calibri"/>
              </a:rPr>
              <a:t>Accuracy</a:t>
            </a:r>
          </a:p>
        </p:txBody>
      </p:sp>
      <p:sp>
        <p:nvSpPr>
          <p:cNvPr id="10" name="Oval 9"/>
          <p:cNvSpPr/>
          <p:nvPr/>
        </p:nvSpPr>
        <p:spPr>
          <a:xfrm>
            <a:off x="2798064" y="5495544"/>
            <a:ext cx="256032" cy="256032"/>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125980" y="5824728"/>
            <a:ext cx="1600200" cy="457200"/>
          </a:xfrm>
          <a:prstGeom prst="rect">
            <a:avLst/>
          </a:prstGeom>
          <a:noFill/>
        </p:spPr>
        <p:txBody>
          <a:bodyPr wrap="square" lIns="0" tIns="0" rIns="0" bIns="0" anchor="t">
            <a:spAutoFit/>
          </a:bodyPr>
          <a:lstStyle/>
          <a:p>
            <a:pPr algn="ctr">
              <a:lnSpc>
                <a:spcPct val="100000"/>
              </a:lnSpc>
            </a:pPr>
            <a:r>
              <a:rPr sz="1100" b="0" i="0">
                <a:solidFill>
                  <a:srgbClr val="666666"/>
                </a:solidFill>
                <a:latin typeface="Calibri"/>
              </a:rPr>
              <a:t>Bias</a:t>
            </a:r>
          </a:p>
          <a:p>
            <a:pPr algn="ctr">
              <a:lnSpc>
                <a:spcPct val="100000"/>
              </a:lnSpc>
            </a:pPr>
            <a:r>
              <a:rPr sz="1100" b="0" i="0">
                <a:solidFill>
                  <a:srgbClr val="666666"/>
                </a:solidFill>
                <a:latin typeface="Calibri"/>
              </a:rPr>
              <a:t>Suppression</a:t>
            </a:r>
          </a:p>
        </p:txBody>
      </p:sp>
      <p:sp>
        <p:nvSpPr>
          <p:cNvPr id="12" name="Oval 11"/>
          <p:cNvSpPr/>
          <p:nvPr/>
        </p:nvSpPr>
        <p:spPr>
          <a:xfrm>
            <a:off x="4489704" y="5495544"/>
            <a:ext cx="256032" cy="256032"/>
          </a:xfrm>
          <a:prstGeom prst="ellipse">
            <a:avLst/>
          </a:prstGeom>
          <a:noFill/>
          <a:ln w="30480">
            <a:solidFill>
              <a:srgbClr val="9D02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817620" y="5824728"/>
            <a:ext cx="1600200" cy="457200"/>
          </a:xfrm>
          <a:prstGeom prst="rect">
            <a:avLst/>
          </a:prstGeom>
          <a:noFill/>
        </p:spPr>
        <p:txBody>
          <a:bodyPr wrap="square" lIns="0" tIns="0" rIns="0" bIns="0" anchor="t">
            <a:spAutoFit/>
          </a:bodyPr>
          <a:lstStyle/>
          <a:p>
            <a:pPr algn="ctr">
              <a:lnSpc>
                <a:spcPct val="100000"/>
              </a:lnSpc>
            </a:pPr>
            <a:r>
              <a:rPr sz="1100" b="0" i="0">
                <a:solidFill>
                  <a:srgbClr val="666666"/>
                </a:solidFill>
                <a:latin typeface="Calibri"/>
              </a:rPr>
              <a:t>Representativeness</a:t>
            </a:r>
          </a:p>
        </p:txBody>
      </p:sp>
      <p:sp>
        <p:nvSpPr>
          <p:cNvPr id="14" name="Oval 13"/>
          <p:cNvSpPr/>
          <p:nvPr/>
        </p:nvSpPr>
        <p:spPr>
          <a:xfrm>
            <a:off x="6181344" y="5495544"/>
            <a:ext cx="256032" cy="256032"/>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509260" y="5824728"/>
            <a:ext cx="1600200" cy="457200"/>
          </a:xfrm>
          <a:prstGeom prst="rect">
            <a:avLst/>
          </a:prstGeom>
          <a:noFill/>
        </p:spPr>
        <p:txBody>
          <a:bodyPr wrap="square" lIns="0" tIns="0" rIns="0" bIns="0" anchor="t">
            <a:spAutoFit/>
          </a:bodyPr>
          <a:lstStyle/>
          <a:p>
            <a:pPr algn="ctr">
              <a:lnSpc>
                <a:spcPct val="100000"/>
              </a:lnSpc>
            </a:pPr>
            <a:r>
              <a:rPr sz="1100" b="0" i="0">
                <a:solidFill>
                  <a:srgbClr val="666666"/>
                </a:solidFill>
                <a:latin typeface="Calibri"/>
              </a:rPr>
              <a:t>Consistency</a:t>
            </a:r>
          </a:p>
        </p:txBody>
      </p:sp>
      <p:sp>
        <p:nvSpPr>
          <p:cNvPr id="16" name="Oval 15"/>
          <p:cNvSpPr/>
          <p:nvPr/>
        </p:nvSpPr>
        <p:spPr>
          <a:xfrm>
            <a:off x="7872983" y="5495544"/>
            <a:ext cx="256032" cy="256032"/>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200900" y="5824728"/>
            <a:ext cx="1600200" cy="457200"/>
          </a:xfrm>
          <a:prstGeom prst="rect">
            <a:avLst/>
          </a:prstGeom>
          <a:noFill/>
        </p:spPr>
        <p:txBody>
          <a:bodyPr wrap="square" lIns="0" tIns="0" rIns="0" bIns="0" anchor="t">
            <a:spAutoFit/>
          </a:bodyPr>
          <a:lstStyle/>
          <a:p>
            <a:pPr algn="ctr">
              <a:lnSpc>
                <a:spcPct val="100000"/>
              </a:lnSpc>
            </a:pPr>
            <a:r>
              <a:rPr sz="1100" b="0" i="0">
                <a:solidFill>
                  <a:srgbClr val="666666"/>
                </a:solidFill>
                <a:latin typeface="Calibri"/>
              </a:rPr>
              <a:t>Correctability</a:t>
            </a:r>
          </a:p>
        </p:txBody>
      </p:sp>
      <p:sp>
        <p:nvSpPr>
          <p:cNvPr id="18" name="Oval 17"/>
          <p:cNvSpPr/>
          <p:nvPr/>
        </p:nvSpPr>
        <p:spPr>
          <a:xfrm>
            <a:off x="9564624" y="5495544"/>
            <a:ext cx="256032" cy="256032"/>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892540" y="5824728"/>
            <a:ext cx="1600200" cy="457200"/>
          </a:xfrm>
          <a:prstGeom prst="rect">
            <a:avLst/>
          </a:prstGeom>
          <a:noFill/>
        </p:spPr>
        <p:txBody>
          <a:bodyPr wrap="square" lIns="0" tIns="0" rIns="0" bIns="0" anchor="t">
            <a:spAutoFit/>
          </a:bodyPr>
          <a:lstStyle/>
          <a:p>
            <a:pPr algn="ctr">
              <a:lnSpc>
                <a:spcPct val="100000"/>
              </a:lnSpc>
            </a:pPr>
            <a:r>
              <a:rPr sz="1100" b="0" i="0">
                <a:solidFill>
                  <a:srgbClr val="666666"/>
                </a:solidFill>
                <a:latin typeface="Calibri"/>
              </a:rPr>
              <a:t>Ethicality</a:t>
            </a:r>
          </a:p>
        </p:txBody>
      </p:sp>
      <p:sp>
        <p:nvSpPr>
          <p:cNvPr id="20" name="TextBox 19"/>
          <p:cNvSpPr txBox="1"/>
          <p:nvPr/>
        </p:nvSpPr>
        <p:spPr>
          <a:xfrm>
            <a:off x="685800" y="6510528"/>
            <a:ext cx="6400800" cy="274320"/>
          </a:xfrm>
          <a:prstGeom prst="rect">
            <a:avLst/>
          </a:prstGeom>
          <a:noFill/>
        </p:spPr>
        <p:txBody>
          <a:bodyPr wrap="square" lIns="0" tIns="0" rIns="0" bIns="0" anchor="t">
            <a:spAutoFit/>
          </a:bodyPr>
          <a:lstStyle/>
          <a:p>
            <a:pPr algn="l">
              <a:lnSpc>
                <a:spcPct val="100000"/>
              </a:lnSpc>
            </a:pPr>
            <a:r>
              <a:rPr sz="950" b="0" i="0">
                <a:solidFill>
                  <a:srgbClr val="999999"/>
                </a:solidFill>
                <a:latin typeface="Calibri"/>
              </a:rPr>
              <a:t>Procedural Fairness in Healthcare AI</a:t>
            </a:r>
          </a:p>
        </p:txBody>
      </p:sp>
      <p:sp>
        <p:nvSpPr>
          <p:cNvPr id="21" name="TextBox 20"/>
          <p:cNvSpPr txBox="1"/>
          <p:nvPr/>
        </p:nvSpPr>
        <p:spPr>
          <a:xfrm>
            <a:off x="11521440" y="6510528"/>
            <a:ext cx="457200" cy="274320"/>
          </a:xfrm>
          <a:prstGeom prst="rect">
            <a:avLst/>
          </a:prstGeom>
          <a:noFill/>
        </p:spPr>
        <p:txBody>
          <a:bodyPr wrap="square" lIns="0" tIns="0" rIns="0" bIns="0" anchor="t">
            <a:spAutoFit/>
          </a:bodyPr>
          <a:lstStyle/>
          <a:p>
            <a:pPr algn="r">
              <a:lnSpc>
                <a:spcPct val="100000"/>
              </a:lnSpc>
            </a:pPr>
            <a:r>
              <a:rPr sz="950" b="0" i="0">
                <a:solidFill>
                  <a:srgbClr val="999999"/>
                </a:solidFill>
                <a:latin typeface="Calibri"/>
              </a:rPr>
              <a:t>11</a:t>
            </a:r>
          </a:p>
        </p:txBody>
      </p:sp>
      <p:sp>
        <p:nvSpPr>
          <p:cNvPr id="30" name="Rectangle: Rounded Corners 29">
            <a:extLst>
              <a:ext uri="{FF2B5EF4-FFF2-40B4-BE49-F238E27FC236}">
                <a16:creationId xmlns:a16="http://schemas.microsoft.com/office/drawing/2014/main" id="{0BDF14E9-CE4D-5D13-3AC3-B3808C40964A}"/>
              </a:ext>
            </a:extLst>
          </p:cNvPr>
          <p:cNvSpPr/>
          <p:nvPr/>
        </p:nvSpPr>
        <p:spPr>
          <a:xfrm>
            <a:off x="295656" y="1273651"/>
            <a:ext cx="5800344" cy="435020"/>
          </a:xfrm>
          <a:prstGeom prst="roundRect">
            <a:avLst/>
          </a:prstGeom>
          <a:solidFill>
            <a:srgbClr val="F2C4CE"/>
          </a:solidFill>
          <a:ln>
            <a:noFill/>
          </a:ln>
          <a:effectLst>
            <a:outerShdw sx="1000" sy="1000" rotWithShape="0">
              <a:srgbClr val="000000"/>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2400" b="1" dirty="0">
                <a:solidFill>
                  <a:srgbClr val="C9748F"/>
                </a:solidFill>
              </a:rPr>
              <a:t>Bias Suppression</a:t>
            </a:r>
          </a:p>
        </p:txBody>
      </p:sp>
      <p:sp>
        <p:nvSpPr>
          <p:cNvPr id="32" name="Rectangle: Rounded Corners 31">
            <a:extLst>
              <a:ext uri="{FF2B5EF4-FFF2-40B4-BE49-F238E27FC236}">
                <a16:creationId xmlns:a16="http://schemas.microsoft.com/office/drawing/2014/main" id="{D2EC07A6-CC30-A208-2ED4-3CA9F502CA36}"/>
              </a:ext>
            </a:extLst>
          </p:cNvPr>
          <p:cNvSpPr/>
          <p:nvPr/>
        </p:nvSpPr>
        <p:spPr>
          <a:xfrm>
            <a:off x="7138231" y="1261324"/>
            <a:ext cx="4857910" cy="435020"/>
          </a:xfrm>
          <a:prstGeom prst="roundRect">
            <a:avLst/>
          </a:prstGeom>
          <a:solidFill>
            <a:srgbClr val="F2C4CE"/>
          </a:solidFill>
          <a:ln>
            <a:noFill/>
          </a:ln>
          <a:effectLst>
            <a:outerShdw sx="1000" sy="1000" rotWithShape="0">
              <a:srgbClr val="000000"/>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2400" b="1" dirty="0">
                <a:solidFill>
                  <a:srgbClr val="C9748F"/>
                </a:solidFill>
              </a:rPr>
              <a:t>Correctability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DF8F9"/>
        </a:solidFill>
        <a:effectLst/>
      </p:bgPr>
    </p:bg>
    <p:spTree>
      <p:nvGrpSpPr>
        <p:cNvPr id="1" name=""/>
        <p:cNvGrpSpPr/>
        <p:nvPr/>
      </p:nvGrpSpPr>
      <p:grpSpPr>
        <a:xfrm>
          <a:off x="0" y="0"/>
          <a:ext cx="0" cy="0"/>
          <a:chOff x="0" y="0"/>
          <a:chExt cx="0" cy="0"/>
        </a:xfrm>
      </p:grpSpPr>
      <p:sp>
        <p:nvSpPr>
          <p:cNvPr id="2" name="TextBox 1"/>
          <p:cNvSpPr txBox="1"/>
          <p:nvPr/>
        </p:nvSpPr>
        <p:spPr>
          <a:xfrm>
            <a:off x="685800" y="384048"/>
            <a:ext cx="9144000" cy="200055"/>
          </a:xfrm>
          <a:prstGeom prst="rect">
            <a:avLst/>
          </a:prstGeom>
          <a:noFill/>
        </p:spPr>
        <p:txBody>
          <a:bodyPr wrap="square" lIns="0" tIns="0" rIns="0" bIns="0" anchor="t">
            <a:spAutoFit/>
          </a:bodyPr>
          <a:lstStyle/>
          <a:p>
            <a:pPr algn="l">
              <a:lnSpc>
                <a:spcPct val="100000"/>
              </a:lnSpc>
            </a:pPr>
            <a:r>
              <a:rPr sz="1300" b="1" i="0" dirty="0">
                <a:solidFill>
                  <a:srgbClr val="C9748F"/>
                </a:solidFill>
                <a:latin typeface="Calibri"/>
              </a:rPr>
              <a:t>PUBLIC SURVEY </a:t>
            </a:r>
          </a:p>
        </p:txBody>
      </p:sp>
      <p:sp>
        <p:nvSpPr>
          <p:cNvPr id="3" name="TextBox 2"/>
          <p:cNvSpPr txBox="1"/>
          <p:nvPr/>
        </p:nvSpPr>
        <p:spPr>
          <a:xfrm>
            <a:off x="685800" y="658368"/>
            <a:ext cx="10789920" cy="914400"/>
          </a:xfrm>
          <a:prstGeom prst="rect">
            <a:avLst/>
          </a:prstGeom>
          <a:noFill/>
        </p:spPr>
        <p:txBody>
          <a:bodyPr wrap="square" lIns="0" tIns="0" rIns="0" bIns="0" anchor="t">
            <a:spAutoFit/>
          </a:bodyPr>
          <a:lstStyle/>
          <a:p>
            <a:pPr algn="l">
              <a:lnSpc>
                <a:spcPct val="102000"/>
              </a:lnSpc>
            </a:pPr>
            <a:r>
              <a:rPr sz="3000" b="1" i="0" dirty="0">
                <a:solidFill>
                  <a:srgbClr val="1A1A1A"/>
                </a:solidFill>
                <a:latin typeface="Georgia"/>
              </a:rPr>
              <a:t>What Do People Actually Expect?</a:t>
            </a:r>
          </a:p>
        </p:txBody>
      </p:sp>
      <p:sp>
        <p:nvSpPr>
          <p:cNvPr id="5" name="TextBox 4"/>
          <p:cNvSpPr txBox="1"/>
          <p:nvPr/>
        </p:nvSpPr>
        <p:spPr>
          <a:xfrm>
            <a:off x="685800" y="5989320"/>
            <a:ext cx="10789920" cy="184666"/>
          </a:xfrm>
          <a:prstGeom prst="rect">
            <a:avLst/>
          </a:prstGeom>
          <a:noFill/>
        </p:spPr>
        <p:txBody>
          <a:bodyPr wrap="square" lIns="0" tIns="0" rIns="0" bIns="0" anchor="t">
            <a:spAutoFit/>
          </a:bodyPr>
          <a:lstStyle/>
          <a:p>
            <a:pPr algn="ctr">
              <a:lnSpc>
                <a:spcPct val="100000"/>
              </a:lnSpc>
            </a:pPr>
            <a:r>
              <a:rPr lang="en-GB" sz="1200" dirty="0">
                <a:solidFill>
                  <a:schemeClr val="tx1">
                    <a:lumMod val="65000"/>
                    <a:lumOff val="35000"/>
                  </a:schemeClr>
                </a:solidFill>
              </a:rPr>
              <a:t>An online survey of 325 members of the public on what they expect from AI in healthcare decisions</a:t>
            </a:r>
            <a:endParaRPr sz="1200" b="0" i="1" dirty="0">
              <a:solidFill>
                <a:srgbClr val="666666"/>
              </a:solidFill>
              <a:latin typeface="Calibri"/>
            </a:endParaRPr>
          </a:p>
        </p:txBody>
      </p:sp>
      <p:sp>
        <p:nvSpPr>
          <p:cNvPr id="6" name="TextBox 5"/>
          <p:cNvSpPr txBox="1"/>
          <p:nvPr/>
        </p:nvSpPr>
        <p:spPr>
          <a:xfrm>
            <a:off x="685800" y="6510528"/>
            <a:ext cx="6400800" cy="274320"/>
          </a:xfrm>
          <a:prstGeom prst="rect">
            <a:avLst/>
          </a:prstGeom>
          <a:noFill/>
        </p:spPr>
        <p:txBody>
          <a:bodyPr wrap="square" lIns="0" tIns="0" rIns="0" bIns="0" anchor="t">
            <a:spAutoFit/>
          </a:bodyPr>
          <a:lstStyle/>
          <a:p>
            <a:pPr algn="l">
              <a:lnSpc>
                <a:spcPct val="100000"/>
              </a:lnSpc>
            </a:pPr>
            <a:r>
              <a:rPr sz="950" b="0" i="0">
                <a:solidFill>
                  <a:srgbClr val="999999"/>
                </a:solidFill>
                <a:latin typeface="Calibri"/>
              </a:rPr>
              <a:t>Procedural Fairness in Healthcare AI</a:t>
            </a:r>
          </a:p>
        </p:txBody>
      </p:sp>
      <p:sp>
        <p:nvSpPr>
          <p:cNvPr id="7" name="TextBox 6"/>
          <p:cNvSpPr txBox="1"/>
          <p:nvPr/>
        </p:nvSpPr>
        <p:spPr>
          <a:xfrm>
            <a:off x="11521440" y="6510528"/>
            <a:ext cx="457200" cy="274320"/>
          </a:xfrm>
          <a:prstGeom prst="rect">
            <a:avLst/>
          </a:prstGeom>
          <a:noFill/>
        </p:spPr>
        <p:txBody>
          <a:bodyPr wrap="square" lIns="0" tIns="0" rIns="0" bIns="0" anchor="t">
            <a:spAutoFit/>
          </a:bodyPr>
          <a:lstStyle/>
          <a:p>
            <a:pPr algn="r">
              <a:lnSpc>
                <a:spcPct val="100000"/>
              </a:lnSpc>
            </a:pPr>
            <a:r>
              <a:rPr sz="950" b="0" i="0">
                <a:solidFill>
                  <a:srgbClr val="999999"/>
                </a:solidFill>
                <a:latin typeface="Calibri"/>
              </a:rPr>
              <a:t>12</a:t>
            </a:r>
          </a:p>
        </p:txBody>
      </p:sp>
      <p:sp>
        <p:nvSpPr>
          <p:cNvPr id="11" name="TextBox 10">
            <a:extLst>
              <a:ext uri="{FF2B5EF4-FFF2-40B4-BE49-F238E27FC236}">
                <a16:creationId xmlns:a16="http://schemas.microsoft.com/office/drawing/2014/main" id="{D57AEDB5-F34C-B3F8-9B9F-E765DEA789B5}"/>
              </a:ext>
            </a:extLst>
          </p:cNvPr>
          <p:cNvSpPr txBox="1"/>
          <p:nvPr/>
        </p:nvSpPr>
        <p:spPr>
          <a:xfrm>
            <a:off x="716280" y="1108501"/>
            <a:ext cx="10607040" cy="294183"/>
          </a:xfrm>
          <a:prstGeom prst="rect">
            <a:avLst/>
          </a:prstGeom>
          <a:noFill/>
        </p:spPr>
        <p:txBody>
          <a:bodyPr wrap="square" lIns="0" tIns="0" rIns="0" bIns="0" anchor="t">
            <a:spAutoFit/>
          </a:bodyPr>
          <a:lstStyle/>
          <a:p>
            <a:pPr>
              <a:lnSpc>
                <a:spcPct val="130000"/>
              </a:lnSpc>
            </a:pPr>
            <a:r>
              <a:rPr lang="en-GB" sz="1600" dirty="0">
                <a:solidFill>
                  <a:schemeClr val="tx1">
                    <a:lumMod val="65000"/>
                    <a:lumOff val="35000"/>
                  </a:schemeClr>
                </a:solidFill>
              </a:rPr>
              <a:t>Human oversight and transparency dominate. The public wants a say in AI decisions about their care</a:t>
            </a:r>
            <a:r>
              <a:rPr lang="en-GB" sz="1600" dirty="0"/>
              <a:t>.</a:t>
            </a:r>
            <a:endParaRPr lang="en-GB" sz="1700" b="0" i="0" dirty="0">
              <a:solidFill>
                <a:schemeClr val="tx1">
                  <a:lumMod val="65000"/>
                  <a:lumOff val="35000"/>
                </a:schemeClr>
              </a:solidFill>
              <a:latin typeface="Calibri"/>
            </a:endParaRPr>
          </a:p>
        </p:txBody>
      </p:sp>
      <p:sp>
        <p:nvSpPr>
          <p:cNvPr id="9" name="TextBox 8">
            <a:extLst>
              <a:ext uri="{FF2B5EF4-FFF2-40B4-BE49-F238E27FC236}">
                <a16:creationId xmlns:a16="http://schemas.microsoft.com/office/drawing/2014/main" id="{9396FC0B-4111-A5D7-CC66-FD7B5E723C77}"/>
              </a:ext>
            </a:extLst>
          </p:cNvPr>
          <p:cNvSpPr txBox="1"/>
          <p:nvPr/>
        </p:nvSpPr>
        <p:spPr>
          <a:xfrm>
            <a:off x="685800" y="1855280"/>
            <a:ext cx="2351315" cy="1446550"/>
          </a:xfrm>
          <a:prstGeom prst="rect">
            <a:avLst/>
          </a:prstGeom>
          <a:noFill/>
        </p:spPr>
        <p:txBody>
          <a:bodyPr wrap="square" rtlCol="0">
            <a:spAutoFit/>
          </a:bodyPr>
          <a:lstStyle/>
          <a:p>
            <a:r>
              <a:rPr lang="en-GB" sz="8800" b="1" dirty="0">
                <a:solidFill>
                  <a:srgbClr val="7B2D4E"/>
                </a:solidFill>
              </a:rPr>
              <a:t>96%</a:t>
            </a:r>
          </a:p>
        </p:txBody>
      </p:sp>
      <p:sp>
        <p:nvSpPr>
          <p:cNvPr id="14" name="TextBox 13">
            <a:extLst>
              <a:ext uri="{FF2B5EF4-FFF2-40B4-BE49-F238E27FC236}">
                <a16:creationId xmlns:a16="http://schemas.microsoft.com/office/drawing/2014/main" id="{35A22EF3-036F-7E96-01E4-D492DC2414E2}"/>
              </a:ext>
            </a:extLst>
          </p:cNvPr>
          <p:cNvSpPr txBox="1"/>
          <p:nvPr/>
        </p:nvSpPr>
        <p:spPr>
          <a:xfrm>
            <a:off x="494882" y="3116110"/>
            <a:ext cx="2431701" cy="923330"/>
          </a:xfrm>
          <a:prstGeom prst="rect">
            <a:avLst/>
          </a:prstGeom>
          <a:noFill/>
        </p:spPr>
        <p:txBody>
          <a:bodyPr wrap="square" rtlCol="0">
            <a:spAutoFit/>
          </a:bodyPr>
          <a:lstStyle/>
          <a:p>
            <a:pPr algn="ctr"/>
            <a:r>
              <a:rPr lang="en-GB" dirty="0">
                <a:solidFill>
                  <a:schemeClr val="tx1">
                    <a:lumMod val="65000"/>
                    <a:lumOff val="35000"/>
                  </a:schemeClr>
                </a:solidFill>
              </a:rPr>
              <a:t>Patients should be informed when AI is used in their care </a:t>
            </a:r>
          </a:p>
        </p:txBody>
      </p:sp>
      <p:sp>
        <p:nvSpPr>
          <p:cNvPr id="15" name="TextBox 14">
            <a:extLst>
              <a:ext uri="{FF2B5EF4-FFF2-40B4-BE49-F238E27FC236}">
                <a16:creationId xmlns:a16="http://schemas.microsoft.com/office/drawing/2014/main" id="{1AFC53C7-C355-2D57-EA55-EDAC4C59EC01}"/>
              </a:ext>
            </a:extLst>
          </p:cNvPr>
          <p:cNvSpPr txBox="1"/>
          <p:nvPr/>
        </p:nvSpPr>
        <p:spPr>
          <a:xfrm>
            <a:off x="1158072" y="4257818"/>
            <a:ext cx="1406769" cy="276999"/>
          </a:xfrm>
          <a:prstGeom prst="rect">
            <a:avLst/>
          </a:prstGeom>
          <a:noFill/>
        </p:spPr>
        <p:txBody>
          <a:bodyPr wrap="square" rtlCol="0">
            <a:spAutoFit/>
          </a:bodyPr>
          <a:lstStyle/>
          <a:p>
            <a:r>
              <a:rPr lang="en-GB" sz="1200" i="1" dirty="0"/>
              <a:t>Ethicality</a:t>
            </a:r>
          </a:p>
        </p:txBody>
      </p:sp>
      <p:sp>
        <p:nvSpPr>
          <p:cNvPr id="17" name="TextBox 16">
            <a:extLst>
              <a:ext uri="{FF2B5EF4-FFF2-40B4-BE49-F238E27FC236}">
                <a16:creationId xmlns:a16="http://schemas.microsoft.com/office/drawing/2014/main" id="{A1EC3DDE-A0D3-6994-49E6-DD73CB8B1195}"/>
              </a:ext>
            </a:extLst>
          </p:cNvPr>
          <p:cNvSpPr txBox="1"/>
          <p:nvPr/>
        </p:nvSpPr>
        <p:spPr>
          <a:xfrm>
            <a:off x="5015800" y="1847327"/>
            <a:ext cx="2351315" cy="1446550"/>
          </a:xfrm>
          <a:prstGeom prst="rect">
            <a:avLst/>
          </a:prstGeom>
          <a:noFill/>
        </p:spPr>
        <p:txBody>
          <a:bodyPr wrap="square" rtlCol="0">
            <a:spAutoFit/>
          </a:bodyPr>
          <a:lstStyle/>
          <a:p>
            <a:r>
              <a:rPr lang="en-GB" sz="8800" b="1" dirty="0">
                <a:solidFill>
                  <a:srgbClr val="7B2D4E"/>
                </a:solidFill>
              </a:rPr>
              <a:t>93%</a:t>
            </a:r>
          </a:p>
        </p:txBody>
      </p:sp>
      <p:sp>
        <p:nvSpPr>
          <p:cNvPr id="19" name="TextBox 18">
            <a:extLst>
              <a:ext uri="{FF2B5EF4-FFF2-40B4-BE49-F238E27FC236}">
                <a16:creationId xmlns:a16="http://schemas.microsoft.com/office/drawing/2014/main" id="{69FFCD0A-1547-A612-12B3-59A61FAF631C}"/>
              </a:ext>
            </a:extLst>
          </p:cNvPr>
          <p:cNvSpPr txBox="1"/>
          <p:nvPr/>
        </p:nvSpPr>
        <p:spPr>
          <a:xfrm>
            <a:off x="4824882" y="3108157"/>
            <a:ext cx="2431701" cy="923330"/>
          </a:xfrm>
          <a:prstGeom prst="rect">
            <a:avLst/>
          </a:prstGeom>
          <a:noFill/>
        </p:spPr>
        <p:txBody>
          <a:bodyPr wrap="square" rtlCol="0">
            <a:spAutoFit/>
          </a:bodyPr>
          <a:lstStyle/>
          <a:p>
            <a:pPr algn="ctr"/>
            <a:r>
              <a:rPr lang="en-GB" dirty="0">
                <a:solidFill>
                  <a:schemeClr val="tx1">
                    <a:lumMod val="65000"/>
                    <a:lumOff val="35000"/>
                  </a:schemeClr>
                </a:solidFill>
              </a:rPr>
              <a:t>Patients should have the right to challenge a decision </a:t>
            </a:r>
          </a:p>
        </p:txBody>
      </p:sp>
      <p:sp>
        <p:nvSpPr>
          <p:cNvPr id="21" name="TextBox 20">
            <a:extLst>
              <a:ext uri="{FF2B5EF4-FFF2-40B4-BE49-F238E27FC236}">
                <a16:creationId xmlns:a16="http://schemas.microsoft.com/office/drawing/2014/main" id="{04507314-6B20-5B80-30EA-B0EA9C1602DA}"/>
              </a:ext>
            </a:extLst>
          </p:cNvPr>
          <p:cNvSpPr txBox="1"/>
          <p:nvPr/>
        </p:nvSpPr>
        <p:spPr>
          <a:xfrm>
            <a:off x="5488072" y="4249865"/>
            <a:ext cx="1406769" cy="276999"/>
          </a:xfrm>
          <a:prstGeom prst="rect">
            <a:avLst/>
          </a:prstGeom>
          <a:noFill/>
        </p:spPr>
        <p:txBody>
          <a:bodyPr wrap="square" rtlCol="0">
            <a:spAutoFit/>
          </a:bodyPr>
          <a:lstStyle/>
          <a:p>
            <a:r>
              <a:rPr lang="en-GB" sz="1200" i="1" dirty="0"/>
              <a:t>Correctability </a:t>
            </a:r>
          </a:p>
        </p:txBody>
      </p:sp>
      <p:sp>
        <p:nvSpPr>
          <p:cNvPr id="23" name="TextBox 22">
            <a:extLst>
              <a:ext uri="{FF2B5EF4-FFF2-40B4-BE49-F238E27FC236}">
                <a16:creationId xmlns:a16="http://schemas.microsoft.com/office/drawing/2014/main" id="{C79641D5-4A52-845A-64C8-49FB481B1763}"/>
              </a:ext>
            </a:extLst>
          </p:cNvPr>
          <p:cNvSpPr txBox="1"/>
          <p:nvPr/>
        </p:nvSpPr>
        <p:spPr>
          <a:xfrm>
            <a:off x="9114689" y="1855280"/>
            <a:ext cx="2351315" cy="1446550"/>
          </a:xfrm>
          <a:prstGeom prst="rect">
            <a:avLst/>
          </a:prstGeom>
          <a:noFill/>
        </p:spPr>
        <p:txBody>
          <a:bodyPr wrap="square" rtlCol="0">
            <a:spAutoFit/>
          </a:bodyPr>
          <a:lstStyle/>
          <a:p>
            <a:r>
              <a:rPr lang="en-GB" sz="8800" b="1" dirty="0">
                <a:solidFill>
                  <a:srgbClr val="7B2D4E"/>
                </a:solidFill>
              </a:rPr>
              <a:t>92%</a:t>
            </a:r>
          </a:p>
        </p:txBody>
      </p:sp>
      <p:sp>
        <p:nvSpPr>
          <p:cNvPr id="25" name="TextBox 24">
            <a:extLst>
              <a:ext uri="{FF2B5EF4-FFF2-40B4-BE49-F238E27FC236}">
                <a16:creationId xmlns:a16="http://schemas.microsoft.com/office/drawing/2014/main" id="{1EF7288D-DB18-5738-9692-4B9450F1786F}"/>
              </a:ext>
            </a:extLst>
          </p:cNvPr>
          <p:cNvSpPr txBox="1"/>
          <p:nvPr/>
        </p:nvSpPr>
        <p:spPr>
          <a:xfrm>
            <a:off x="8923771" y="3116110"/>
            <a:ext cx="2431701" cy="923330"/>
          </a:xfrm>
          <a:prstGeom prst="rect">
            <a:avLst/>
          </a:prstGeom>
          <a:noFill/>
        </p:spPr>
        <p:txBody>
          <a:bodyPr wrap="square" rtlCol="0">
            <a:spAutoFit/>
          </a:bodyPr>
          <a:lstStyle/>
          <a:p>
            <a:pPr algn="ctr"/>
            <a:r>
              <a:rPr lang="en-GB" dirty="0">
                <a:solidFill>
                  <a:schemeClr val="tx1">
                    <a:lumMod val="65000"/>
                    <a:lumOff val="35000"/>
                  </a:schemeClr>
                </a:solidFill>
              </a:rPr>
              <a:t>Human involvement is essential regardless of accuracy  </a:t>
            </a:r>
          </a:p>
        </p:txBody>
      </p:sp>
      <p:sp>
        <p:nvSpPr>
          <p:cNvPr id="27" name="TextBox 26">
            <a:extLst>
              <a:ext uri="{FF2B5EF4-FFF2-40B4-BE49-F238E27FC236}">
                <a16:creationId xmlns:a16="http://schemas.microsoft.com/office/drawing/2014/main" id="{E3F86C97-C7AA-60A6-CFF7-9188B40E2B5E}"/>
              </a:ext>
            </a:extLst>
          </p:cNvPr>
          <p:cNvSpPr txBox="1"/>
          <p:nvPr/>
        </p:nvSpPr>
        <p:spPr>
          <a:xfrm>
            <a:off x="9586961" y="4257818"/>
            <a:ext cx="1406769" cy="276999"/>
          </a:xfrm>
          <a:prstGeom prst="rect">
            <a:avLst/>
          </a:prstGeom>
          <a:noFill/>
        </p:spPr>
        <p:txBody>
          <a:bodyPr wrap="square" rtlCol="0">
            <a:spAutoFit/>
          </a:bodyPr>
          <a:lstStyle/>
          <a:p>
            <a:r>
              <a:rPr lang="en-GB" sz="1200" i="1" dirty="0"/>
              <a:t>Correctability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DF8F9"/>
        </a:solidFill>
        <a:effectLst/>
      </p:bgPr>
    </p:bg>
    <p:spTree>
      <p:nvGrpSpPr>
        <p:cNvPr id="1" name=""/>
        <p:cNvGrpSpPr/>
        <p:nvPr/>
      </p:nvGrpSpPr>
      <p:grpSpPr>
        <a:xfrm>
          <a:off x="0" y="0"/>
          <a:ext cx="0" cy="0"/>
          <a:chOff x="0" y="0"/>
          <a:chExt cx="0" cy="0"/>
        </a:xfrm>
      </p:grpSpPr>
      <p:sp>
        <p:nvSpPr>
          <p:cNvPr id="2" name="Text 0"/>
          <p:cNvSpPr/>
          <p:nvPr/>
        </p:nvSpPr>
        <p:spPr>
          <a:xfrm>
            <a:off x="179865" y="164592"/>
            <a:ext cx="5486400" cy="274320"/>
          </a:xfrm>
          <a:prstGeom prst="rect">
            <a:avLst/>
          </a:prstGeom>
          <a:noFill/>
          <a:ln/>
        </p:spPr>
        <p:txBody>
          <a:bodyPr wrap="square" lIns="0" tIns="0" rIns="0" bIns="0" rtlCol="0" anchor="ctr"/>
          <a:lstStyle/>
          <a:p>
            <a:pPr marL="0" indent="0">
              <a:buNone/>
            </a:pPr>
            <a:r>
              <a:rPr lang="en-US" sz="1200" b="1" kern="0" spc="150" dirty="0">
                <a:solidFill>
                  <a:srgbClr val="C9748F"/>
                </a:solidFill>
                <a:latin typeface="Calibri" pitchFamily="34" charset="0"/>
                <a:ea typeface="Calibri" pitchFamily="34" charset="-122"/>
                <a:cs typeface="Calibri" pitchFamily="34" charset="-120"/>
              </a:rPr>
              <a:t>THE KEY CONNECTION</a:t>
            </a:r>
            <a:endParaRPr lang="en-US" sz="1200" dirty="0"/>
          </a:p>
        </p:txBody>
      </p:sp>
      <p:sp>
        <p:nvSpPr>
          <p:cNvPr id="3" name="Text 1"/>
          <p:cNvSpPr/>
          <p:nvPr/>
        </p:nvSpPr>
        <p:spPr>
          <a:xfrm>
            <a:off x="673238" y="694945"/>
            <a:ext cx="8732520" cy="566928"/>
          </a:xfrm>
          <a:prstGeom prst="rect">
            <a:avLst/>
          </a:prstGeom>
          <a:noFill/>
          <a:ln/>
        </p:spPr>
        <p:txBody>
          <a:bodyPr wrap="square" lIns="0" tIns="0" rIns="0" bIns="0" rtlCol="0" anchor="ctr"/>
          <a:lstStyle/>
          <a:p>
            <a:pPr marL="0" indent="0">
              <a:buNone/>
            </a:pPr>
            <a:r>
              <a:rPr lang="en-US" sz="3200" b="1" dirty="0">
                <a:latin typeface="Georgia" panose="02040502050405020303" pitchFamily="18" charset="0"/>
              </a:rPr>
              <a:t>The Public’s Most Consistent Demand Isn’t in the Pipeline</a:t>
            </a:r>
          </a:p>
        </p:txBody>
      </p:sp>
      <p:sp>
        <p:nvSpPr>
          <p:cNvPr id="4" name="Text 2"/>
          <p:cNvSpPr/>
          <p:nvPr/>
        </p:nvSpPr>
        <p:spPr>
          <a:xfrm>
            <a:off x="673238" y="1514715"/>
            <a:ext cx="10607040" cy="310896"/>
          </a:xfrm>
          <a:prstGeom prst="rect">
            <a:avLst/>
          </a:prstGeom>
          <a:noFill/>
          <a:ln/>
        </p:spPr>
        <p:txBody>
          <a:bodyPr wrap="square" lIns="0" tIns="0" rIns="0" bIns="0" rtlCol="0" anchor="ctr"/>
          <a:lstStyle/>
          <a:p>
            <a:pPr marL="0" indent="0">
              <a:buNone/>
            </a:pPr>
            <a:r>
              <a:rPr lang="en-US" sz="1500" dirty="0">
                <a:solidFill>
                  <a:srgbClr val="6B6367"/>
                </a:solidFill>
                <a:latin typeface="Calibri" pitchFamily="34" charset="0"/>
                <a:ea typeface="Calibri" pitchFamily="34" charset="-122"/>
                <a:cs typeface="Calibri" pitchFamily="34" charset="-120"/>
              </a:rPr>
              <a:t>Correctability scored 4 of 8 after mitigation. Two of the items it lacks are the two the public asks for most consistently.</a:t>
            </a:r>
            <a:endParaRPr lang="en-US" sz="1500" dirty="0"/>
          </a:p>
        </p:txBody>
      </p:sp>
      <p:sp>
        <p:nvSpPr>
          <p:cNvPr id="5" name="Text 3"/>
          <p:cNvSpPr/>
          <p:nvPr/>
        </p:nvSpPr>
        <p:spPr>
          <a:xfrm>
            <a:off x="822960" y="2212848"/>
            <a:ext cx="5486400" cy="237744"/>
          </a:xfrm>
          <a:prstGeom prst="rect">
            <a:avLst/>
          </a:prstGeom>
          <a:noFill/>
          <a:ln/>
        </p:spPr>
        <p:txBody>
          <a:bodyPr wrap="square" lIns="0" tIns="0" rIns="0" bIns="0" rtlCol="0" anchor="ctr"/>
          <a:lstStyle/>
          <a:p>
            <a:pPr marL="0" indent="0">
              <a:buNone/>
            </a:pPr>
            <a:r>
              <a:rPr lang="en-US" sz="1050" b="1" kern="0" spc="120" dirty="0">
                <a:solidFill>
                  <a:srgbClr val="6B6367"/>
                </a:solidFill>
                <a:latin typeface="Calibri" pitchFamily="34" charset="0"/>
                <a:ea typeface="Calibri" pitchFamily="34" charset="-122"/>
                <a:cs typeface="Calibri" pitchFamily="34" charset="-120"/>
              </a:rPr>
              <a:t>MECHANISM</a:t>
            </a:r>
            <a:endParaRPr lang="en-US" sz="1050" dirty="0"/>
          </a:p>
        </p:txBody>
      </p:sp>
      <p:sp>
        <p:nvSpPr>
          <p:cNvPr id="6" name="Text 4"/>
          <p:cNvSpPr/>
          <p:nvPr/>
        </p:nvSpPr>
        <p:spPr>
          <a:xfrm>
            <a:off x="6537960" y="2212848"/>
            <a:ext cx="2194560" cy="237744"/>
          </a:xfrm>
          <a:prstGeom prst="rect">
            <a:avLst/>
          </a:prstGeom>
          <a:noFill/>
          <a:ln/>
        </p:spPr>
        <p:txBody>
          <a:bodyPr wrap="square" lIns="0" tIns="0" rIns="0" bIns="0" rtlCol="0" anchor="ctr"/>
          <a:lstStyle/>
          <a:p>
            <a:pPr marL="0" indent="0" algn="ctr">
              <a:buNone/>
            </a:pPr>
            <a:r>
              <a:rPr lang="en-US" sz="1050" b="1" kern="0" spc="120" dirty="0">
                <a:solidFill>
                  <a:srgbClr val="6B6367"/>
                </a:solidFill>
                <a:latin typeface="Calibri" pitchFamily="34" charset="0"/>
                <a:ea typeface="Calibri" pitchFamily="34" charset="-122"/>
                <a:cs typeface="Calibri" pitchFamily="34" charset="-120"/>
              </a:rPr>
              <a:t>EVIDENCE 1 · PIPELINE</a:t>
            </a:r>
            <a:endParaRPr lang="en-US" sz="1050" dirty="0"/>
          </a:p>
        </p:txBody>
      </p:sp>
      <p:sp>
        <p:nvSpPr>
          <p:cNvPr id="7" name="Text 5"/>
          <p:cNvSpPr/>
          <p:nvPr/>
        </p:nvSpPr>
        <p:spPr>
          <a:xfrm>
            <a:off x="9098280" y="2212848"/>
            <a:ext cx="2331720" cy="237744"/>
          </a:xfrm>
          <a:prstGeom prst="rect">
            <a:avLst/>
          </a:prstGeom>
          <a:noFill/>
          <a:ln/>
        </p:spPr>
        <p:txBody>
          <a:bodyPr wrap="square" lIns="0" tIns="0" rIns="0" bIns="0" rtlCol="0" anchor="ctr"/>
          <a:lstStyle/>
          <a:p>
            <a:pPr marL="0" indent="0" algn="ctr">
              <a:buNone/>
            </a:pPr>
            <a:r>
              <a:rPr lang="en-US" sz="1050" b="1" kern="0" spc="120" dirty="0">
                <a:solidFill>
                  <a:srgbClr val="6B6367"/>
                </a:solidFill>
                <a:latin typeface="Calibri" pitchFamily="34" charset="0"/>
                <a:ea typeface="Calibri" pitchFamily="34" charset="-122"/>
                <a:cs typeface="Calibri" pitchFamily="34" charset="-120"/>
              </a:rPr>
              <a:t>EVIDENCE 2 · SURVEY (n=325)</a:t>
            </a:r>
            <a:endParaRPr lang="en-US" sz="1050" dirty="0"/>
          </a:p>
        </p:txBody>
      </p:sp>
      <p:sp>
        <p:nvSpPr>
          <p:cNvPr id="8" name="Shape 6"/>
          <p:cNvSpPr/>
          <p:nvPr/>
        </p:nvSpPr>
        <p:spPr>
          <a:xfrm>
            <a:off x="822960" y="2542032"/>
            <a:ext cx="10607040" cy="0"/>
          </a:xfrm>
          <a:prstGeom prst="line">
            <a:avLst/>
          </a:prstGeom>
          <a:noFill/>
          <a:ln w="15875">
            <a:solidFill>
              <a:srgbClr val="1A1A1A"/>
            </a:solidFill>
            <a:prstDash val="solid"/>
          </a:ln>
        </p:spPr>
        <p:txBody>
          <a:bodyPr/>
          <a:lstStyle/>
          <a:p>
            <a:endParaRPr lang="en-GB"/>
          </a:p>
        </p:txBody>
      </p:sp>
      <p:sp>
        <p:nvSpPr>
          <p:cNvPr id="9" name="Text 7"/>
          <p:cNvSpPr/>
          <p:nvPr/>
        </p:nvSpPr>
        <p:spPr>
          <a:xfrm>
            <a:off x="822960" y="3054096"/>
            <a:ext cx="5486400" cy="402336"/>
          </a:xfrm>
          <a:prstGeom prst="rect">
            <a:avLst/>
          </a:prstGeom>
          <a:noFill/>
          <a:ln/>
        </p:spPr>
        <p:txBody>
          <a:bodyPr wrap="square" lIns="0" tIns="0" rIns="0" bIns="0" rtlCol="0" anchor="ctr"/>
          <a:lstStyle/>
          <a:p>
            <a:pPr marL="0" indent="0">
              <a:buNone/>
            </a:pPr>
            <a:r>
              <a:rPr lang="en-US" sz="1900" dirty="0">
                <a:solidFill>
                  <a:srgbClr val="1A1A1A"/>
                </a:solidFill>
                <a:latin typeface="Calibri" pitchFamily="34" charset="0"/>
                <a:ea typeface="Calibri" pitchFamily="34" charset="-122"/>
                <a:cs typeface="Calibri" pitchFamily="34" charset="-120"/>
              </a:rPr>
              <a:t>The right to challenge a decision</a:t>
            </a:r>
            <a:endParaRPr lang="en-US" sz="1900" dirty="0"/>
          </a:p>
        </p:txBody>
      </p:sp>
      <p:sp>
        <p:nvSpPr>
          <p:cNvPr id="10" name="Text 8"/>
          <p:cNvSpPr/>
          <p:nvPr/>
        </p:nvSpPr>
        <p:spPr>
          <a:xfrm>
            <a:off x="6537960" y="3035808"/>
            <a:ext cx="2194560" cy="420624"/>
          </a:xfrm>
          <a:prstGeom prst="rect">
            <a:avLst/>
          </a:prstGeom>
          <a:noFill/>
          <a:ln/>
        </p:spPr>
        <p:txBody>
          <a:bodyPr wrap="square" lIns="0" tIns="0" rIns="0" bIns="0" rtlCol="0" anchor="ctr"/>
          <a:lstStyle/>
          <a:p>
            <a:pPr marL="0" indent="0" algn="ctr">
              <a:buNone/>
            </a:pPr>
            <a:r>
              <a:rPr lang="en-US" sz="2100" b="1" dirty="0">
                <a:solidFill>
                  <a:srgbClr val="9D0208"/>
                </a:solidFill>
                <a:latin typeface="Calibri" pitchFamily="34" charset="0"/>
                <a:ea typeface="Calibri" pitchFamily="34" charset="-122"/>
                <a:cs typeface="Calibri" pitchFamily="34" charset="-120"/>
              </a:rPr>
              <a:t>Absent</a:t>
            </a:r>
            <a:endParaRPr lang="en-US" sz="2100" dirty="0"/>
          </a:p>
        </p:txBody>
      </p:sp>
      <p:sp>
        <p:nvSpPr>
          <p:cNvPr id="11" name="Text 9"/>
          <p:cNvSpPr/>
          <p:nvPr/>
        </p:nvSpPr>
        <p:spPr>
          <a:xfrm>
            <a:off x="9098280" y="2907792"/>
            <a:ext cx="2331720" cy="603504"/>
          </a:xfrm>
          <a:prstGeom prst="rect">
            <a:avLst/>
          </a:prstGeom>
          <a:noFill/>
          <a:ln/>
        </p:spPr>
        <p:txBody>
          <a:bodyPr wrap="square" lIns="0" tIns="0" rIns="0" bIns="0" rtlCol="0" anchor="ctr"/>
          <a:lstStyle/>
          <a:p>
            <a:pPr marL="0" indent="0" algn="ctr">
              <a:buNone/>
            </a:pPr>
            <a:r>
              <a:rPr lang="en-US" sz="4000" b="1" dirty="0">
                <a:solidFill>
                  <a:srgbClr val="7B2D4E"/>
                </a:solidFill>
                <a:latin typeface="Calibri" pitchFamily="34" charset="0"/>
                <a:ea typeface="Calibri" pitchFamily="34" charset="-122"/>
                <a:cs typeface="Calibri" pitchFamily="34" charset="-120"/>
              </a:rPr>
              <a:t>93%</a:t>
            </a:r>
            <a:endParaRPr lang="en-US" sz="4000" dirty="0"/>
          </a:p>
        </p:txBody>
      </p:sp>
      <p:sp>
        <p:nvSpPr>
          <p:cNvPr id="12" name="Text 10"/>
          <p:cNvSpPr/>
          <p:nvPr/>
        </p:nvSpPr>
        <p:spPr>
          <a:xfrm>
            <a:off x="9098280" y="3493008"/>
            <a:ext cx="2331720" cy="237744"/>
          </a:xfrm>
          <a:prstGeom prst="rect">
            <a:avLst/>
          </a:prstGeom>
          <a:noFill/>
          <a:ln/>
        </p:spPr>
        <p:txBody>
          <a:bodyPr wrap="square" lIns="0" tIns="0" rIns="0" bIns="0" rtlCol="0" anchor="ctr"/>
          <a:lstStyle/>
          <a:p>
            <a:pPr marL="0" indent="0" algn="ctr">
              <a:buNone/>
            </a:pPr>
            <a:r>
              <a:rPr lang="en-US" sz="1150" dirty="0">
                <a:solidFill>
                  <a:srgbClr val="6B6367"/>
                </a:solidFill>
                <a:latin typeface="Calibri" pitchFamily="34" charset="0"/>
                <a:ea typeface="Calibri" pitchFamily="34" charset="-122"/>
                <a:cs typeface="Calibri" pitchFamily="34" charset="-120"/>
              </a:rPr>
              <a:t>want this</a:t>
            </a:r>
            <a:endParaRPr lang="en-US" sz="1150" dirty="0"/>
          </a:p>
        </p:txBody>
      </p:sp>
      <p:sp>
        <p:nvSpPr>
          <p:cNvPr id="13" name="Shape 11"/>
          <p:cNvSpPr/>
          <p:nvPr/>
        </p:nvSpPr>
        <p:spPr>
          <a:xfrm>
            <a:off x="822960" y="3840480"/>
            <a:ext cx="10607040" cy="0"/>
          </a:xfrm>
          <a:prstGeom prst="line">
            <a:avLst/>
          </a:prstGeom>
          <a:noFill/>
          <a:ln w="12700">
            <a:solidFill>
              <a:srgbClr val="E4D8DD"/>
            </a:solidFill>
            <a:prstDash val="solid"/>
          </a:ln>
        </p:spPr>
        <p:txBody>
          <a:bodyPr/>
          <a:lstStyle/>
          <a:p>
            <a:endParaRPr lang="en-GB"/>
          </a:p>
        </p:txBody>
      </p:sp>
      <p:sp>
        <p:nvSpPr>
          <p:cNvPr id="14" name="Text 12"/>
          <p:cNvSpPr/>
          <p:nvPr/>
        </p:nvSpPr>
        <p:spPr>
          <a:xfrm>
            <a:off x="822960" y="4224528"/>
            <a:ext cx="5486400" cy="402336"/>
          </a:xfrm>
          <a:prstGeom prst="rect">
            <a:avLst/>
          </a:prstGeom>
          <a:noFill/>
          <a:ln/>
        </p:spPr>
        <p:txBody>
          <a:bodyPr wrap="square" lIns="0" tIns="0" rIns="0" bIns="0" rtlCol="0" anchor="ctr"/>
          <a:lstStyle/>
          <a:p>
            <a:pPr marL="0" indent="0">
              <a:buNone/>
            </a:pPr>
            <a:r>
              <a:rPr lang="en-US" sz="1900" dirty="0">
                <a:solidFill>
                  <a:srgbClr val="1A1A1A"/>
                </a:solidFill>
                <a:latin typeface="Calibri" pitchFamily="34" charset="0"/>
                <a:ea typeface="Calibri" pitchFamily="34" charset="-122"/>
                <a:cs typeface="Calibri" pitchFamily="34" charset="-120"/>
              </a:rPr>
              <a:t>A human doctor involved in the decision</a:t>
            </a:r>
            <a:endParaRPr lang="en-US" sz="1900" dirty="0"/>
          </a:p>
        </p:txBody>
      </p:sp>
      <p:sp>
        <p:nvSpPr>
          <p:cNvPr id="15" name="Text 13"/>
          <p:cNvSpPr/>
          <p:nvPr/>
        </p:nvSpPr>
        <p:spPr>
          <a:xfrm>
            <a:off x="6537960" y="4206240"/>
            <a:ext cx="2194560" cy="420624"/>
          </a:xfrm>
          <a:prstGeom prst="rect">
            <a:avLst/>
          </a:prstGeom>
          <a:noFill/>
          <a:ln/>
        </p:spPr>
        <p:txBody>
          <a:bodyPr wrap="square" lIns="0" tIns="0" rIns="0" bIns="0" rtlCol="0" anchor="ctr"/>
          <a:lstStyle/>
          <a:p>
            <a:pPr marL="0" indent="0" algn="ctr">
              <a:buNone/>
            </a:pPr>
            <a:r>
              <a:rPr lang="en-US" sz="2100" b="1" dirty="0">
                <a:solidFill>
                  <a:srgbClr val="9D0208"/>
                </a:solidFill>
                <a:latin typeface="Calibri" pitchFamily="34" charset="0"/>
                <a:ea typeface="Calibri" pitchFamily="34" charset="-122"/>
                <a:cs typeface="Calibri" pitchFamily="34" charset="-120"/>
              </a:rPr>
              <a:t>Absent</a:t>
            </a:r>
            <a:endParaRPr lang="en-US" sz="2100" dirty="0"/>
          </a:p>
        </p:txBody>
      </p:sp>
      <p:sp>
        <p:nvSpPr>
          <p:cNvPr id="16" name="Text 14"/>
          <p:cNvSpPr/>
          <p:nvPr/>
        </p:nvSpPr>
        <p:spPr>
          <a:xfrm>
            <a:off x="9098280" y="4078224"/>
            <a:ext cx="2331720" cy="603504"/>
          </a:xfrm>
          <a:prstGeom prst="rect">
            <a:avLst/>
          </a:prstGeom>
          <a:noFill/>
          <a:ln/>
        </p:spPr>
        <p:txBody>
          <a:bodyPr wrap="square" lIns="0" tIns="0" rIns="0" bIns="0" rtlCol="0" anchor="ctr"/>
          <a:lstStyle/>
          <a:p>
            <a:pPr marL="0" indent="0" algn="ctr">
              <a:buNone/>
            </a:pPr>
            <a:r>
              <a:rPr lang="en-US" sz="4000" b="1" dirty="0">
                <a:solidFill>
                  <a:srgbClr val="7B2D4E"/>
                </a:solidFill>
                <a:latin typeface="Calibri" pitchFamily="34" charset="0"/>
                <a:ea typeface="Calibri" pitchFamily="34" charset="-122"/>
                <a:cs typeface="Calibri" pitchFamily="34" charset="-120"/>
              </a:rPr>
              <a:t>92%</a:t>
            </a:r>
            <a:endParaRPr lang="en-US" sz="4000" dirty="0"/>
          </a:p>
        </p:txBody>
      </p:sp>
      <p:sp>
        <p:nvSpPr>
          <p:cNvPr id="17" name="Text 15"/>
          <p:cNvSpPr/>
          <p:nvPr/>
        </p:nvSpPr>
        <p:spPr>
          <a:xfrm>
            <a:off x="9098280" y="4663440"/>
            <a:ext cx="2331720" cy="237744"/>
          </a:xfrm>
          <a:prstGeom prst="rect">
            <a:avLst/>
          </a:prstGeom>
          <a:noFill/>
          <a:ln/>
        </p:spPr>
        <p:txBody>
          <a:bodyPr wrap="square" lIns="0" tIns="0" rIns="0" bIns="0" rtlCol="0" anchor="ctr"/>
          <a:lstStyle/>
          <a:p>
            <a:pPr marL="0" indent="0" algn="ctr">
              <a:buNone/>
            </a:pPr>
            <a:r>
              <a:rPr lang="en-US" sz="1150" dirty="0">
                <a:solidFill>
                  <a:srgbClr val="6B6367"/>
                </a:solidFill>
                <a:latin typeface="Calibri" pitchFamily="34" charset="0"/>
                <a:ea typeface="Calibri" pitchFamily="34" charset="-122"/>
                <a:cs typeface="Calibri" pitchFamily="34" charset="-120"/>
              </a:rPr>
              <a:t>want this</a:t>
            </a:r>
            <a:endParaRPr lang="en-US" sz="1150" dirty="0"/>
          </a:p>
        </p:txBody>
      </p:sp>
      <p:sp>
        <p:nvSpPr>
          <p:cNvPr id="18" name="Shape 16"/>
          <p:cNvSpPr/>
          <p:nvPr/>
        </p:nvSpPr>
        <p:spPr>
          <a:xfrm>
            <a:off x="822960" y="5010912"/>
            <a:ext cx="10607040" cy="0"/>
          </a:xfrm>
          <a:prstGeom prst="line">
            <a:avLst/>
          </a:prstGeom>
          <a:noFill/>
          <a:ln w="12700">
            <a:solidFill>
              <a:srgbClr val="E4D8DD"/>
            </a:solidFill>
            <a:prstDash val="solid"/>
          </a:ln>
        </p:spPr>
        <p:txBody>
          <a:bodyPr/>
          <a:lstStyle/>
          <a:p>
            <a:endParaRPr lang="en-GB"/>
          </a:p>
        </p:txBody>
      </p:sp>
      <p:sp>
        <p:nvSpPr>
          <p:cNvPr id="19" name="Text 17"/>
          <p:cNvSpPr/>
          <p:nvPr/>
        </p:nvSpPr>
        <p:spPr>
          <a:xfrm>
            <a:off x="822960" y="5358384"/>
            <a:ext cx="10607040" cy="365760"/>
          </a:xfrm>
          <a:prstGeom prst="rect">
            <a:avLst/>
          </a:prstGeom>
          <a:noFill/>
          <a:ln/>
        </p:spPr>
        <p:txBody>
          <a:bodyPr wrap="square" lIns="0" tIns="0" rIns="0" bIns="0" rtlCol="0" anchor="ctr"/>
          <a:lstStyle/>
          <a:p>
            <a:pPr marL="0" indent="0">
              <a:buNone/>
            </a:pPr>
            <a:r>
              <a:rPr lang="en-US" sz="2000" b="1" dirty="0">
                <a:solidFill>
                  <a:srgbClr val="7B2D4E"/>
                </a:solidFill>
                <a:latin typeface="Bookman Old Style" pitchFamily="34" charset="0"/>
                <a:ea typeface="Bookman Old Style" pitchFamily="34" charset="-122"/>
                <a:cs typeface="Bookman Old Style" pitchFamily="34" charset="-120"/>
              </a:rPr>
              <a:t>Two independent sources point at the same gap.</a:t>
            </a:r>
            <a:endParaRPr lang="en-US" sz="2000" dirty="0"/>
          </a:p>
        </p:txBody>
      </p:sp>
      <p:sp>
        <p:nvSpPr>
          <p:cNvPr id="20" name="Text 18"/>
          <p:cNvSpPr/>
          <p:nvPr/>
        </p:nvSpPr>
        <p:spPr>
          <a:xfrm>
            <a:off x="822960" y="5724144"/>
            <a:ext cx="10607040" cy="274320"/>
          </a:xfrm>
          <a:prstGeom prst="rect">
            <a:avLst/>
          </a:prstGeom>
          <a:noFill/>
          <a:ln/>
        </p:spPr>
        <p:txBody>
          <a:bodyPr wrap="square" lIns="0" tIns="0" rIns="0" bIns="0" rtlCol="0" anchor="ctr"/>
          <a:lstStyle/>
          <a:p>
            <a:pPr marL="0" indent="0">
              <a:buNone/>
            </a:pPr>
            <a:r>
              <a:rPr lang="en-US" sz="1250" dirty="0">
                <a:solidFill>
                  <a:srgbClr val="6B6367"/>
                </a:solidFill>
                <a:latin typeface="Calibri" pitchFamily="34" charset="0"/>
                <a:ea typeface="Calibri" pitchFamily="34" charset="-122"/>
                <a:cs typeface="Calibri" pitchFamily="34" charset="-120"/>
              </a:rPr>
              <a:t>Both mechanisms sit inside Leventhal's correctability rule; a sociotechnical criterion mitigation left unresolved.</a:t>
            </a:r>
            <a:endParaRPr lang="en-US" sz="1250" dirty="0"/>
          </a:p>
        </p:txBody>
      </p:sp>
      <p:sp>
        <p:nvSpPr>
          <p:cNvPr id="21" name="Text 19"/>
          <p:cNvSpPr/>
          <p:nvPr/>
        </p:nvSpPr>
        <p:spPr>
          <a:xfrm>
            <a:off x="822960" y="6327648"/>
            <a:ext cx="4572000" cy="256032"/>
          </a:xfrm>
          <a:prstGeom prst="rect">
            <a:avLst/>
          </a:prstGeom>
          <a:noFill/>
          <a:ln/>
        </p:spPr>
        <p:txBody>
          <a:bodyPr wrap="square" lIns="0" tIns="0" rIns="0" bIns="0" rtlCol="0" anchor="ctr"/>
          <a:lstStyle/>
          <a:p>
            <a:pPr marL="0" indent="0">
              <a:buNone/>
            </a:pPr>
            <a:r>
              <a:rPr lang="en-US" sz="1000" dirty="0">
                <a:solidFill>
                  <a:srgbClr val="A9A0A3"/>
                </a:solidFill>
                <a:latin typeface="Calibri" pitchFamily="34" charset="0"/>
                <a:ea typeface="Calibri" pitchFamily="34" charset="-122"/>
                <a:cs typeface="Calibri" pitchFamily="34" charset="-120"/>
              </a:rPr>
              <a:t>Procedural Fairness in Healthcare AI</a:t>
            </a:r>
            <a:endParaRPr lang="en-US" sz="1000" dirty="0"/>
          </a:p>
        </p:txBody>
      </p:sp>
      <p:sp>
        <p:nvSpPr>
          <p:cNvPr id="22" name="Text 20"/>
          <p:cNvSpPr/>
          <p:nvPr/>
        </p:nvSpPr>
        <p:spPr>
          <a:xfrm>
            <a:off x="10881360" y="6327648"/>
            <a:ext cx="548640" cy="256032"/>
          </a:xfrm>
          <a:prstGeom prst="rect">
            <a:avLst/>
          </a:prstGeom>
          <a:noFill/>
          <a:ln/>
        </p:spPr>
        <p:txBody>
          <a:bodyPr wrap="square" lIns="0" tIns="0" rIns="0" bIns="0" rtlCol="0" anchor="ctr"/>
          <a:lstStyle/>
          <a:p>
            <a:pPr marL="0" indent="0" algn="r">
              <a:buNone/>
            </a:pPr>
            <a:r>
              <a:rPr lang="en-US" sz="1000" dirty="0">
                <a:solidFill>
                  <a:srgbClr val="A9A0A3"/>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DF8F9"/>
        </a:solidFill>
        <a:effectLst/>
      </p:bgPr>
    </p:bg>
    <p:spTree>
      <p:nvGrpSpPr>
        <p:cNvPr id="1" name=""/>
        <p:cNvGrpSpPr/>
        <p:nvPr/>
      </p:nvGrpSpPr>
      <p:grpSpPr>
        <a:xfrm>
          <a:off x="0" y="0"/>
          <a:ext cx="0" cy="0"/>
          <a:chOff x="0" y="0"/>
          <a:chExt cx="0" cy="0"/>
        </a:xfrm>
      </p:grpSpPr>
      <p:sp>
        <p:nvSpPr>
          <p:cNvPr id="2" name="TextBox 1"/>
          <p:cNvSpPr txBox="1"/>
          <p:nvPr/>
        </p:nvSpPr>
        <p:spPr>
          <a:xfrm>
            <a:off x="685800" y="384048"/>
            <a:ext cx="9144000" cy="320040"/>
          </a:xfrm>
          <a:prstGeom prst="rect">
            <a:avLst/>
          </a:prstGeom>
          <a:noFill/>
        </p:spPr>
        <p:txBody>
          <a:bodyPr wrap="square" lIns="0" tIns="0" rIns="0" bIns="0" anchor="t">
            <a:spAutoFit/>
          </a:bodyPr>
          <a:lstStyle/>
          <a:p>
            <a:pPr algn="l">
              <a:lnSpc>
                <a:spcPct val="100000"/>
              </a:lnSpc>
            </a:pPr>
            <a:r>
              <a:rPr sz="1300" b="1" i="0">
                <a:solidFill>
                  <a:srgbClr val="C9748F"/>
                </a:solidFill>
                <a:latin typeface="Calibri"/>
              </a:rPr>
              <a:t>LIMITATIONS</a:t>
            </a:r>
          </a:p>
        </p:txBody>
      </p:sp>
      <p:sp>
        <p:nvSpPr>
          <p:cNvPr id="3" name="TextBox 2"/>
          <p:cNvSpPr txBox="1"/>
          <p:nvPr/>
        </p:nvSpPr>
        <p:spPr>
          <a:xfrm>
            <a:off x="685800" y="658368"/>
            <a:ext cx="10789920" cy="442237"/>
          </a:xfrm>
          <a:prstGeom prst="rect">
            <a:avLst/>
          </a:prstGeom>
          <a:noFill/>
        </p:spPr>
        <p:txBody>
          <a:bodyPr wrap="square" lIns="0" tIns="0" rIns="0" bIns="0" anchor="t">
            <a:spAutoFit/>
          </a:bodyPr>
          <a:lstStyle/>
          <a:p>
            <a:pPr algn="l">
              <a:lnSpc>
                <a:spcPct val="102000"/>
              </a:lnSpc>
            </a:pPr>
            <a:r>
              <a:rPr lang="en-GB" sz="3000" b="1" i="0" dirty="0">
                <a:solidFill>
                  <a:srgbClr val="1A1A1A"/>
                </a:solidFill>
                <a:latin typeface="Georgia"/>
              </a:rPr>
              <a:t>Understanding the Limits of This Study </a:t>
            </a:r>
            <a:endParaRPr sz="3000" b="1" i="0" dirty="0">
              <a:solidFill>
                <a:srgbClr val="1A1A1A"/>
              </a:solidFill>
              <a:latin typeface="Georgia"/>
            </a:endParaRPr>
          </a:p>
        </p:txBody>
      </p:sp>
      <p:sp>
        <p:nvSpPr>
          <p:cNvPr id="4" name="Rounded Rectangle 3"/>
          <p:cNvSpPr/>
          <p:nvPr/>
        </p:nvSpPr>
        <p:spPr>
          <a:xfrm>
            <a:off x="685800" y="1691640"/>
            <a:ext cx="5166360" cy="178308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691640"/>
            <a:ext cx="64008" cy="1783080"/>
          </a:xfrm>
          <a:prstGeom prst="rect">
            <a:avLst/>
          </a:prstGeom>
          <a:solidFill>
            <a:srgbClr val="C97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1947672"/>
            <a:ext cx="4526280" cy="548640"/>
          </a:xfrm>
          <a:prstGeom prst="rect">
            <a:avLst/>
          </a:prstGeom>
          <a:noFill/>
        </p:spPr>
        <p:txBody>
          <a:bodyPr wrap="square" lIns="0" tIns="0" rIns="0" bIns="0" anchor="t">
            <a:spAutoFit/>
          </a:bodyPr>
          <a:lstStyle/>
          <a:p>
            <a:pPr algn="l">
              <a:lnSpc>
                <a:spcPct val="100000"/>
              </a:lnSpc>
            </a:pPr>
            <a:r>
              <a:rPr sz="1550" b="1" i="0">
                <a:solidFill>
                  <a:srgbClr val="1A1A1A"/>
                </a:solidFill>
                <a:latin typeface="Calibri"/>
              </a:rPr>
              <a:t>Small subgroups</a:t>
            </a:r>
          </a:p>
        </p:txBody>
      </p:sp>
      <p:sp>
        <p:nvSpPr>
          <p:cNvPr id="7" name="TextBox 6"/>
          <p:cNvSpPr txBox="1"/>
          <p:nvPr/>
        </p:nvSpPr>
        <p:spPr>
          <a:xfrm>
            <a:off x="1005840" y="2496312"/>
            <a:ext cx="4526280" cy="730008"/>
          </a:xfrm>
          <a:prstGeom prst="rect">
            <a:avLst/>
          </a:prstGeom>
          <a:noFill/>
        </p:spPr>
        <p:txBody>
          <a:bodyPr wrap="square" lIns="0" tIns="0" rIns="0" bIns="0" anchor="t">
            <a:spAutoFit/>
          </a:bodyPr>
          <a:lstStyle/>
          <a:p>
            <a:pPr>
              <a:lnSpc>
                <a:spcPct val="130000"/>
              </a:lnSpc>
            </a:pPr>
            <a:r>
              <a:rPr lang="en-GB" sz="125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Only 10 female patients in the test set had heart disease, meaning fairness metrics for women were based on very few cases and should be interpreted with caution.</a:t>
            </a:r>
            <a:endParaRPr sz="1250" b="0" i="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8" name="Rounded Rectangle 7"/>
          <p:cNvSpPr/>
          <p:nvPr/>
        </p:nvSpPr>
        <p:spPr>
          <a:xfrm>
            <a:off x="6309360" y="1691640"/>
            <a:ext cx="5166360" cy="178308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309360" y="1691640"/>
            <a:ext cx="64008" cy="1783080"/>
          </a:xfrm>
          <a:prstGeom prst="rect">
            <a:avLst/>
          </a:prstGeom>
          <a:solidFill>
            <a:srgbClr val="C97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629400" y="1947672"/>
            <a:ext cx="4526280" cy="238527"/>
          </a:xfrm>
          <a:prstGeom prst="rect">
            <a:avLst/>
          </a:prstGeom>
          <a:noFill/>
        </p:spPr>
        <p:txBody>
          <a:bodyPr wrap="square" lIns="0" tIns="0" rIns="0" bIns="0" anchor="t">
            <a:spAutoFit/>
          </a:bodyPr>
          <a:lstStyle/>
          <a:p>
            <a:pPr algn="l">
              <a:lnSpc>
                <a:spcPct val="100000"/>
              </a:lnSpc>
            </a:pPr>
            <a:r>
              <a:rPr lang="en-GB" sz="1550" b="1" dirty="0">
                <a:solidFill>
                  <a:srgbClr val="1A1A1A"/>
                </a:solidFill>
                <a:latin typeface="Calibri"/>
              </a:rPr>
              <a:t>Researcher-defined thresholds </a:t>
            </a:r>
            <a:endParaRPr sz="1550" b="1" i="0" dirty="0">
              <a:solidFill>
                <a:srgbClr val="1A1A1A"/>
              </a:solidFill>
              <a:latin typeface="Calibri"/>
            </a:endParaRPr>
          </a:p>
        </p:txBody>
      </p:sp>
      <p:sp>
        <p:nvSpPr>
          <p:cNvPr id="11" name="TextBox 10"/>
          <p:cNvSpPr txBox="1"/>
          <p:nvPr/>
        </p:nvSpPr>
        <p:spPr>
          <a:xfrm>
            <a:off x="6629400" y="2496312"/>
            <a:ext cx="4526280" cy="479940"/>
          </a:xfrm>
          <a:prstGeom prst="rect">
            <a:avLst/>
          </a:prstGeom>
          <a:noFill/>
        </p:spPr>
        <p:txBody>
          <a:bodyPr wrap="square" lIns="0" tIns="0" rIns="0" bIns="0" anchor="t">
            <a:spAutoFit/>
          </a:bodyPr>
          <a:lstStyle/>
          <a:p>
            <a:pPr algn="l">
              <a:lnSpc>
                <a:spcPct val="130000"/>
              </a:lnSpc>
            </a:pPr>
            <a:r>
              <a:rPr lang="en-GB" sz="1250" b="0" i="0" dirty="0">
                <a:solidFill>
                  <a:srgbClr val="666666"/>
                </a:solidFill>
                <a:latin typeface="Calibri"/>
              </a:rPr>
              <a:t>Every pass/fail line was set by the researcher, not by an external standard. Different thresholds would produce different verdicts.</a:t>
            </a:r>
            <a:endParaRPr sz="1250" b="0" i="0" dirty="0">
              <a:solidFill>
                <a:srgbClr val="666666"/>
              </a:solidFill>
              <a:latin typeface="Calibri"/>
            </a:endParaRPr>
          </a:p>
        </p:txBody>
      </p:sp>
      <p:sp>
        <p:nvSpPr>
          <p:cNvPr id="12" name="Rounded Rectangle 11"/>
          <p:cNvSpPr/>
          <p:nvPr/>
        </p:nvSpPr>
        <p:spPr>
          <a:xfrm>
            <a:off x="685800" y="3749039"/>
            <a:ext cx="5166360" cy="178308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85800" y="3749039"/>
            <a:ext cx="64008" cy="1783080"/>
          </a:xfrm>
          <a:prstGeom prst="rect">
            <a:avLst/>
          </a:prstGeom>
          <a:solidFill>
            <a:srgbClr val="C97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05840" y="4005072"/>
            <a:ext cx="4526280" cy="548640"/>
          </a:xfrm>
          <a:prstGeom prst="rect">
            <a:avLst/>
          </a:prstGeom>
          <a:noFill/>
        </p:spPr>
        <p:txBody>
          <a:bodyPr wrap="square" lIns="0" tIns="0" rIns="0" bIns="0" anchor="t">
            <a:spAutoFit/>
          </a:bodyPr>
          <a:lstStyle/>
          <a:p>
            <a:pPr algn="l">
              <a:lnSpc>
                <a:spcPct val="100000"/>
              </a:lnSpc>
            </a:pPr>
            <a:r>
              <a:rPr sz="1550" b="1" i="0" dirty="0">
                <a:solidFill>
                  <a:srgbClr val="1A1A1A"/>
                </a:solidFill>
                <a:latin typeface="Calibri"/>
              </a:rPr>
              <a:t>Survey sampling bias</a:t>
            </a:r>
          </a:p>
        </p:txBody>
      </p:sp>
      <p:sp>
        <p:nvSpPr>
          <p:cNvPr id="15" name="TextBox 14"/>
          <p:cNvSpPr txBox="1"/>
          <p:nvPr/>
        </p:nvSpPr>
        <p:spPr>
          <a:xfrm>
            <a:off x="1005840" y="4553712"/>
            <a:ext cx="4526280" cy="479940"/>
          </a:xfrm>
          <a:prstGeom prst="rect">
            <a:avLst/>
          </a:prstGeom>
          <a:noFill/>
        </p:spPr>
        <p:txBody>
          <a:bodyPr wrap="square" lIns="0" tIns="0" rIns="0" bIns="0" anchor="t">
            <a:spAutoFit/>
          </a:bodyPr>
          <a:lstStyle/>
          <a:p>
            <a:pPr algn="l">
              <a:lnSpc>
                <a:spcPct val="130000"/>
              </a:lnSpc>
            </a:pPr>
            <a:r>
              <a:rPr sz="1250" b="0" i="0" dirty="0">
                <a:solidFill>
                  <a:srgbClr val="666666"/>
                </a:solidFill>
                <a:latin typeface="Calibri" panose="020F0502020204030204" pitchFamily="34" charset="0"/>
                <a:ea typeface="Calibri" panose="020F0502020204030204" pitchFamily="34" charset="0"/>
                <a:cs typeface="Calibri" panose="020F0502020204030204" pitchFamily="34" charset="0"/>
              </a:rPr>
              <a:t>Convenience/snowball sample, skewed female </a:t>
            </a:r>
            <a:r>
              <a:rPr lang="en-GB" sz="1250" b="0" i="0" dirty="0">
                <a:solidFill>
                  <a:srgbClr val="666666"/>
                </a:solidFill>
                <a:latin typeface="Calibri" panose="020F0502020204030204" pitchFamily="34" charset="0"/>
                <a:ea typeface="Calibri" panose="020F0502020204030204" pitchFamily="34" charset="0"/>
                <a:cs typeface="Calibri" panose="020F0502020204030204" pitchFamily="34" charset="0"/>
              </a:rPr>
              <a:t>(67%) </a:t>
            </a:r>
            <a:r>
              <a:rPr sz="1250" b="0" i="0" dirty="0">
                <a:solidFill>
                  <a:srgbClr val="666666"/>
                </a:solidFill>
                <a:latin typeface="Calibri" panose="020F0502020204030204" pitchFamily="34" charset="0"/>
                <a:ea typeface="Calibri" panose="020F0502020204030204" pitchFamily="34" charset="0"/>
                <a:cs typeface="Calibri" panose="020F0502020204030204" pitchFamily="34" charset="0"/>
              </a:rPr>
              <a:t>and non-technical</a:t>
            </a:r>
            <a:r>
              <a:rPr lang="en-GB" sz="1250" b="0" i="0" dirty="0">
                <a:solidFill>
                  <a:srgbClr val="666666"/>
                </a:solidFill>
                <a:latin typeface="Calibri" panose="020F0502020204030204" pitchFamily="34" charset="0"/>
                <a:ea typeface="Calibri" panose="020F0502020204030204" pitchFamily="34" charset="0"/>
                <a:cs typeface="Calibri" panose="020F0502020204030204" pitchFamily="34" charset="0"/>
              </a:rPr>
              <a:t> (83%)</a:t>
            </a:r>
            <a:r>
              <a:rPr sz="1250" b="0" i="0" dirty="0">
                <a:solidFill>
                  <a:srgbClr val="666666"/>
                </a:solidFill>
                <a:latin typeface="Calibri" panose="020F0502020204030204" pitchFamily="34" charset="0"/>
                <a:ea typeface="Calibri" panose="020F0502020204030204" pitchFamily="34" charset="0"/>
                <a:cs typeface="Calibri" panose="020F0502020204030204" pitchFamily="34" charset="0"/>
              </a:rPr>
              <a:t>.</a:t>
            </a:r>
          </a:p>
        </p:txBody>
      </p:sp>
      <p:sp>
        <p:nvSpPr>
          <p:cNvPr id="16" name="Rounded Rectangle 15"/>
          <p:cNvSpPr/>
          <p:nvPr/>
        </p:nvSpPr>
        <p:spPr>
          <a:xfrm>
            <a:off x="6309360" y="3749039"/>
            <a:ext cx="5166360" cy="178308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309360" y="3749039"/>
            <a:ext cx="64008" cy="1783080"/>
          </a:xfrm>
          <a:prstGeom prst="rect">
            <a:avLst/>
          </a:prstGeom>
          <a:solidFill>
            <a:srgbClr val="C97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29400" y="4005072"/>
            <a:ext cx="4526280" cy="548640"/>
          </a:xfrm>
          <a:prstGeom prst="rect">
            <a:avLst/>
          </a:prstGeom>
          <a:noFill/>
        </p:spPr>
        <p:txBody>
          <a:bodyPr wrap="square" lIns="0" tIns="0" rIns="0" bIns="0" anchor="t">
            <a:spAutoFit/>
          </a:bodyPr>
          <a:lstStyle/>
          <a:p>
            <a:pPr algn="l">
              <a:lnSpc>
                <a:spcPct val="100000"/>
              </a:lnSpc>
            </a:pPr>
            <a:r>
              <a:rPr sz="1550" b="1" i="0">
                <a:solidFill>
                  <a:srgbClr val="1A1A1A"/>
                </a:solidFill>
                <a:latin typeface="Calibri"/>
              </a:rPr>
              <a:t>Correctability scoring</a:t>
            </a:r>
          </a:p>
        </p:txBody>
      </p:sp>
      <p:sp>
        <p:nvSpPr>
          <p:cNvPr id="19" name="TextBox 18"/>
          <p:cNvSpPr txBox="1"/>
          <p:nvPr/>
        </p:nvSpPr>
        <p:spPr>
          <a:xfrm>
            <a:off x="6629400" y="4553712"/>
            <a:ext cx="4526280" cy="914400"/>
          </a:xfrm>
          <a:prstGeom prst="rect">
            <a:avLst/>
          </a:prstGeom>
          <a:noFill/>
        </p:spPr>
        <p:txBody>
          <a:bodyPr wrap="square" lIns="0" tIns="0" rIns="0" bIns="0" anchor="t">
            <a:spAutoFit/>
          </a:bodyPr>
          <a:lstStyle/>
          <a:p>
            <a:pPr algn="l">
              <a:lnSpc>
                <a:spcPct val="130000"/>
              </a:lnSpc>
            </a:pPr>
            <a:r>
              <a:rPr sz="1250" b="0" i="0" dirty="0">
                <a:solidFill>
                  <a:srgbClr val="666666"/>
                </a:solidFill>
                <a:latin typeface="Calibri"/>
              </a:rPr>
              <a:t>The checklist total grew alongside the fix, complicating direct comparison.</a:t>
            </a:r>
          </a:p>
        </p:txBody>
      </p:sp>
      <p:sp>
        <p:nvSpPr>
          <p:cNvPr id="20" name="TextBox 19"/>
          <p:cNvSpPr txBox="1"/>
          <p:nvPr/>
        </p:nvSpPr>
        <p:spPr>
          <a:xfrm>
            <a:off x="685800" y="6510528"/>
            <a:ext cx="6400800" cy="274320"/>
          </a:xfrm>
          <a:prstGeom prst="rect">
            <a:avLst/>
          </a:prstGeom>
          <a:noFill/>
        </p:spPr>
        <p:txBody>
          <a:bodyPr wrap="square" lIns="0" tIns="0" rIns="0" bIns="0" anchor="t">
            <a:spAutoFit/>
          </a:bodyPr>
          <a:lstStyle/>
          <a:p>
            <a:pPr algn="l">
              <a:lnSpc>
                <a:spcPct val="100000"/>
              </a:lnSpc>
            </a:pPr>
            <a:r>
              <a:rPr sz="950" b="0" i="0">
                <a:solidFill>
                  <a:srgbClr val="999999"/>
                </a:solidFill>
                <a:latin typeface="Calibri"/>
              </a:rPr>
              <a:t>Procedural Fairness in Healthcare AI</a:t>
            </a:r>
          </a:p>
        </p:txBody>
      </p:sp>
      <p:sp>
        <p:nvSpPr>
          <p:cNvPr id="21" name="TextBox 20"/>
          <p:cNvSpPr txBox="1"/>
          <p:nvPr/>
        </p:nvSpPr>
        <p:spPr>
          <a:xfrm>
            <a:off x="11521440" y="6510528"/>
            <a:ext cx="457200" cy="274320"/>
          </a:xfrm>
          <a:prstGeom prst="rect">
            <a:avLst/>
          </a:prstGeom>
          <a:noFill/>
        </p:spPr>
        <p:txBody>
          <a:bodyPr wrap="square" lIns="0" tIns="0" rIns="0" bIns="0" anchor="t">
            <a:spAutoFit/>
          </a:bodyPr>
          <a:lstStyle/>
          <a:p>
            <a:pPr algn="r">
              <a:lnSpc>
                <a:spcPct val="100000"/>
              </a:lnSpc>
            </a:pPr>
            <a:r>
              <a:rPr sz="950" b="0" i="0">
                <a:solidFill>
                  <a:srgbClr val="999999"/>
                </a:solidFill>
                <a:latin typeface="Calibri"/>
              </a:rPr>
              <a:t>14</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DF8F9"/>
        </a:solidFill>
        <a:effectLst/>
      </p:bgPr>
    </p:bg>
    <p:spTree>
      <p:nvGrpSpPr>
        <p:cNvPr id="1" name=""/>
        <p:cNvGrpSpPr/>
        <p:nvPr/>
      </p:nvGrpSpPr>
      <p:grpSpPr>
        <a:xfrm>
          <a:off x="0" y="0"/>
          <a:ext cx="0" cy="0"/>
          <a:chOff x="0" y="0"/>
          <a:chExt cx="0" cy="0"/>
        </a:xfrm>
      </p:grpSpPr>
      <p:sp>
        <p:nvSpPr>
          <p:cNvPr id="10" name="Rounded Rectangle 9"/>
          <p:cNvSpPr/>
          <p:nvPr/>
        </p:nvSpPr>
        <p:spPr>
          <a:xfrm>
            <a:off x="685800" y="3273552"/>
            <a:ext cx="10789920" cy="123444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685800" y="384048"/>
            <a:ext cx="9144000" cy="320040"/>
          </a:xfrm>
          <a:prstGeom prst="rect">
            <a:avLst/>
          </a:prstGeom>
          <a:noFill/>
        </p:spPr>
        <p:txBody>
          <a:bodyPr wrap="square" lIns="0" tIns="0" rIns="0" bIns="0" anchor="t">
            <a:spAutoFit/>
          </a:bodyPr>
          <a:lstStyle/>
          <a:p>
            <a:pPr algn="l">
              <a:lnSpc>
                <a:spcPct val="100000"/>
              </a:lnSpc>
            </a:pPr>
            <a:r>
              <a:rPr sz="1300" b="1" i="0">
                <a:solidFill>
                  <a:srgbClr val="C9748F"/>
                </a:solidFill>
                <a:latin typeface="Calibri"/>
              </a:rPr>
              <a:t>RECOMMENDATIONS</a:t>
            </a:r>
          </a:p>
        </p:txBody>
      </p:sp>
      <p:sp>
        <p:nvSpPr>
          <p:cNvPr id="3" name="TextBox 2"/>
          <p:cNvSpPr txBox="1"/>
          <p:nvPr/>
        </p:nvSpPr>
        <p:spPr>
          <a:xfrm>
            <a:off x="685800" y="704088"/>
            <a:ext cx="10789920" cy="442237"/>
          </a:xfrm>
          <a:prstGeom prst="rect">
            <a:avLst/>
          </a:prstGeom>
          <a:noFill/>
        </p:spPr>
        <p:txBody>
          <a:bodyPr wrap="square" lIns="0" tIns="0" rIns="0" bIns="0" anchor="t">
            <a:spAutoFit/>
          </a:bodyPr>
          <a:lstStyle/>
          <a:p>
            <a:pPr algn="l">
              <a:lnSpc>
                <a:spcPct val="102000"/>
              </a:lnSpc>
            </a:pPr>
            <a:r>
              <a:rPr lang="en-GB" sz="3000" b="1" dirty="0">
                <a:solidFill>
                  <a:srgbClr val="1A1A1A"/>
                </a:solidFill>
                <a:latin typeface="Georgia"/>
              </a:rPr>
              <a:t>Three Priorities for Responsible Deployment</a:t>
            </a:r>
            <a:endParaRPr sz="3000" b="1" i="0" dirty="0">
              <a:solidFill>
                <a:srgbClr val="1A1A1A"/>
              </a:solidFill>
              <a:latin typeface="Georgia"/>
            </a:endParaRPr>
          </a:p>
        </p:txBody>
      </p:sp>
      <p:sp>
        <p:nvSpPr>
          <p:cNvPr id="4" name="Rounded Rectangle 3"/>
          <p:cNvSpPr/>
          <p:nvPr/>
        </p:nvSpPr>
        <p:spPr>
          <a:xfrm>
            <a:off x="685800" y="1783080"/>
            <a:ext cx="10789920" cy="123444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05840" y="2125980"/>
            <a:ext cx="548640" cy="548640"/>
          </a:xfrm>
          <a:prstGeom prst="ellipse">
            <a:avLst/>
          </a:prstGeom>
          <a:solidFill>
            <a:srgbClr val="C97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2180844"/>
            <a:ext cx="548640" cy="457200"/>
          </a:xfrm>
          <a:prstGeom prst="rect">
            <a:avLst/>
          </a:prstGeom>
          <a:noFill/>
        </p:spPr>
        <p:txBody>
          <a:bodyPr wrap="square" lIns="0" tIns="0" rIns="0" bIns="0" anchor="ctr">
            <a:spAutoFit/>
          </a:bodyPr>
          <a:lstStyle/>
          <a:p>
            <a:pPr algn="ctr">
              <a:lnSpc>
                <a:spcPct val="100000"/>
              </a:lnSpc>
            </a:pPr>
            <a:r>
              <a:rPr sz="1900" b="1" i="0">
                <a:solidFill>
                  <a:srgbClr val="FFFFFF"/>
                </a:solidFill>
                <a:latin typeface="Calibri"/>
              </a:rPr>
              <a:t>1</a:t>
            </a:r>
          </a:p>
        </p:txBody>
      </p:sp>
      <p:sp>
        <p:nvSpPr>
          <p:cNvPr id="7" name="TextBox 6"/>
          <p:cNvSpPr txBox="1"/>
          <p:nvPr/>
        </p:nvSpPr>
        <p:spPr>
          <a:xfrm>
            <a:off x="1919486" y="3446183"/>
            <a:ext cx="4297680" cy="822960"/>
          </a:xfrm>
          <a:prstGeom prst="rect">
            <a:avLst/>
          </a:prstGeom>
          <a:noFill/>
        </p:spPr>
        <p:txBody>
          <a:bodyPr wrap="square" lIns="0" tIns="0" rIns="0" bIns="0" anchor="ctr">
            <a:spAutoFit/>
          </a:bodyPr>
          <a:lstStyle/>
          <a:p>
            <a:pPr algn="l">
              <a:lnSpc>
                <a:spcPct val="115000"/>
              </a:lnSpc>
            </a:pPr>
            <a:r>
              <a:rPr sz="1550" b="1" i="0" dirty="0">
                <a:solidFill>
                  <a:srgbClr val="1A1A1A"/>
                </a:solidFill>
                <a:latin typeface="Calibri"/>
              </a:rPr>
              <a:t>Collect more representative clinical data</a:t>
            </a:r>
          </a:p>
        </p:txBody>
      </p:sp>
      <p:cxnSp>
        <p:nvCxnSpPr>
          <p:cNvPr id="8" name="Connector 7"/>
          <p:cNvCxnSpPr/>
          <p:nvPr/>
        </p:nvCxnSpPr>
        <p:spPr>
          <a:xfrm>
            <a:off x="6355080" y="1984248"/>
            <a:ext cx="0" cy="832104"/>
          </a:xfrm>
          <a:prstGeom prst="line">
            <a:avLst/>
          </a:prstGeom>
          <a:ln w="12700">
            <a:solidFill>
              <a:srgbClr val="F0D9D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675120" y="3573815"/>
            <a:ext cx="4617720" cy="700833"/>
          </a:xfrm>
          <a:prstGeom prst="rect">
            <a:avLst/>
          </a:prstGeom>
          <a:noFill/>
        </p:spPr>
        <p:txBody>
          <a:bodyPr wrap="square" lIns="0" tIns="0" rIns="0" bIns="0" anchor="ctr">
            <a:spAutoFit/>
          </a:bodyPr>
          <a:lstStyle/>
          <a:p>
            <a:pPr>
              <a:lnSpc>
                <a:spcPct val="130000"/>
              </a:lnSpc>
            </a:pPr>
            <a:r>
              <a:rPr lang="en-GB" sz="1200" i="1" dirty="0">
                <a:solidFill>
                  <a:schemeClr val="tx1">
                    <a:lumMod val="65000"/>
                    <a:lumOff val="35000"/>
                  </a:schemeClr>
                </a:solidFill>
              </a:rPr>
              <a:t>Addresses: Representativeness, Bias Suppression</a:t>
            </a:r>
            <a:br>
              <a:rPr lang="en-GB" sz="1200" dirty="0">
                <a:solidFill>
                  <a:schemeClr val="tx1">
                    <a:lumMod val="65000"/>
                    <a:lumOff val="35000"/>
                  </a:schemeClr>
                </a:solidFill>
              </a:rPr>
            </a:br>
            <a:r>
              <a:rPr lang="en-GB" sz="1200" dirty="0">
                <a:solidFill>
                  <a:schemeClr val="tx1">
                    <a:lumMod val="65000"/>
                    <a:lumOff val="35000"/>
                  </a:schemeClr>
                </a:solidFill>
              </a:rPr>
              <a:t>21% female against 33% real-world CHD prevalence; n=39 limits subgroup precision.</a:t>
            </a:r>
            <a:endParaRPr sz="1200" b="0" i="0" dirty="0">
              <a:solidFill>
                <a:schemeClr val="tx1">
                  <a:lumMod val="65000"/>
                  <a:lumOff val="35000"/>
                </a:schemeClr>
              </a:solidFill>
              <a:latin typeface="Calibri"/>
            </a:endParaRPr>
          </a:p>
        </p:txBody>
      </p:sp>
      <p:sp>
        <p:nvSpPr>
          <p:cNvPr id="11" name="Oval 10"/>
          <p:cNvSpPr/>
          <p:nvPr/>
        </p:nvSpPr>
        <p:spPr>
          <a:xfrm>
            <a:off x="1005840" y="3616452"/>
            <a:ext cx="548640" cy="548640"/>
          </a:xfrm>
          <a:prstGeom prst="ellipse">
            <a:avLst/>
          </a:prstGeom>
          <a:solidFill>
            <a:srgbClr val="C97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3671315"/>
            <a:ext cx="548640" cy="457200"/>
          </a:xfrm>
          <a:prstGeom prst="rect">
            <a:avLst/>
          </a:prstGeom>
          <a:noFill/>
        </p:spPr>
        <p:txBody>
          <a:bodyPr wrap="square" lIns="0" tIns="0" rIns="0" bIns="0" anchor="ctr">
            <a:spAutoFit/>
          </a:bodyPr>
          <a:lstStyle/>
          <a:p>
            <a:pPr algn="ctr">
              <a:lnSpc>
                <a:spcPct val="100000"/>
              </a:lnSpc>
            </a:pPr>
            <a:r>
              <a:rPr sz="1900" b="1" i="0">
                <a:solidFill>
                  <a:srgbClr val="FFFFFF"/>
                </a:solidFill>
                <a:latin typeface="Calibri"/>
              </a:rPr>
              <a:t>2</a:t>
            </a:r>
          </a:p>
        </p:txBody>
      </p:sp>
      <p:sp>
        <p:nvSpPr>
          <p:cNvPr id="13" name="TextBox 12"/>
          <p:cNvSpPr txBox="1"/>
          <p:nvPr/>
        </p:nvSpPr>
        <p:spPr>
          <a:xfrm>
            <a:off x="1851660" y="1947672"/>
            <a:ext cx="4297680" cy="822960"/>
          </a:xfrm>
          <a:prstGeom prst="rect">
            <a:avLst/>
          </a:prstGeom>
          <a:noFill/>
        </p:spPr>
        <p:txBody>
          <a:bodyPr wrap="square" lIns="0" tIns="0" rIns="0" bIns="0" anchor="ctr">
            <a:spAutoFit/>
          </a:bodyPr>
          <a:lstStyle/>
          <a:p>
            <a:pPr algn="l">
              <a:lnSpc>
                <a:spcPct val="115000"/>
              </a:lnSpc>
            </a:pPr>
            <a:r>
              <a:rPr sz="1550" b="1" i="0">
                <a:solidFill>
                  <a:srgbClr val="1A1A1A"/>
                </a:solidFill>
                <a:latin typeface="Calibri"/>
              </a:rPr>
              <a:t>Build correctability infrastructure</a:t>
            </a:r>
          </a:p>
        </p:txBody>
      </p:sp>
      <p:cxnSp>
        <p:nvCxnSpPr>
          <p:cNvPr id="14" name="Connector 13"/>
          <p:cNvCxnSpPr/>
          <p:nvPr/>
        </p:nvCxnSpPr>
        <p:spPr>
          <a:xfrm>
            <a:off x="6355080" y="3474720"/>
            <a:ext cx="0" cy="832104"/>
          </a:xfrm>
          <a:prstGeom prst="line">
            <a:avLst/>
          </a:prstGeom>
          <a:ln w="12700">
            <a:solidFill>
              <a:srgbClr val="F0D9DF"/>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775603" y="2014571"/>
            <a:ext cx="4617720" cy="700833"/>
          </a:xfrm>
          <a:prstGeom prst="rect">
            <a:avLst/>
          </a:prstGeom>
          <a:noFill/>
        </p:spPr>
        <p:txBody>
          <a:bodyPr wrap="square" lIns="0" tIns="0" rIns="0" bIns="0" anchor="ctr">
            <a:spAutoFit/>
          </a:bodyPr>
          <a:lstStyle/>
          <a:p>
            <a:pPr>
              <a:lnSpc>
                <a:spcPct val="130000"/>
              </a:lnSpc>
            </a:pPr>
            <a:r>
              <a:rPr lang="en-GB" sz="1200" i="1" dirty="0">
                <a:solidFill>
                  <a:schemeClr val="tx1">
                    <a:lumMod val="65000"/>
                    <a:lumOff val="35000"/>
                  </a:schemeClr>
                </a:solidFill>
              </a:rPr>
              <a:t>Addresses: Correctability</a:t>
            </a:r>
            <a:br>
              <a:rPr lang="en-GB" sz="1200" dirty="0">
                <a:solidFill>
                  <a:schemeClr val="tx1">
                    <a:lumMod val="65000"/>
                    <a:lumOff val="35000"/>
                  </a:schemeClr>
                </a:solidFill>
              </a:rPr>
            </a:br>
            <a:r>
              <a:rPr lang="en-GB" sz="1200" dirty="0">
                <a:solidFill>
                  <a:schemeClr val="tx1">
                    <a:lumMod val="65000"/>
                    <a:lumOff val="35000"/>
                  </a:schemeClr>
                </a:solidFill>
              </a:rPr>
              <a:t>Clinician override, patient challenge, audit trails, version control; currently none present.</a:t>
            </a:r>
            <a:endParaRPr sz="1200" b="0" i="0" dirty="0">
              <a:solidFill>
                <a:schemeClr val="tx1">
                  <a:lumMod val="65000"/>
                  <a:lumOff val="35000"/>
                </a:schemeClr>
              </a:solidFill>
              <a:latin typeface="Calibri"/>
            </a:endParaRPr>
          </a:p>
        </p:txBody>
      </p:sp>
      <p:sp>
        <p:nvSpPr>
          <p:cNvPr id="16" name="Rounded Rectangle 15"/>
          <p:cNvSpPr/>
          <p:nvPr/>
        </p:nvSpPr>
        <p:spPr>
          <a:xfrm>
            <a:off x="685800" y="4764024"/>
            <a:ext cx="10789920" cy="123444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005840" y="5106924"/>
            <a:ext cx="548640" cy="548640"/>
          </a:xfrm>
          <a:prstGeom prst="ellipse">
            <a:avLst/>
          </a:prstGeom>
          <a:solidFill>
            <a:srgbClr val="C97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05840" y="5161788"/>
            <a:ext cx="548640" cy="457200"/>
          </a:xfrm>
          <a:prstGeom prst="rect">
            <a:avLst/>
          </a:prstGeom>
          <a:noFill/>
        </p:spPr>
        <p:txBody>
          <a:bodyPr wrap="square" lIns="0" tIns="0" rIns="0" bIns="0" anchor="ctr">
            <a:spAutoFit/>
          </a:bodyPr>
          <a:lstStyle/>
          <a:p>
            <a:pPr algn="ctr">
              <a:lnSpc>
                <a:spcPct val="100000"/>
              </a:lnSpc>
            </a:pPr>
            <a:r>
              <a:rPr sz="1900" b="1" i="0">
                <a:solidFill>
                  <a:srgbClr val="FFFFFF"/>
                </a:solidFill>
                <a:latin typeface="Calibri"/>
              </a:rPr>
              <a:t>3</a:t>
            </a:r>
          </a:p>
        </p:txBody>
      </p:sp>
      <p:sp>
        <p:nvSpPr>
          <p:cNvPr id="19" name="TextBox 18"/>
          <p:cNvSpPr txBox="1"/>
          <p:nvPr/>
        </p:nvSpPr>
        <p:spPr>
          <a:xfrm>
            <a:off x="1874519" y="4946904"/>
            <a:ext cx="4297680" cy="822960"/>
          </a:xfrm>
          <a:prstGeom prst="rect">
            <a:avLst/>
          </a:prstGeom>
          <a:noFill/>
        </p:spPr>
        <p:txBody>
          <a:bodyPr wrap="square" lIns="0" tIns="0" rIns="0" bIns="0" anchor="ctr">
            <a:spAutoFit/>
          </a:bodyPr>
          <a:lstStyle/>
          <a:p>
            <a:pPr algn="l">
              <a:lnSpc>
                <a:spcPct val="115000"/>
              </a:lnSpc>
            </a:pPr>
            <a:r>
              <a:rPr sz="1550" b="1" i="0">
                <a:solidFill>
                  <a:srgbClr val="1A1A1A"/>
                </a:solidFill>
                <a:latin typeface="Calibri"/>
              </a:rPr>
              <a:t>Establish informed consent frameworks</a:t>
            </a:r>
          </a:p>
        </p:txBody>
      </p:sp>
      <p:cxnSp>
        <p:nvCxnSpPr>
          <p:cNvPr id="20" name="Connector 19"/>
          <p:cNvCxnSpPr/>
          <p:nvPr/>
        </p:nvCxnSpPr>
        <p:spPr>
          <a:xfrm>
            <a:off x="6355080" y="4965192"/>
            <a:ext cx="0" cy="832104"/>
          </a:xfrm>
          <a:prstGeom prst="line">
            <a:avLst/>
          </a:prstGeom>
          <a:ln w="12700">
            <a:solidFill>
              <a:srgbClr val="F0D9DF"/>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675120" y="5030826"/>
            <a:ext cx="4617720" cy="700833"/>
          </a:xfrm>
          <a:prstGeom prst="rect">
            <a:avLst/>
          </a:prstGeom>
          <a:noFill/>
        </p:spPr>
        <p:txBody>
          <a:bodyPr wrap="square" lIns="0" tIns="0" rIns="0" bIns="0" anchor="ctr">
            <a:spAutoFit/>
          </a:bodyPr>
          <a:lstStyle/>
          <a:p>
            <a:pPr>
              <a:lnSpc>
                <a:spcPct val="130000"/>
              </a:lnSpc>
            </a:pPr>
            <a:r>
              <a:rPr lang="en-GB" sz="1200" i="1" dirty="0">
                <a:solidFill>
                  <a:schemeClr val="tx1">
                    <a:lumMod val="65000"/>
                    <a:lumOff val="35000"/>
                  </a:schemeClr>
                </a:solidFill>
              </a:rPr>
              <a:t>Addresses: Ethicality</a:t>
            </a:r>
            <a:br>
              <a:rPr lang="en-GB" sz="1200" dirty="0">
                <a:solidFill>
                  <a:schemeClr val="tx1">
                    <a:lumMod val="65000"/>
                    <a:lumOff val="35000"/>
                  </a:schemeClr>
                </a:solidFill>
              </a:rPr>
            </a:br>
            <a:r>
              <a:rPr lang="en-GB" sz="1200" dirty="0">
                <a:solidFill>
                  <a:schemeClr val="tx1">
                    <a:lumMod val="65000"/>
                    <a:lumOff val="35000"/>
                  </a:schemeClr>
                </a:solidFill>
              </a:rPr>
              <a:t>Consent for secondary ML use not documented, the only unmet item in an otherwise passing criterion</a:t>
            </a:r>
            <a:endParaRPr sz="1200" b="0" i="0" dirty="0">
              <a:solidFill>
                <a:schemeClr val="tx1">
                  <a:lumMod val="65000"/>
                  <a:lumOff val="35000"/>
                </a:schemeClr>
              </a:solidFill>
              <a:latin typeface="Calibri"/>
            </a:endParaRPr>
          </a:p>
        </p:txBody>
      </p:sp>
      <p:sp>
        <p:nvSpPr>
          <p:cNvPr id="22" name="TextBox 21"/>
          <p:cNvSpPr txBox="1"/>
          <p:nvPr/>
        </p:nvSpPr>
        <p:spPr>
          <a:xfrm>
            <a:off x="685800" y="6510528"/>
            <a:ext cx="6400800" cy="274320"/>
          </a:xfrm>
          <a:prstGeom prst="rect">
            <a:avLst/>
          </a:prstGeom>
          <a:noFill/>
        </p:spPr>
        <p:txBody>
          <a:bodyPr wrap="square" lIns="0" tIns="0" rIns="0" bIns="0" anchor="t">
            <a:spAutoFit/>
          </a:bodyPr>
          <a:lstStyle/>
          <a:p>
            <a:pPr algn="l">
              <a:lnSpc>
                <a:spcPct val="100000"/>
              </a:lnSpc>
            </a:pPr>
            <a:r>
              <a:rPr sz="950" b="0" i="0">
                <a:solidFill>
                  <a:srgbClr val="999999"/>
                </a:solidFill>
                <a:latin typeface="Calibri"/>
              </a:rPr>
              <a:t>Procedural Fairness in Healthcare AI</a:t>
            </a:r>
          </a:p>
        </p:txBody>
      </p:sp>
      <p:sp>
        <p:nvSpPr>
          <p:cNvPr id="23" name="TextBox 22"/>
          <p:cNvSpPr txBox="1"/>
          <p:nvPr/>
        </p:nvSpPr>
        <p:spPr>
          <a:xfrm>
            <a:off x="11521440" y="6510528"/>
            <a:ext cx="457200" cy="274320"/>
          </a:xfrm>
          <a:prstGeom prst="rect">
            <a:avLst/>
          </a:prstGeom>
          <a:noFill/>
        </p:spPr>
        <p:txBody>
          <a:bodyPr wrap="square" lIns="0" tIns="0" rIns="0" bIns="0" anchor="t">
            <a:spAutoFit/>
          </a:bodyPr>
          <a:lstStyle/>
          <a:p>
            <a:pPr algn="r">
              <a:lnSpc>
                <a:spcPct val="100000"/>
              </a:lnSpc>
            </a:pPr>
            <a:r>
              <a:rPr sz="950" b="0" i="0">
                <a:solidFill>
                  <a:srgbClr val="999999"/>
                </a:solidFill>
                <a:latin typeface="Calibri"/>
              </a:rPr>
              <a:t>15</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DF8F9"/>
        </a:solidFill>
        <a:effectLst/>
      </p:bgPr>
    </p:bg>
    <p:spTree>
      <p:nvGrpSpPr>
        <p:cNvPr id="1" name=""/>
        <p:cNvGrpSpPr/>
        <p:nvPr/>
      </p:nvGrpSpPr>
      <p:grpSpPr>
        <a:xfrm>
          <a:off x="0" y="0"/>
          <a:ext cx="0" cy="0"/>
          <a:chOff x="0" y="0"/>
          <a:chExt cx="0" cy="0"/>
        </a:xfrm>
      </p:grpSpPr>
      <p:sp>
        <p:nvSpPr>
          <p:cNvPr id="2" name="TextBox 1"/>
          <p:cNvSpPr txBox="1"/>
          <p:nvPr/>
        </p:nvSpPr>
        <p:spPr>
          <a:xfrm>
            <a:off x="685800" y="384048"/>
            <a:ext cx="9144000" cy="320040"/>
          </a:xfrm>
          <a:prstGeom prst="rect">
            <a:avLst/>
          </a:prstGeom>
          <a:noFill/>
        </p:spPr>
        <p:txBody>
          <a:bodyPr wrap="square" lIns="0" tIns="0" rIns="0" bIns="0" anchor="t">
            <a:spAutoFit/>
          </a:bodyPr>
          <a:lstStyle/>
          <a:p>
            <a:pPr algn="l">
              <a:lnSpc>
                <a:spcPct val="100000"/>
              </a:lnSpc>
            </a:pPr>
            <a:r>
              <a:rPr sz="1300" b="1" i="0">
                <a:solidFill>
                  <a:srgbClr val="C9748F"/>
                </a:solidFill>
                <a:latin typeface="Calibri"/>
              </a:rPr>
              <a:t>CONCLUSION</a:t>
            </a:r>
          </a:p>
        </p:txBody>
      </p:sp>
      <p:sp>
        <p:nvSpPr>
          <p:cNvPr id="3" name="TextBox 2"/>
          <p:cNvSpPr txBox="1"/>
          <p:nvPr/>
        </p:nvSpPr>
        <p:spPr>
          <a:xfrm>
            <a:off x="685800" y="658368"/>
            <a:ext cx="10789920" cy="914400"/>
          </a:xfrm>
          <a:prstGeom prst="rect">
            <a:avLst/>
          </a:prstGeom>
          <a:noFill/>
        </p:spPr>
        <p:txBody>
          <a:bodyPr wrap="square" lIns="0" tIns="0" rIns="0" bIns="0" anchor="t">
            <a:spAutoFit/>
          </a:bodyPr>
          <a:lstStyle/>
          <a:p>
            <a:pPr algn="l">
              <a:lnSpc>
                <a:spcPct val="102000"/>
              </a:lnSpc>
            </a:pPr>
            <a:r>
              <a:rPr sz="3000" b="1" i="0">
                <a:solidFill>
                  <a:srgbClr val="1A1A1A"/>
                </a:solidFill>
                <a:latin typeface="Georgia"/>
              </a:rPr>
              <a:t>Fairness Requires More Than a Better Model</a:t>
            </a:r>
          </a:p>
        </p:txBody>
      </p:sp>
      <p:sp>
        <p:nvSpPr>
          <p:cNvPr id="4" name="TextBox 3"/>
          <p:cNvSpPr txBox="1"/>
          <p:nvPr/>
        </p:nvSpPr>
        <p:spPr>
          <a:xfrm>
            <a:off x="777240" y="1783080"/>
            <a:ext cx="10515600" cy="1828800"/>
          </a:xfrm>
          <a:prstGeom prst="rect">
            <a:avLst/>
          </a:prstGeom>
          <a:noFill/>
        </p:spPr>
        <p:txBody>
          <a:bodyPr wrap="square" lIns="0" tIns="0" rIns="0" bIns="0" anchor="t">
            <a:spAutoFit/>
          </a:bodyPr>
          <a:lstStyle/>
          <a:p>
            <a:pPr algn="l">
              <a:lnSpc>
                <a:spcPct val="150000"/>
              </a:lnSpc>
            </a:pPr>
            <a:r>
              <a:rPr sz="1800" b="0" i="0">
                <a:solidFill>
                  <a:srgbClr val="1A1A1A"/>
                </a:solidFill>
                <a:latin typeface="Calibri"/>
              </a:rPr>
              <a:t>Three of six procedural fairness criteria passed at baseline. Mitigation narrowed the gender recall gap and strengthened oversight — at a modest accuracy cost — without fully resolving either. The priority that matters most now is correctability: the model's weakest technical result, and the public's strongest expectation.</a:t>
            </a:r>
          </a:p>
        </p:txBody>
      </p:sp>
      <p:sp>
        <p:nvSpPr>
          <p:cNvPr id="5" name="TextBox 4"/>
          <p:cNvSpPr txBox="1"/>
          <p:nvPr/>
        </p:nvSpPr>
        <p:spPr>
          <a:xfrm>
            <a:off x="777240" y="3794760"/>
            <a:ext cx="5486400" cy="320040"/>
          </a:xfrm>
          <a:prstGeom prst="rect">
            <a:avLst/>
          </a:prstGeom>
          <a:noFill/>
        </p:spPr>
        <p:txBody>
          <a:bodyPr wrap="square" lIns="0" tIns="0" rIns="0" bIns="0" anchor="t">
            <a:spAutoFit/>
          </a:bodyPr>
          <a:lstStyle/>
          <a:p>
            <a:pPr algn="l">
              <a:lnSpc>
                <a:spcPct val="100000"/>
              </a:lnSpc>
            </a:pPr>
            <a:r>
              <a:rPr sz="1250" b="1" i="0">
                <a:solidFill>
                  <a:srgbClr val="C9748F"/>
                </a:solidFill>
                <a:latin typeface="Calibri"/>
              </a:rPr>
              <a:t>AFTER MITIGATION</a:t>
            </a:r>
          </a:p>
        </p:txBody>
      </p:sp>
      <p:sp>
        <p:nvSpPr>
          <p:cNvPr id="6" name="Oval 5"/>
          <p:cNvSpPr/>
          <p:nvPr/>
        </p:nvSpPr>
        <p:spPr>
          <a:xfrm>
            <a:off x="1097280" y="4526279"/>
            <a:ext cx="274320" cy="274320"/>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34340" y="4864607"/>
            <a:ext cx="1600200" cy="457200"/>
          </a:xfrm>
          <a:prstGeom prst="rect">
            <a:avLst/>
          </a:prstGeom>
          <a:noFill/>
        </p:spPr>
        <p:txBody>
          <a:bodyPr wrap="square" lIns="0" tIns="0" rIns="0" bIns="0" anchor="t">
            <a:spAutoFit/>
          </a:bodyPr>
          <a:lstStyle/>
          <a:p>
            <a:pPr algn="ctr">
              <a:lnSpc>
                <a:spcPct val="100000"/>
              </a:lnSpc>
            </a:pPr>
            <a:r>
              <a:rPr sz="1200" b="0" i="0">
                <a:solidFill>
                  <a:srgbClr val="666666"/>
                </a:solidFill>
                <a:latin typeface="Calibri"/>
              </a:rPr>
              <a:t>Accuracy</a:t>
            </a:r>
          </a:p>
        </p:txBody>
      </p:sp>
      <p:sp>
        <p:nvSpPr>
          <p:cNvPr id="8" name="Oval 7"/>
          <p:cNvSpPr/>
          <p:nvPr/>
        </p:nvSpPr>
        <p:spPr>
          <a:xfrm>
            <a:off x="2788920" y="4526279"/>
            <a:ext cx="274320" cy="274320"/>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125980" y="4864607"/>
            <a:ext cx="1600200" cy="457200"/>
          </a:xfrm>
          <a:prstGeom prst="rect">
            <a:avLst/>
          </a:prstGeom>
          <a:noFill/>
        </p:spPr>
        <p:txBody>
          <a:bodyPr wrap="square" lIns="0" tIns="0" rIns="0" bIns="0" anchor="t">
            <a:spAutoFit/>
          </a:bodyPr>
          <a:lstStyle/>
          <a:p>
            <a:pPr algn="ctr">
              <a:lnSpc>
                <a:spcPct val="100000"/>
              </a:lnSpc>
            </a:pPr>
            <a:r>
              <a:rPr sz="1200" b="0" i="0">
                <a:solidFill>
                  <a:srgbClr val="666666"/>
                </a:solidFill>
                <a:latin typeface="Calibri"/>
              </a:rPr>
              <a:t>Bias</a:t>
            </a:r>
          </a:p>
          <a:p>
            <a:pPr algn="ctr">
              <a:lnSpc>
                <a:spcPct val="100000"/>
              </a:lnSpc>
            </a:pPr>
            <a:r>
              <a:rPr sz="1200" b="0" i="0">
                <a:solidFill>
                  <a:srgbClr val="666666"/>
                </a:solidFill>
                <a:latin typeface="Calibri"/>
              </a:rPr>
              <a:t>Suppression</a:t>
            </a:r>
          </a:p>
        </p:txBody>
      </p:sp>
      <p:sp>
        <p:nvSpPr>
          <p:cNvPr id="10" name="Oval 9"/>
          <p:cNvSpPr/>
          <p:nvPr/>
        </p:nvSpPr>
        <p:spPr>
          <a:xfrm>
            <a:off x="4480560" y="4526279"/>
            <a:ext cx="274320" cy="274320"/>
          </a:xfrm>
          <a:prstGeom prst="ellipse">
            <a:avLst/>
          </a:prstGeom>
          <a:noFill/>
          <a:ln w="30480">
            <a:solidFill>
              <a:srgbClr val="9D02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817620" y="4864607"/>
            <a:ext cx="1600200" cy="457200"/>
          </a:xfrm>
          <a:prstGeom prst="rect">
            <a:avLst/>
          </a:prstGeom>
          <a:noFill/>
        </p:spPr>
        <p:txBody>
          <a:bodyPr wrap="square" lIns="0" tIns="0" rIns="0" bIns="0" anchor="t">
            <a:spAutoFit/>
          </a:bodyPr>
          <a:lstStyle/>
          <a:p>
            <a:pPr algn="ctr">
              <a:lnSpc>
                <a:spcPct val="100000"/>
              </a:lnSpc>
            </a:pPr>
            <a:r>
              <a:rPr sz="1200" b="0" i="0">
                <a:solidFill>
                  <a:srgbClr val="666666"/>
                </a:solidFill>
                <a:latin typeface="Calibri"/>
              </a:rPr>
              <a:t>Representativeness</a:t>
            </a:r>
          </a:p>
        </p:txBody>
      </p:sp>
      <p:sp>
        <p:nvSpPr>
          <p:cNvPr id="12" name="Oval 11"/>
          <p:cNvSpPr/>
          <p:nvPr/>
        </p:nvSpPr>
        <p:spPr>
          <a:xfrm>
            <a:off x="6172200" y="4526279"/>
            <a:ext cx="274320" cy="274320"/>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509260" y="4864607"/>
            <a:ext cx="1600200" cy="457200"/>
          </a:xfrm>
          <a:prstGeom prst="rect">
            <a:avLst/>
          </a:prstGeom>
          <a:noFill/>
        </p:spPr>
        <p:txBody>
          <a:bodyPr wrap="square" lIns="0" tIns="0" rIns="0" bIns="0" anchor="t">
            <a:spAutoFit/>
          </a:bodyPr>
          <a:lstStyle/>
          <a:p>
            <a:pPr algn="ctr">
              <a:lnSpc>
                <a:spcPct val="100000"/>
              </a:lnSpc>
            </a:pPr>
            <a:r>
              <a:rPr sz="1200" b="0" i="0">
                <a:solidFill>
                  <a:srgbClr val="666666"/>
                </a:solidFill>
                <a:latin typeface="Calibri"/>
              </a:rPr>
              <a:t>Consistency</a:t>
            </a:r>
          </a:p>
        </p:txBody>
      </p:sp>
      <p:sp>
        <p:nvSpPr>
          <p:cNvPr id="14" name="Oval 13"/>
          <p:cNvSpPr/>
          <p:nvPr/>
        </p:nvSpPr>
        <p:spPr>
          <a:xfrm>
            <a:off x="7863840" y="4526279"/>
            <a:ext cx="274320" cy="274320"/>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200900" y="4864607"/>
            <a:ext cx="1600200" cy="457200"/>
          </a:xfrm>
          <a:prstGeom prst="rect">
            <a:avLst/>
          </a:prstGeom>
          <a:noFill/>
        </p:spPr>
        <p:txBody>
          <a:bodyPr wrap="square" lIns="0" tIns="0" rIns="0" bIns="0" anchor="t">
            <a:spAutoFit/>
          </a:bodyPr>
          <a:lstStyle/>
          <a:p>
            <a:pPr algn="ctr">
              <a:lnSpc>
                <a:spcPct val="100000"/>
              </a:lnSpc>
            </a:pPr>
            <a:r>
              <a:rPr sz="1200" b="0" i="0">
                <a:solidFill>
                  <a:srgbClr val="666666"/>
                </a:solidFill>
                <a:latin typeface="Calibri"/>
              </a:rPr>
              <a:t>Correctability</a:t>
            </a:r>
          </a:p>
        </p:txBody>
      </p:sp>
      <p:sp>
        <p:nvSpPr>
          <p:cNvPr id="16" name="Oval 15"/>
          <p:cNvSpPr/>
          <p:nvPr/>
        </p:nvSpPr>
        <p:spPr>
          <a:xfrm>
            <a:off x="9555480" y="4526279"/>
            <a:ext cx="274320" cy="274320"/>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892540" y="4864607"/>
            <a:ext cx="1600200" cy="457200"/>
          </a:xfrm>
          <a:prstGeom prst="rect">
            <a:avLst/>
          </a:prstGeom>
          <a:noFill/>
        </p:spPr>
        <p:txBody>
          <a:bodyPr wrap="square" lIns="0" tIns="0" rIns="0" bIns="0" anchor="t">
            <a:spAutoFit/>
          </a:bodyPr>
          <a:lstStyle/>
          <a:p>
            <a:pPr algn="ctr">
              <a:lnSpc>
                <a:spcPct val="100000"/>
              </a:lnSpc>
            </a:pPr>
            <a:r>
              <a:rPr sz="1200" b="0" i="0">
                <a:solidFill>
                  <a:srgbClr val="666666"/>
                </a:solidFill>
                <a:latin typeface="Calibri"/>
              </a:rPr>
              <a:t>Ethicality</a:t>
            </a:r>
          </a:p>
        </p:txBody>
      </p:sp>
      <p:sp>
        <p:nvSpPr>
          <p:cNvPr id="18" name="Rounded Rectangle 17"/>
          <p:cNvSpPr/>
          <p:nvPr/>
        </p:nvSpPr>
        <p:spPr>
          <a:xfrm>
            <a:off x="777240" y="5623560"/>
            <a:ext cx="10607040" cy="640080"/>
          </a:xfrm>
          <a:prstGeom prst="roundRect">
            <a:avLst>
              <a:gd name="adj" fmla="val 50000"/>
            </a:avLst>
          </a:prstGeom>
          <a:solidFill>
            <a:srgbClr val="FB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5779008"/>
            <a:ext cx="10607040" cy="365760"/>
          </a:xfrm>
          <a:prstGeom prst="rect">
            <a:avLst/>
          </a:prstGeom>
          <a:noFill/>
        </p:spPr>
        <p:txBody>
          <a:bodyPr wrap="square" lIns="0" tIns="0" rIns="0" bIns="0" anchor="t">
            <a:spAutoFit/>
          </a:bodyPr>
          <a:lstStyle/>
          <a:p>
            <a:pPr algn="ctr">
              <a:lnSpc>
                <a:spcPct val="100000"/>
              </a:lnSpc>
            </a:pPr>
            <a:r>
              <a:rPr sz="1400" b="1" i="0">
                <a:solidFill>
                  <a:srgbClr val="C9748F"/>
                </a:solidFill>
                <a:latin typeface="Calibri"/>
              </a:rPr>
              <a:t>Fixing fairness needs better data and stronger oversight — not modelling alone.</a:t>
            </a:r>
          </a:p>
        </p:txBody>
      </p:sp>
      <p:sp>
        <p:nvSpPr>
          <p:cNvPr id="20" name="TextBox 19"/>
          <p:cNvSpPr txBox="1"/>
          <p:nvPr/>
        </p:nvSpPr>
        <p:spPr>
          <a:xfrm>
            <a:off x="685800" y="6510528"/>
            <a:ext cx="6400800" cy="274320"/>
          </a:xfrm>
          <a:prstGeom prst="rect">
            <a:avLst/>
          </a:prstGeom>
          <a:noFill/>
        </p:spPr>
        <p:txBody>
          <a:bodyPr wrap="square" lIns="0" tIns="0" rIns="0" bIns="0" anchor="t">
            <a:spAutoFit/>
          </a:bodyPr>
          <a:lstStyle/>
          <a:p>
            <a:pPr algn="l">
              <a:lnSpc>
                <a:spcPct val="100000"/>
              </a:lnSpc>
            </a:pPr>
            <a:r>
              <a:rPr sz="950" b="0" i="0">
                <a:solidFill>
                  <a:srgbClr val="999999"/>
                </a:solidFill>
                <a:latin typeface="Calibri"/>
              </a:rPr>
              <a:t>Procedural Fairness in Healthcare AI</a:t>
            </a:r>
          </a:p>
        </p:txBody>
      </p:sp>
      <p:sp>
        <p:nvSpPr>
          <p:cNvPr id="21" name="TextBox 20"/>
          <p:cNvSpPr txBox="1"/>
          <p:nvPr/>
        </p:nvSpPr>
        <p:spPr>
          <a:xfrm>
            <a:off x="11521440" y="6510528"/>
            <a:ext cx="457200" cy="274320"/>
          </a:xfrm>
          <a:prstGeom prst="rect">
            <a:avLst/>
          </a:prstGeom>
          <a:noFill/>
        </p:spPr>
        <p:txBody>
          <a:bodyPr wrap="square" lIns="0" tIns="0" rIns="0" bIns="0" anchor="t">
            <a:spAutoFit/>
          </a:bodyPr>
          <a:lstStyle/>
          <a:p>
            <a:pPr algn="r">
              <a:lnSpc>
                <a:spcPct val="100000"/>
              </a:lnSpc>
            </a:pPr>
            <a:r>
              <a:rPr sz="950" b="0" i="0">
                <a:solidFill>
                  <a:srgbClr val="999999"/>
                </a:solidFill>
                <a:latin typeface="Calibri"/>
              </a:rPr>
              <a:t>16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DF8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C97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29984"/>
            <a:ext cx="12191695" cy="128016"/>
          </a:xfrm>
          <a:prstGeom prst="rect">
            <a:avLst/>
          </a:prstGeom>
          <a:solidFill>
            <a:srgbClr val="C97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2651760"/>
            <a:ext cx="10058400" cy="1188720"/>
          </a:xfrm>
          <a:prstGeom prst="rect">
            <a:avLst/>
          </a:prstGeom>
          <a:noFill/>
        </p:spPr>
        <p:txBody>
          <a:bodyPr wrap="square" lIns="0" tIns="0" rIns="0" bIns="0" anchor="t">
            <a:spAutoFit/>
          </a:bodyPr>
          <a:lstStyle/>
          <a:p>
            <a:pPr algn="l">
              <a:lnSpc>
                <a:spcPct val="100000"/>
              </a:lnSpc>
            </a:pPr>
            <a:r>
              <a:rPr sz="4800" b="1" i="0">
                <a:solidFill>
                  <a:srgbClr val="1A1A1A"/>
                </a:solidFill>
                <a:latin typeface="Georgia"/>
              </a:rPr>
              <a:t>Thank You</a:t>
            </a:r>
          </a:p>
        </p:txBody>
      </p:sp>
      <p:sp>
        <p:nvSpPr>
          <p:cNvPr id="5" name="TextBox 4"/>
          <p:cNvSpPr txBox="1"/>
          <p:nvPr/>
        </p:nvSpPr>
        <p:spPr>
          <a:xfrm>
            <a:off x="822960" y="3611880"/>
            <a:ext cx="10058400" cy="640080"/>
          </a:xfrm>
          <a:prstGeom prst="rect">
            <a:avLst/>
          </a:prstGeom>
          <a:noFill/>
        </p:spPr>
        <p:txBody>
          <a:bodyPr wrap="square" lIns="0" tIns="0" rIns="0" bIns="0" anchor="t">
            <a:spAutoFit/>
          </a:bodyPr>
          <a:lstStyle/>
          <a:p>
            <a:pPr algn="l">
              <a:lnSpc>
                <a:spcPct val="100000"/>
              </a:lnSpc>
            </a:pPr>
            <a:r>
              <a:rPr sz="2200" b="0" i="1">
                <a:solidFill>
                  <a:srgbClr val="C9748F"/>
                </a:solidFill>
                <a:latin typeface="Calibri"/>
              </a:rPr>
              <a:t>Questions?</a:t>
            </a:r>
          </a:p>
        </p:txBody>
      </p:sp>
      <p:cxnSp>
        <p:nvCxnSpPr>
          <p:cNvPr id="6" name="Connector 5"/>
          <p:cNvCxnSpPr/>
          <p:nvPr/>
        </p:nvCxnSpPr>
        <p:spPr>
          <a:xfrm>
            <a:off x="822960" y="4663440"/>
            <a:ext cx="3840480" cy="0"/>
          </a:xfrm>
          <a:prstGeom prst="line">
            <a:avLst/>
          </a:prstGeom>
          <a:ln w="25400">
            <a:solidFill>
              <a:srgbClr val="F2C4CE"/>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22960" y="4892040"/>
            <a:ext cx="8229600" cy="365760"/>
          </a:xfrm>
          <a:prstGeom prst="rect">
            <a:avLst/>
          </a:prstGeom>
          <a:noFill/>
        </p:spPr>
        <p:txBody>
          <a:bodyPr wrap="square" lIns="0" tIns="0" rIns="0" bIns="0" anchor="t">
            <a:spAutoFit/>
          </a:bodyPr>
          <a:lstStyle/>
          <a:p>
            <a:pPr algn="l">
              <a:lnSpc>
                <a:spcPct val="100000"/>
              </a:lnSpc>
            </a:pPr>
            <a:r>
              <a:rPr sz="1300" b="0" i="0">
                <a:solidFill>
                  <a:srgbClr val="666666"/>
                </a:solidFill>
                <a:latin typeface="Calibri"/>
              </a:rPr>
              <a:t>Kaylee Scarce  ·  Newcastle University  ·  2026</a:t>
            </a:r>
          </a:p>
        </p:txBody>
      </p:sp>
      <p:sp>
        <p:nvSpPr>
          <p:cNvPr id="8" name="TextBox 7"/>
          <p:cNvSpPr txBox="1"/>
          <p:nvPr/>
        </p:nvSpPr>
        <p:spPr>
          <a:xfrm>
            <a:off x="822960" y="5193792"/>
            <a:ext cx="8229600" cy="365760"/>
          </a:xfrm>
          <a:prstGeom prst="rect">
            <a:avLst/>
          </a:prstGeom>
          <a:noFill/>
        </p:spPr>
        <p:txBody>
          <a:bodyPr wrap="square" lIns="0" tIns="0" rIns="0" bIns="0" anchor="t">
            <a:spAutoFit/>
          </a:bodyPr>
          <a:lstStyle/>
          <a:p>
            <a:pPr algn="l">
              <a:lnSpc>
                <a:spcPct val="100000"/>
              </a:lnSpc>
            </a:pPr>
            <a:r>
              <a:rPr sz="1300" b="0" i="1">
                <a:solidFill>
                  <a:srgbClr val="666666"/>
                </a:solidFill>
                <a:latin typeface="Calibri"/>
              </a:rPr>
              <a:t>Supervised by Dr Vlad González-Zelaya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579</TotalTime>
  <Words>5602</Words>
  <Application>Microsoft Office PowerPoint</Application>
  <PresentationFormat>Widescreen</PresentationFormat>
  <Paragraphs>427</Paragraphs>
  <Slides>20</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Aptos</vt:lpstr>
      <vt:lpstr>Arial</vt:lpstr>
      <vt:lpstr>Bookman Old Style</vt:lpstr>
      <vt:lpstr>Calibri</vt:lpstr>
      <vt:lpstr>Georgia</vt:lpstr>
      <vt:lpstr>Manrope</vt:lpstr>
      <vt:lpstr>Source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Kaylee Scarce (PGT)</cp:lastModifiedBy>
  <cp:revision>3</cp:revision>
  <dcterms:created xsi:type="dcterms:W3CDTF">2013-01-27T09:14:16Z</dcterms:created>
  <dcterms:modified xsi:type="dcterms:W3CDTF">2026-07-29T12:16:36Z</dcterms:modified>
  <cp:category/>
</cp:coreProperties>
</file>